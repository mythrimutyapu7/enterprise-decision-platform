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6" r:id="rId4"/>
    <p:sldId id="277" r:id="rId5"/>
    <p:sldId id="278" r:id="rId6"/>
    <p:sldId id="279" r:id="rId7"/>
    <p:sldId id="280" r:id="rId8"/>
    <p:sldId id="281" r:id="rId9"/>
    <p:sldId id="258" r:id="rId10"/>
    <p:sldId id="259" r:id="rId11"/>
    <p:sldId id="261" r:id="rId12"/>
    <p:sldId id="262" r:id="rId13"/>
    <p:sldId id="260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3" r:id="rId24"/>
    <p:sldId id="282" r:id="rId25"/>
    <p:sldId id="284" r:id="rId26"/>
    <p:sldId id="274" r:id="rId27"/>
    <p:sldId id="283" r:id="rId28"/>
    <p:sldId id="275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8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9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0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9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2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1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02B7B-DA7A-4D6E-9301-02496D95706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A053F-3DF8-44F4-9F82-B60EB7FED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9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3733799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UNIT-V: </a:t>
            </a:r>
            <a:r>
              <a:rPr lang="en-US" sz="3600" dirty="0" smtClean="0"/>
              <a:t>Applications of Data Science: Technologies for visualization, </a:t>
            </a:r>
            <a:r>
              <a:rPr lang="en-US" sz="3600" dirty="0" err="1" smtClean="0"/>
              <a:t>Bokeh</a:t>
            </a:r>
            <a:r>
              <a:rPr lang="en-US" sz="3600" dirty="0" smtClean="0"/>
              <a:t> (Python), recent trends in various data collection and analysis techniques, various visualization techniques, application development methods  used in data science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23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Mind Map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219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Applications of Data Science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Data </a:t>
            </a:r>
            <a:r>
              <a:rPr lang="en-US" dirty="0"/>
              <a:t>science is used to </a:t>
            </a:r>
            <a:r>
              <a:rPr lang="en-US" b="1" dirty="0"/>
              <a:t>analyze data</a:t>
            </a:r>
            <a:r>
              <a:rPr lang="en-US" dirty="0"/>
              <a:t>, </a:t>
            </a:r>
            <a:r>
              <a:rPr lang="en-US" b="1" dirty="0"/>
              <a:t>find patterns</a:t>
            </a:r>
            <a:r>
              <a:rPr lang="en-US" dirty="0"/>
              <a:t>, </a:t>
            </a:r>
            <a:r>
              <a:rPr lang="en-US" b="1" dirty="0"/>
              <a:t>make predictions</a:t>
            </a:r>
            <a:r>
              <a:rPr lang="en-US" dirty="0"/>
              <a:t>, and </a:t>
            </a:r>
            <a:r>
              <a:rPr lang="en-US" b="1" dirty="0"/>
              <a:t>help decision-making</a:t>
            </a:r>
            <a:r>
              <a:rPr lang="en-US" dirty="0"/>
              <a:t> in almost every industry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1. Healthcare</a:t>
            </a:r>
          </a:p>
          <a:p>
            <a:pPr marL="0" indent="0">
              <a:buNone/>
            </a:pPr>
            <a:r>
              <a:rPr lang="en-US" dirty="0"/>
              <a:t>📊 Predicting diseases early (e.g., diabetes, cancer)</a:t>
            </a:r>
          </a:p>
          <a:p>
            <a:pPr marL="0" indent="0">
              <a:buNone/>
            </a:pPr>
            <a:r>
              <a:rPr lang="en-US" dirty="0"/>
              <a:t>💊 Drug discovery and development</a:t>
            </a:r>
          </a:p>
          <a:p>
            <a:pPr marL="0" indent="0">
              <a:buNone/>
            </a:pPr>
            <a:r>
              <a:rPr lang="en-US" dirty="0"/>
              <a:t>🏥 Hospital resource management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AI models predict patient risk based on symptoms and test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3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257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🛒 </a:t>
            </a:r>
            <a:r>
              <a:rPr lang="en-US" b="1" dirty="0">
                <a:solidFill>
                  <a:srgbClr val="FF0000"/>
                </a:solidFill>
              </a:rPr>
              <a:t>2. Retail &amp; E-commerce</a:t>
            </a:r>
          </a:p>
          <a:p>
            <a:pPr marL="0" indent="0">
              <a:buNone/>
            </a:pPr>
            <a:r>
              <a:rPr lang="en-US" dirty="0"/>
              <a:t>🎯 Personalized recommendations (like Amazon, </a:t>
            </a:r>
            <a:r>
              <a:rPr lang="en-US" dirty="0" err="1"/>
              <a:t>Flipkart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📦 Inventory management</a:t>
            </a:r>
          </a:p>
          <a:p>
            <a:pPr marL="0" indent="0">
              <a:buNone/>
            </a:pPr>
            <a:r>
              <a:rPr lang="en-US" dirty="0"/>
              <a:t>💰 Dynamic pricing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Netflix recommends shows based on your watch history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🎓 </a:t>
            </a:r>
            <a:r>
              <a:rPr lang="en-US" b="1" dirty="0" smtClean="0">
                <a:solidFill>
                  <a:srgbClr val="FF0000"/>
                </a:solidFill>
              </a:rPr>
              <a:t>3. </a:t>
            </a:r>
            <a:r>
              <a:rPr lang="en-US" b="1" dirty="0">
                <a:solidFill>
                  <a:srgbClr val="FF0000"/>
                </a:solidFill>
              </a:rPr>
              <a:t>Education</a:t>
            </a:r>
          </a:p>
          <a:p>
            <a:pPr marL="0" indent="0">
              <a:buNone/>
            </a:pPr>
            <a:r>
              <a:rPr lang="en-US" dirty="0"/>
              <a:t>📊 Student performance tracking</a:t>
            </a:r>
          </a:p>
          <a:p>
            <a:pPr marL="0" indent="0">
              <a:buNone/>
            </a:pPr>
            <a:r>
              <a:rPr lang="en-US" dirty="0"/>
              <a:t>🧠 Personalized learning paths</a:t>
            </a:r>
          </a:p>
          <a:p>
            <a:pPr marL="0" indent="0">
              <a:buNone/>
            </a:pPr>
            <a:r>
              <a:rPr lang="en-US" dirty="0"/>
              <a:t>📚 Dropout prediction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Online learning platforms like </a:t>
            </a:r>
            <a:r>
              <a:rPr lang="en-US" dirty="0" err="1"/>
              <a:t>Coursera</a:t>
            </a:r>
            <a:r>
              <a:rPr lang="en-US" dirty="0"/>
              <a:t> suggest courses based on your interests.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8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81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🚗 </a:t>
            </a:r>
            <a:r>
              <a:rPr lang="en-US" b="1" dirty="0" smtClean="0">
                <a:solidFill>
                  <a:srgbClr val="FF0000"/>
                </a:solidFill>
              </a:rPr>
              <a:t>4. </a:t>
            </a:r>
            <a:r>
              <a:rPr lang="en-US" b="1" dirty="0">
                <a:solidFill>
                  <a:srgbClr val="FF0000"/>
                </a:solidFill>
              </a:rPr>
              <a:t>Transportation &amp; Logistics</a:t>
            </a:r>
          </a:p>
          <a:p>
            <a:pPr marL="0" indent="0">
              <a:buNone/>
            </a:pPr>
            <a:r>
              <a:rPr lang="en-US" dirty="0" smtClean="0"/>
              <a:t>🗺Route </a:t>
            </a:r>
            <a:r>
              <a:rPr lang="en-US" dirty="0"/>
              <a:t>optimization (like Google Maps, </a:t>
            </a:r>
            <a:r>
              <a:rPr lang="en-US" dirty="0" err="1"/>
              <a:t>Uber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📦 Delivery time prediction</a:t>
            </a:r>
          </a:p>
          <a:p>
            <a:pPr marL="0" indent="0">
              <a:buNone/>
            </a:pPr>
            <a:r>
              <a:rPr lang="en-US" dirty="0"/>
              <a:t>⚙️ Fleet maintenance prediction </a:t>
            </a:r>
            <a:r>
              <a:rPr lang="en-US" dirty="0" smtClean="0"/>
              <a:t>(A </a:t>
            </a:r>
            <a:r>
              <a:rPr lang="en-US" b="1" dirty="0"/>
              <a:t>fleet</a:t>
            </a:r>
            <a:r>
              <a:rPr lang="en-US" dirty="0"/>
              <a:t> is like a team of cars, trucks, or buses working together for one purpose</a:t>
            </a:r>
            <a:r>
              <a:rPr lang="en-US" dirty="0" smtClean="0"/>
              <a:t>.)</a:t>
            </a:r>
            <a:endParaRPr lang="en-US" dirty="0"/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Amazon uses data to decide the fastest delivery routes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🌱 </a:t>
            </a:r>
            <a:r>
              <a:rPr lang="en-US" b="1" dirty="0" smtClean="0">
                <a:solidFill>
                  <a:srgbClr val="FF0000"/>
                </a:solidFill>
              </a:rPr>
              <a:t>5. </a:t>
            </a:r>
            <a:r>
              <a:rPr lang="en-US" b="1" dirty="0">
                <a:solidFill>
                  <a:srgbClr val="FF0000"/>
                </a:solidFill>
              </a:rPr>
              <a:t>Agriculture</a:t>
            </a:r>
          </a:p>
          <a:p>
            <a:pPr marL="0" indent="0">
              <a:buNone/>
            </a:pPr>
            <a:r>
              <a:rPr lang="en-US" dirty="0"/>
              <a:t>🌾 Crop yield prediction</a:t>
            </a:r>
          </a:p>
          <a:p>
            <a:pPr marL="0" indent="0">
              <a:buNone/>
            </a:pPr>
            <a:r>
              <a:rPr lang="en-US" dirty="0" smtClean="0"/>
              <a:t>☁ </a:t>
            </a:r>
            <a:r>
              <a:rPr lang="en-US" dirty="0"/>
              <a:t>Weather-based irrigation suggestions</a:t>
            </a:r>
          </a:p>
          <a:p>
            <a:pPr marL="0" indent="0">
              <a:buNone/>
            </a:pPr>
            <a:r>
              <a:rPr lang="en-US" dirty="0"/>
              <a:t>🐞 Pest detection using image analysis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Smart farming apps use satellite data to help farmers.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0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🏦 6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>
                <a:solidFill>
                  <a:srgbClr val="FF0000"/>
                </a:solidFill>
              </a:rPr>
              <a:t>Finance &amp; Banking</a:t>
            </a:r>
          </a:p>
          <a:p>
            <a:pPr marL="0" indent="0">
              <a:buNone/>
            </a:pPr>
            <a:r>
              <a:rPr lang="en-US" dirty="0"/>
              <a:t>🔍 Fraud detection</a:t>
            </a:r>
          </a:p>
          <a:p>
            <a:pPr marL="0" indent="0">
              <a:buNone/>
            </a:pPr>
            <a:r>
              <a:rPr lang="en-US" dirty="0"/>
              <a:t>📈 Credit scoring and loan approvals</a:t>
            </a:r>
          </a:p>
          <a:p>
            <a:pPr marL="0" indent="0">
              <a:buNone/>
            </a:pPr>
            <a:r>
              <a:rPr lang="en-US" dirty="0"/>
              <a:t>📊 Stock market forecasting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Banks use machine learning to detect unusual credit card transactions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7. </a:t>
            </a:r>
            <a:r>
              <a:rPr lang="en-US" b="1" dirty="0">
                <a:solidFill>
                  <a:srgbClr val="FF0000"/>
                </a:solidFill>
              </a:rPr>
              <a:t>Media &amp; Entertainment</a:t>
            </a:r>
          </a:p>
          <a:p>
            <a:pPr marL="0" indent="0">
              <a:buNone/>
            </a:pPr>
            <a:r>
              <a:rPr lang="en-US" dirty="0"/>
              <a:t>📺 Content recommendation</a:t>
            </a:r>
          </a:p>
          <a:p>
            <a:pPr marL="0" indent="0">
              <a:buNone/>
            </a:pPr>
            <a:r>
              <a:rPr lang="en-US" dirty="0"/>
              <a:t>📉 Audience behavior analysis</a:t>
            </a:r>
          </a:p>
          <a:p>
            <a:pPr marL="0" indent="0">
              <a:buNone/>
            </a:pPr>
            <a:r>
              <a:rPr lang="en-US" dirty="0"/>
              <a:t>📆 Ad targeting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Spotify</a:t>
            </a:r>
            <a:r>
              <a:rPr lang="en-US" dirty="0"/>
              <a:t> recommends songs using your listening history.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51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8. Business Intelligence</a:t>
            </a:r>
          </a:p>
          <a:p>
            <a:pPr marL="0" indent="0">
              <a:buNone/>
            </a:pPr>
            <a:r>
              <a:rPr lang="en-US" dirty="0"/>
              <a:t>📈 Sales forecasting</a:t>
            </a:r>
          </a:p>
          <a:p>
            <a:pPr marL="0" indent="0">
              <a:buNone/>
            </a:pPr>
            <a:r>
              <a:rPr lang="en-US" dirty="0" smtClean="0"/>
              <a:t>🛠 </a:t>
            </a:r>
            <a:r>
              <a:rPr lang="en-US" dirty="0"/>
              <a:t>Market analysis</a:t>
            </a:r>
          </a:p>
          <a:p>
            <a:pPr marL="0" indent="0">
              <a:buNone/>
            </a:pPr>
            <a:r>
              <a:rPr lang="en-US" dirty="0"/>
              <a:t>📊 Customer segmentation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Companies use dashboards (Power BI, Tableau) to monitor business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8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FF0000"/>
                </a:solidFill>
              </a:rPr>
              <a:t>Tools Used in Data Science Applications: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763000" cy="5440363"/>
          </a:xfrm>
        </p:spPr>
        <p:txBody>
          <a:bodyPr/>
          <a:lstStyle/>
          <a:p>
            <a:r>
              <a:rPr lang="en-US" b="1" dirty="0" smtClean="0"/>
              <a:t>Languages</a:t>
            </a:r>
            <a:r>
              <a:rPr lang="en-US" b="1" dirty="0"/>
              <a:t>:</a:t>
            </a:r>
            <a:r>
              <a:rPr lang="en-US" dirty="0"/>
              <a:t> Python, R, SQL</a:t>
            </a:r>
          </a:p>
          <a:p>
            <a:r>
              <a:rPr lang="en-US" b="1" dirty="0"/>
              <a:t>Libraries:</a:t>
            </a:r>
            <a:r>
              <a:rPr lang="en-US" dirty="0"/>
              <a:t> Pandas, </a:t>
            </a:r>
            <a:r>
              <a:rPr lang="en-US" dirty="0" err="1"/>
              <a:t>Scikit</a:t>
            </a:r>
            <a:r>
              <a:rPr lang="en-US" dirty="0"/>
              <a:t>-learn, </a:t>
            </a:r>
            <a:r>
              <a:rPr lang="en-US" dirty="0" err="1"/>
              <a:t>TensorFlow</a:t>
            </a:r>
            <a:endParaRPr lang="en-US" dirty="0"/>
          </a:p>
          <a:p>
            <a:r>
              <a:rPr lang="en-US" b="1" dirty="0"/>
              <a:t>Visualization:</a:t>
            </a:r>
            <a:r>
              <a:rPr lang="en-US" dirty="0"/>
              <a:t> </a:t>
            </a:r>
            <a:r>
              <a:rPr lang="en-US" dirty="0" err="1"/>
              <a:t>Bokeh</a:t>
            </a:r>
            <a:r>
              <a:rPr lang="en-US" dirty="0"/>
              <a:t>, </a:t>
            </a:r>
            <a:r>
              <a:rPr lang="en-US" dirty="0" err="1"/>
              <a:t>Plotly</a:t>
            </a:r>
            <a:r>
              <a:rPr lang="en-US" dirty="0"/>
              <a:t>, Tableau, Power BI</a:t>
            </a:r>
          </a:p>
          <a:p>
            <a:r>
              <a:rPr lang="en-US" b="1" dirty="0"/>
              <a:t>Big Data:</a:t>
            </a:r>
            <a:r>
              <a:rPr lang="en-US" dirty="0"/>
              <a:t> </a:t>
            </a:r>
            <a:r>
              <a:rPr lang="en-US" dirty="0" err="1"/>
              <a:t>Hadoop</a:t>
            </a:r>
            <a:r>
              <a:rPr lang="en-US" dirty="0"/>
              <a:t>, Spark</a:t>
            </a:r>
          </a:p>
          <a:p>
            <a:r>
              <a:rPr lang="en-US" b="1" dirty="0"/>
              <a:t>ML Platforms:</a:t>
            </a:r>
            <a:r>
              <a:rPr lang="en-US" dirty="0"/>
              <a:t> AWS </a:t>
            </a:r>
            <a:r>
              <a:rPr lang="en-US" dirty="0" err="1"/>
              <a:t>SageMaker</a:t>
            </a:r>
            <a:r>
              <a:rPr lang="en-US" dirty="0"/>
              <a:t>, Google Cloud 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66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Technologies for visualization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Visualization tools help us </a:t>
            </a:r>
            <a:r>
              <a:rPr lang="en-US" b="1" dirty="0" smtClean="0"/>
              <a:t>present complex data in visual form</a:t>
            </a:r>
            <a:r>
              <a:rPr lang="en-US" dirty="0" smtClean="0"/>
              <a:t> so it's easier to understand patterns, trends, and insights.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Common Tools:</a:t>
            </a:r>
          </a:p>
          <a:p>
            <a:r>
              <a:rPr lang="en-US" b="1" dirty="0" err="1" smtClean="0"/>
              <a:t>Matplotlib</a:t>
            </a:r>
            <a:r>
              <a:rPr lang="en-US" dirty="0" smtClean="0"/>
              <a:t> – Basic graphs (bar, pie, line)</a:t>
            </a:r>
          </a:p>
          <a:p>
            <a:r>
              <a:rPr lang="en-US" b="1" dirty="0" err="1" smtClean="0"/>
              <a:t>Seaborn</a:t>
            </a:r>
            <a:r>
              <a:rPr lang="en-US" dirty="0" smtClean="0"/>
              <a:t> – Beautiful statistical graphs</a:t>
            </a:r>
          </a:p>
          <a:p>
            <a:r>
              <a:rPr lang="en-US" b="1" dirty="0" err="1" smtClean="0"/>
              <a:t>Bokeh</a:t>
            </a:r>
            <a:r>
              <a:rPr lang="en-US" dirty="0" smtClean="0"/>
              <a:t> – Interactive visualizations</a:t>
            </a:r>
          </a:p>
          <a:p>
            <a:r>
              <a:rPr lang="en-US" b="1" dirty="0" err="1" smtClean="0"/>
              <a:t>Plotly</a:t>
            </a:r>
            <a:r>
              <a:rPr lang="en-US" dirty="0" smtClean="0"/>
              <a:t> – Interactive charts &amp; dashboards</a:t>
            </a:r>
          </a:p>
          <a:p>
            <a:r>
              <a:rPr lang="en-US" b="1" dirty="0" smtClean="0"/>
              <a:t>Tableau / Power BI</a:t>
            </a:r>
            <a:r>
              <a:rPr lang="en-US" dirty="0" smtClean="0"/>
              <a:t> – Business-oriented visual analytics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Bokeh</a:t>
            </a:r>
            <a:r>
              <a:rPr lang="en-US" dirty="0" smtClean="0">
                <a:solidFill>
                  <a:srgbClr val="FF0000"/>
                </a:solidFill>
              </a:rPr>
              <a:t> (Python)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 smtClean="0"/>
              <a:t>Bokeh</a:t>
            </a:r>
            <a:r>
              <a:rPr lang="en-US" dirty="0" smtClean="0"/>
              <a:t> is a </a:t>
            </a:r>
            <a:r>
              <a:rPr lang="en-US" b="1" dirty="0" smtClean="0"/>
              <a:t>Python library</a:t>
            </a:r>
            <a:r>
              <a:rPr lang="en-US" dirty="0" smtClean="0"/>
              <a:t> used to create </a:t>
            </a:r>
            <a:r>
              <a:rPr lang="en-US" b="1" dirty="0" smtClean="0"/>
              <a:t>interactive plots and dashboards</a:t>
            </a:r>
            <a:r>
              <a:rPr lang="en-US" dirty="0" smtClean="0"/>
              <a:t> for web browsers.</a:t>
            </a:r>
          </a:p>
          <a:p>
            <a:r>
              <a:rPr lang="en-US" dirty="0" smtClean="0"/>
              <a:t>used for creating </a:t>
            </a:r>
            <a:r>
              <a:rPr lang="en-US" b="1" dirty="0" smtClean="0"/>
              <a:t>interactive and beautiful visualizations</a:t>
            </a:r>
            <a:r>
              <a:rPr lang="en-US" dirty="0" smtClean="0"/>
              <a:t> that can be viewed in a </a:t>
            </a:r>
            <a:r>
              <a:rPr lang="en-US" b="1" dirty="0" smtClean="0"/>
              <a:t>web browser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helps data scientists and developers turn data into </a:t>
            </a:r>
            <a:r>
              <a:rPr lang="en-US" b="1" dirty="0" smtClean="0"/>
              <a:t>interactive dashboards, charts, and graphs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 Features:</a:t>
            </a:r>
          </a:p>
          <a:p>
            <a:r>
              <a:rPr lang="en-US" dirty="0" smtClean="0"/>
              <a:t>Real-time streaming of data</a:t>
            </a:r>
          </a:p>
          <a:p>
            <a:r>
              <a:rPr lang="en-US" dirty="0" smtClean="0"/>
              <a:t>Interactive tools (zoom, pan, hover)</a:t>
            </a:r>
          </a:p>
          <a:p>
            <a:r>
              <a:rPr lang="en-US" dirty="0" smtClean="0"/>
              <a:t>Web-ready (can be embedded in websites)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Note:</a:t>
            </a:r>
            <a:r>
              <a:rPr lang="en-US" b="1" dirty="0"/>
              <a:t> Hover</a:t>
            </a:r>
            <a:r>
              <a:rPr lang="en-US" dirty="0"/>
              <a:t> means </a:t>
            </a:r>
            <a:r>
              <a:rPr lang="en-US" b="1" dirty="0"/>
              <a:t>moving your mouse over a data point</a:t>
            </a:r>
            <a:r>
              <a:rPr lang="en-US" dirty="0"/>
              <a:t> (like a bar, dot, or line) to </a:t>
            </a:r>
            <a:r>
              <a:rPr lang="en-US" b="1" dirty="0"/>
              <a:t>see more information</a:t>
            </a:r>
            <a:r>
              <a:rPr lang="en-US" dirty="0"/>
              <a:t> about that point</a:t>
            </a:r>
            <a:r>
              <a:rPr lang="en-US" dirty="0" smtClean="0"/>
              <a:t>.</a:t>
            </a:r>
            <a:r>
              <a:rPr lang="en-US" b="1" dirty="0"/>
              <a:t>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Pan</a:t>
            </a:r>
            <a:r>
              <a:rPr lang="en-US" dirty="0" smtClean="0"/>
              <a:t> </a:t>
            </a:r>
            <a:r>
              <a:rPr lang="en-US" dirty="0"/>
              <a:t>lets you </a:t>
            </a:r>
            <a:r>
              <a:rPr lang="en-US" b="1" dirty="0"/>
              <a:t>click and drag</a:t>
            </a:r>
            <a:r>
              <a:rPr lang="en-US" dirty="0"/>
              <a:t> your mouse to </a:t>
            </a:r>
            <a:r>
              <a:rPr lang="en-US" b="1" dirty="0"/>
              <a:t>move or shift the view</a:t>
            </a:r>
            <a:r>
              <a:rPr lang="en-US" dirty="0"/>
              <a:t> of the chart or </a:t>
            </a:r>
            <a:r>
              <a:rPr lang="en-US" dirty="0" smtClean="0"/>
              <a:t>graph.</a:t>
            </a:r>
            <a:r>
              <a:rPr lang="en-US" b="1" dirty="0"/>
              <a:t>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Zoom</a:t>
            </a:r>
            <a:r>
              <a:rPr lang="en-US" dirty="0" smtClean="0"/>
              <a:t> </a:t>
            </a:r>
            <a:r>
              <a:rPr lang="en-US" dirty="0"/>
              <a:t>lets you </a:t>
            </a:r>
            <a:r>
              <a:rPr lang="en-US" b="1" dirty="0"/>
              <a:t>focus in on a specific part of a chart</a:t>
            </a:r>
            <a:r>
              <a:rPr lang="en-US" dirty="0"/>
              <a:t> or graph by enlarging the view.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7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Use </a:t>
            </a:r>
            <a:r>
              <a:rPr lang="en-US" dirty="0" err="1" smtClean="0">
                <a:solidFill>
                  <a:srgbClr val="FF0000"/>
                </a:solidFill>
              </a:rPr>
              <a:t>Bokeh</a:t>
            </a:r>
            <a:r>
              <a:rPr lang="en-US" dirty="0" smtClean="0">
                <a:solidFill>
                  <a:srgbClr val="FF0000"/>
                </a:solidFill>
              </a:rPr>
              <a:t> when you need:</a:t>
            </a:r>
          </a:p>
          <a:p>
            <a:r>
              <a:rPr lang="en-US" b="1" dirty="0" smtClean="0"/>
              <a:t>Interactive</a:t>
            </a:r>
            <a:r>
              <a:rPr lang="en-US" dirty="0" smtClean="0"/>
              <a:t> visualizations</a:t>
            </a:r>
          </a:p>
          <a:p>
            <a:r>
              <a:rPr lang="en-US" b="1" dirty="0" smtClean="0"/>
              <a:t>Web-friendly</a:t>
            </a:r>
            <a:r>
              <a:rPr lang="en-US" dirty="0" smtClean="0"/>
              <a:t> charts</a:t>
            </a:r>
          </a:p>
          <a:p>
            <a:r>
              <a:rPr lang="en-US" dirty="0" smtClean="0"/>
              <a:t>To </a:t>
            </a:r>
            <a:r>
              <a:rPr lang="en-US" b="1" dirty="0" smtClean="0"/>
              <a:t>share or embed</a:t>
            </a:r>
            <a:r>
              <a:rPr lang="en-US" dirty="0" smtClean="0"/>
              <a:t> visualizations online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Common Chart Types in </a:t>
            </a:r>
            <a:r>
              <a:rPr lang="en-US" b="1" dirty="0" err="1" smtClean="0">
                <a:solidFill>
                  <a:srgbClr val="FF0000"/>
                </a:solidFill>
              </a:rPr>
              <a:t>Bokeh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US" dirty="0" smtClean="0"/>
              <a:t>Line chart</a:t>
            </a:r>
          </a:p>
          <a:p>
            <a:r>
              <a:rPr lang="en-US" dirty="0" smtClean="0"/>
              <a:t>Bar chart</a:t>
            </a:r>
          </a:p>
          <a:p>
            <a:r>
              <a:rPr lang="en-US" dirty="0" smtClean="0"/>
              <a:t>Scatter plot</a:t>
            </a:r>
          </a:p>
          <a:p>
            <a:r>
              <a:rPr lang="en-US" dirty="0" smtClean="0"/>
              <a:t>Pie chart (via patches)</a:t>
            </a:r>
          </a:p>
          <a:p>
            <a:r>
              <a:rPr lang="en-US" dirty="0" err="1" smtClean="0"/>
              <a:t>Heatmaps</a:t>
            </a:r>
            <a:r>
              <a:rPr lang="en-US" dirty="0" smtClean="0"/>
              <a:t>(</a:t>
            </a:r>
            <a:r>
              <a:rPr lang="en-US" dirty="0"/>
              <a:t>A </a:t>
            </a:r>
            <a:r>
              <a:rPr lang="en-US" dirty="0" err="1"/>
              <a:t>heatmap</a:t>
            </a:r>
            <a:r>
              <a:rPr lang="en-US" dirty="0"/>
              <a:t> uses </a:t>
            </a:r>
            <a:r>
              <a:rPr lang="en-US" b="1" dirty="0"/>
              <a:t>colors</a:t>
            </a:r>
            <a:r>
              <a:rPr lang="en-US" dirty="0"/>
              <a:t> to tell you </a:t>
            </a:r>
            <a:r>
              <a:rPr lang="en-US" b="1" dirty="0"/>
              <a:t>how high or low</a:t>
            </a:r>
            <a:r>
              <a:rPr lang="en-US" dirty="0"/>
              <a:t> values </a:t>
            </a:r>
            <a:r>
              <a:rPr lang="en-US" dirty="0" smtClean="0"/>
              <a:t>are.)</a:t>
            </a:r>
          </a:p>
          <a:p>
            <a:r>
              <a:rPr lang="en-US" dirty="0" smtClean="0"/>
              <a:t>Interactive dashboards(</a:t>
            </a:r>
            <a:r>
              <a:rPr lang="en-US" b="1" dirty="0"/>
              <a:t>visual display</a:t>
            </a:r>
            <a:r>
              <a:rPr lang="en-US" dirty="0"/>
              <a:t> of important data and key </a:t>
            </a:r>
            <a:r>
              <a:rPr lang="en-US" dirty="0" smtClean="0"/>
              <a:t>information)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65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How </a:t>
            </a:r>
            <a:r>
              <a:rPr lang="en-US" b="1" dirty="0" err="1" smtClean="0">
                <a:solidFill>
                  <a:srgbClr val="FF0000"/>
                </a:solidFill>
              </a:rPr>
              <a:t>Bokeh</a:t>
            </a:r>
            <a:r>
              <a:rPr lang="en-US" b="1" dirty="0" smtClean="0">
                <a:solidFill>
                  <a:srgbClr val="FF0000"/>
                </a:solidFill>
              </a:rPr>
              <a:t> Works (Basic Steps):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Bokeh</a:t>
            </a:r>
            <a:r>
              <a:rPr lang="en-US" b="1" dirty="0" smtClean="0"/>
              <a:t> modules</a:t>
            </a:r>
            <a:endParaRPr lang="en-US" dirty="0" smtClean="0"/>
          </a:p>
          <a:p>
            <a:r>
              <a:rPr lang="en-US" b="1" dirty="0" smtClean="0"/>
              <a:t>Create a figure</a:t>
            </a:r>
            <a:r>
              <a:rPr lang="en-US" dirty="0" smtClean="0"/>
              <a:t> (canvas)</a:t>
            </a:r>
            <a:r>
              <a:rPr lang="en-US" dirty="0"/>
              <a:t> This is like your blank paper where you’ll draw your chart.</a:t>
            </a:r>
            <a:endParaRPr lang="en-US" dirty="0" smtClean="0"/>
          </a:p>
          <a:p>
            <a:r>
              <a:rPr lang="en-US" b="1" dirty="0" smtClean="0"/>
              <a:t>Add charts or shapes</a:t>
            </a:r>
            <a:r>
              <a:rPr lang="en-US" dirty="0" smtClean="0"/>
              <a:t> (bar, line, circle, etc.)</a:t>
            </a:r>
          </a:p>
          <a:p>
            <a:r>
              <a:rPr lang="en-US" b="1" dirty="0" smtClean="0"/>
              <a:t>Show the result</a:t>
            </a:r>
            <a:r>
              <a:rPr lang="en-US" dirty="0" smtClean="0"/>
              <a:t> in a browser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14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014849"/>
              </p:ext>
            </p:extLst>
          </p:nvPr>
        </p:nvGraphicFramePr>
        <p:xfrm>
          <a:off x="457200" y="1981200"/>
          <a:ext cx="8229600" cy="4648199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869884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6613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000" dirty="0" smtClean="0">
                          <a:solidFill>
                            <a:srgbClr val="002060"/>
                          </a:solidFill>
                        </a:rPr>
                        <a:t>📊 </a:t>
                      </a:r>
                      <a:r>
                        <a:rPr lang="en-US" sz="2000" b="1" dirty="0" smtClean="0">
                          <a:solidFill>
                            <a:srgbClr val="002060"/>
                          </a:solidFill>
                        </a:rPr>
                        <a:t>Interactive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Plots</a:t>
                      </a:r>
                      <a:endParaRPr 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Zoom, pan, hover, and click on data 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6145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🌐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Web-ready</a:t>
                      </a:r>
                      <a:endParaRPr 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Plots run in browsers (HTML, JavaScript output)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9401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🔁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Real-time Streaming</a:t>
                      </a:r>
                      <a:endParaRPr 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Useful for live data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6145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🧱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Flexible Layouts</a:t>
                      </a:r>
                      <a:endParaRPr 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Can arrange multiple plots, widgets, and controls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9401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💻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Integrates with</a:t>
                      </a:r>
                      <a:endParaRPr 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Jupyter</a:t>
                      </a:r>
                      <a:r>
                        <a:rPr lang="en-US" sz="2000" b="1" dirty="0"/>
                        <a:t> Notebook, Flask, </a:t>
                      </a:r>
                      <a:r>
                        <a:rPr lang="en-US" sz="2000" b="1" dirty="0" err="1"/>
                        <a:t>Django</a:t>
                      </a:r>
                      <a:r>
                        <a:rPr lang="en-US" sz="2000" b="1" dirty="0"/>
                        <a:t>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4800" y="1414046"/>
            <a:ext cx="304923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Key Features of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Bokeh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3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Recent Trends in Data Collection &amp; Analysis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2578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Data Collection Trends:</a:t>
            </a:r>
          </a:p>
          <a:p>
            <a:pPr algn="just"/>
            <a:r>
              <a:rPr lang="en-US" dirty="0" err="1" smtClean="0"/>
              <a:t>IoT</a:t>
            </a:r>
            <a:r>
              <a:rPr lang="en-US" dirty="0" smtClean="0"/>
              <a:t> devices collecting real-time sensor data</a:t>
            </a:r>
          </a:p>
          <a:p>
            <a:pPr algn="just"/>
            <a:r>
              <a:rPr lang="en-US" dirty="0" smtClean="0"/>
              <a:t>Social media data scraping (for sentiment analysis)</a:t>
            </a:r>
          </a:p>
          <a:p>
            <a:pPr algn="just"/>
            <a:r>
              <a:rPr lang="en-US" dirty="0" smtClean="0"/>
              <a:t>APIs for automated data fetching (e.g., Twitter, weather)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Data Analysis Trends:</a:t>
            </a:r>
          </a:p>
          <a:p>
            <a:pPr algn="just"/>
            <a:r>
              <a:rPr lang="en-US" dirty="0" smtClean="0"/>
              <a:t>Use of </a:t>
            </a:r>
            <a:r>
              <a:rPr lang="en-US" b="1" dirty="0" smtClean="0"/>
              <a:t>AI &amp; Machine Learning</a:t>
            </a:r>
            <a:r>
              <a:rPr lang="en-US" dirty="0" smtClean="0"/>
              <a:t> for predictive insights</a:t>
            </a:r>
          </a:p>
          <a:p>
            <a:pPr algn="just"/>
            <a:r>
              <a:rPr lang="en-US" b="1" dirty="0" smtClean="0"/>
              <a:t>Big Data analytics</a:t>
            </a:r>
            <a:r>
              <a:rPr lang="en-US" dirty="0" smtClean="0"/>
              <a:t> (</a:t>
            </a:r>
            <a:r>
              <a:rPr lang="en-US" dirty="0" err="1" smtClean="0"/>
              <a:t>Hadoop</a:t>
            </a:r>
            <a:r>
              <a:rPr lang="en-US" dirty="0" smtClean="0"/>
              <a:t>, Spark)</a:t>
            </a:r>
          </a:p>
          <a:p>
            <a:pPr algn="just"/>
            <a:r>
              <a:rPr lang="en-US" b="1" dirty="0" err="1" smtClean="0"/>
              <a:t>AutoML</a:t>
            </a:r>
            <a:r>
              <a:rPr lang="en-US" dirty="0" smtClean="0"/>
              <a:t> (automated machine learning)</a:t>
            </a:r>
          </a:p>
          <a:p>
            <a:pPr algn="just"/>
            <a:r>
              <a:rPr lang="en-US" b="1" dirty="0" smtClean="0"/>
              <a:t>Cloud platforms</a:t>
            </a:r>
            <a:r>
              <a:rPr lang="en-US" dirty="0" smtClean="0"/>
              <a:t> (AWS, Azure, GCP) for scalable analysis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6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1. Recent Trends in Data Collection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a. Internet of Things (</a:t>
            </a:r>
            <a:r>
              <a:rPr lang="en-US" b="1" dirty="0" err="1" smtClean="0">
                <a:solidFill>
                  <a:srgbClr val="FF0000"/>
                </a:solidFill>
              </a:rPr>
              <a:t>IoT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b="1" dirty="0" smtClean="0"/>
              <a:t>What:</a:t>
            </a:r>
            <a:r>
              <a:rPr lang="en-US" dirty="0" smtClean="0"/>
              <a:t> Smart devices like sensors, </a:t>
            </a:r>
            <a:r>
              <a:rPr lang="en-US" dirty="0" err="1" smtClean="0"/>
              <a:t>smartwatches</a:t>
            </a:r>
            <a:r>
              <a:rPr lang="en-US" dirty="0" smtClean="0"/>
              <a:t>, and home appliances collect real-time data.</a:t>
            </a:r>
          </a:p>
          <a:p>
            <a:pPr algn="just"/>
            <a:r>
              <a:rPr lang="en-US" b="1" dirty="0" smtClean="0"/>
              <a:t>Use Case:</a:t>
            </a:r>
            <a:r>
              <a:rPr lang="en-US" dirty="0" smtClean="0"/>
              <a:t> Smart cities, health monitoring, industrial automation.</a:t>
            </a:r>
          </a:p>
          <a:p>
            <a:pPr algn="just"/>
            <a:r>
              <a:rPr lang="en-US" b="1" dirty="0" smtClean="0"/>
              <a:t>Example:</a:t>
            </a:r>
            <a:r>
              <a:rPr lang="en-US" dirty="0" smtClean="0"/>
              <a:t> </a:t>
            </a:r>
            <a:r>
              <a:rPr lang="en-US" dirty="0" err="1" smtClean="0"/>
              <a:t>Fitbit</a:t>
            </a:r>
            <a:r>
              <a:rPr lang="en-US" dirty="0" smtClean="0"/>
              <a:t> collecting steps, heart rate, sleep patterns.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7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b. Web Scraping &amp; APIs</a:t>
            </a:r>
          </a:p>
          <a:p>
            <a:pPr algn="just"/>
            <a:r>
              <a:rPr lang="en-US" b="1" dirty="0" smtClean="0"/>
              <a:t>What:</a:t>
            </a:r>
            <a:r>
              <a:rPr lang="en-US" dirty="0" smtClean="0"/>
              <a:t> Automatically collecting data from </a:t>
            </a:r>
            <a:r>
              <a:rPr lang="en-US" dirty="0" smtClean="0">
                <a:solidFill>
                  <a:srgbClr val="0070C0"/>
                </a:solidFill>
              </a:rPr>
              <a:t>websites or through APIs </a:t>
            </a:r>
            <a:r>
              <a:rPr lang="en-US" dirty="0" smtClean="0"/>
              <a:t>(Application Programming Interfaces).</a:t>
            </a:r>
          </a:p>
          <a:p>
            <a:pPr algn="just"/>
            <a:r>
              <a:rPr lang="en-US" b="1" dirty="0" smtClean="0"/>
              <a:t>Tools:</a:t>
            </a:r>
            <a:r>
              <a:rPr lang="en-US" dirty="0" smtClean="0"/>
              <a:t> </a:t>
            </a:r>
            <a:r>
              <a:rPr lang="en-US" dirty="0" err="1" smtClean="0"/>
              <a:t>BeautifulSoup</a:t>
            </a:r>
            <a:r>
              <a:rPr lang="en-US" dirty="0" smtClean="0"/>
              <a:t>, </a:t>
            </a:r>
            <a:r>
              <a:rPr lang="en-US" dirty="0" err="1" smtClean="0"/>
              <a:t>Scrapy</a:t>
            </a:r>
            <a:r>
              <a:rPr lang="en-US" dirty="0" smtClean="0"/>
              <a:t>, </a:t>
            </a:r>
            <a:r>
              <a:rPr lang="en-US" dirty="0" err="1" smtClean="0"/>
              <a:t>Tweepy</a:t>
            </a:r>
            <a:r>
              <a:rPr lang="en-US" dirty="0" smtClean="0"/>
              <a:t> (for Twitter API), News API.</a:t>
            </a:r>
          </a:p>
          <a:p>
            <a:pPr algn="just"/>
            <a:r>
              <a:rPr lang="en-US" b="1" dirty="0" smtClean="0"/>
              <a:t>Use Case:</a:t>
            </a:r>
            <a:r>
              <a:rPr lang="en-US" dirty="0" smtClean="0"/>
              <a:t> Social media analysis, news sentiment tracking.</a:t>
            </a:r>
          </a:p>
          <a:p>
            <a:pPr algn="just"/>
            <a:r>
              <a:rPr lang="en-US" b="1" dirty="0" smtClean="0"/>
              <a:t>Example:</a:t>
            </a:r>
            <a:r>
              <a:rPr lang="en-US" dirty="0" smtClean="0"/>
              <a:t> Collecting tweets about elections to analyze public opinion.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65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c. Mobile Data Collection</a:t>
            </a:r>
          </a:p>
          <a:p>
            <a:r>
              <a:rPr lang="en-US" b="1" dirty="0" smtClean="0"/>
              <a:t>What:</a:t>
            </a:r>
            <a:r>
              <a:rPr lang="en-US" dirty="0" smtClean="0"/>
              <a:t> Using </a:t>
            </a:r>
            <a:r>
              <a:rPr lang="en-US" dirty="0" smtClean="0">
                <a:solidFill>
                  <a:srgbClr val="0070C0"/>
                </a:solidFill>
              </a:rPr>
              <a:t>mobile apps, SMS, or survey tools </a:t>
            </a:r>
            <a:r>
              <a:rPr lang="en-US" dirty="0" smtClean="0"/>
              <a:t>to collect user data.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Surveys, customer feedback, health tracking.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Google Forms collecting student responses via smartphones.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8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867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d. Big Data Platforms</a:t>
            </a:r>
          </a:p>
          <a:p>
            <a:r>
              <a:rPr lang="en-US" b="1" dirty="0" smtClean="0"/>
              <a:t>What:</a:t>
            </a:r>
            <a:r>
              <a:rPr lang="en-US" dirty="0" smtClean="0"/>
              <a:t> Platforms like </a:t>
            </a:r>
            <a:r>
              <a:rPr lang="en-US" dirty="0" err="1" smtClean="0">
                <a:solidFill>
                  <a:srgbClr val="0070C0"/>
                </a:solidFill>
              </a:rPr>
              <a:t>Hadoop</a:t>
            </a:r>
            <a:r>
              <a:rPr lang="en-US" dirty="0" smtClean="0">
                <a:solidFill>
                  <a:srgbClr val="0070C0"/>
                </a:solidFill>
              </a:rPr>
              <a:t>, Spark, and Kafka </a:t>
            </a:r>
            <a:r>
              <a:rPr lang="en-US" dirty="0" smtClean="0"/>
              <a:t>collect and store massive amounts of data in real-time.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E-commerce logs, streaming services like Netflix, telecom usage data.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e. User-generated Content</a:t>
            </a:r>
          </a:p>
          <a:p>
            <a:r>
              <a:rPr lang="en-US" b="1" dirty="0" smtClean="0"/>
              <a:t>What:</a:t>
            </a:r>
            <a:r>
              <a:rPr lang="en-US" dirty="0" smtClean="0"/>
              <a:t> Data from reviews, forums, social media posts, blogs.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Sentiment analysis, product improvement.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Amazon product reviews or YouTube comments.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6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2. Recent Trends in Data Analysis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a. Artificial Intelligence (AI) &amp; Machine Learning (ML</a:t>
            </a:r>
            <a:r>
              <a:rPr lang="en-US" b="1" dirty="0" smtClean="0"/>
              <a:t>)</a:t>
            </a:r>
          </a:p>
          <a:p>
            <a:pPr algn="just"/>
            <a:r>
              <a:rPr lang="en-US" b="1" dirty="0" smtClean="0"/>
              <a:t>What:</a:t>
            </a:r>
            <a:r>
              <a:rPr lang="en-US" dirty="0" smtClean="0"/>
              <a:t> Using intelligent algorithms to detect patterns, predict outcomes.</a:t>
            </a:r>
          </a:p>
          <a:p>
            <a:pPr algn="just"/>
            <a:r>
              <a:rPr lang="en-US" b="1" dirty="0" smtClean="0"/>
              <a:t>Use Case:</a:t>
            </a:r>
            <a:r>
              <a:rPr lang="en-US" dirty="0" smtClean="0"/>
              <a:t> Fraud detection, recommendation systems, stock price forecasting.</a:t>
            </a:r>
          </a:p>
          <a:p>
            <a:pPr algn="just"/>
            <a:r>
              <a:rPr lang="en-US" b="1" dirty="0" smtClean="0"/>
              <a:t>Tools:</a:t>
            </a:r>
            <a:r>
              <a:rPr lang="en-US" dirty="0" smtClean="0"/>
              <a:t> </a:t>
            </a:r>
            <a:r>
              <a:rPr lang="en-US" dirty="0" err="1" smtClean="0"/>
              <a:t>Scikit</a:t>
            </a:r>
            <a:r>
              <a:rPr lang="en-US" dirty="0" smtClean="0"/>
              <a:t>-learn, </a:t>
            </a:r>
            <a:r>
              <a:rPr lang="en-US" dirty="0" err="1" smtClean="0"/>
              <a:t>TensorFlow</a:t>
            </a:r>
            <a:r>
              <a:rPr lang="en-US" dirty="0" smtClean="0"/>
              <a:t>, </a:t>
            </a:r>
            <a:r>
              <a:rPr lang="en-US" dirty="0" err="1" smtClean="0"/>
              <a:t>PyTorch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b. Automated Machine Learning (</a:t>
            </a:r>
            <a:r>
              <a:rPr lang="en-US" b="1" dirty="0" err="1" smtClean="0">
                <a:solidFill>
                  <a:srgbClr val="FF0000"/>
                </a:solidFill>
              </a:rPr>
              <a:t>AutoML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b="1" dirty="0" smtClean="0"/>
              <a:t>What:</a:t>
            </a:r>
            <a:r>
              <a:rPr lang="en-US" dirty="0" smtClean="0"/>
              <a:t> Automatically selects the best ML models and tunes them.</a:t>
            </a:r>
          </a:p>
          <a:p>
            <a:pPr algn="just"/>
            <a:r>
              <a:rPr lang="en-US" b="1" dirty="0" smtClean="0"/>
              <a:t>Use Case:</a:t>
            </a:r>
            <a:r>
              <a:rPr lang="en-US" dirty="0" smtClean="0"/>
              <a:t> Speeds up model development for non-experts.</a:t>
            </a:r>
          </a:p>
          <a:p>
            <a:pPr algn="just"/>
            <a:r>
              <a:rPr lang="en-US" b="1" dirty="0" smtClean="0"/>
              <a:t>Tools:</a:t>
            </a:r>
            <a:r>
              <a:rPr lang="en-US" dirty="0" smtClean="0"/>
              <a:t> Google </a:t>
            </a:r>
            <a:r>
              <a:rPr lang="en-US" dirty="0" err="1" smtClean="0"/>
              <a:t>AutoML</a:t>
            </a:r>
            <a:r>
              <a:rPr lang="en-US" dirty="0" smtClean="0"/>
              <a:t>, H2O.ai, Auto-</a:t>
            </a:r>
            <a:r>
              <a:rPr lang="en-US" dirty="0" err="1" smtClean="0"/>
              <a:t>sklearn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2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c. Cloud Computing &amp; Data Analysis</a:t>
            </a:r>
          </a:p>
          <a:p>
            <a:r>
              <a:rPr lang="en-US" b="1" dirty="0" smtClean="0"/>
              <a:t>What:</a:t>
            </a:r>
            <a:r>
              <a:rPr lang="en-US" dirty="0" smtClean="0"/>
              <a:t> Storing and analyzing data on platforms like AWS, Azure, GCP.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Scalable analysis without needing powerful local machines.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d. Real-time Analytics</a:t>
            </a:r>
          </a:p>
          <a:p>
            <a:r>
              <a:rPr lang="en-US" b="1" dirty="0" smtClean="0"/>
              <a:t>What:</a:t>
            </a:r>
            <a:r>
              <a:rPr lang="en-US" dirty="0" smtClean="0"/>
              <a:t> Analyzing data as it comes in (streaming).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Monitoring stock markets, live dashboards.</a:t>
            </a:r>
          </a:p>
          <a:p>
            <a:r>
              <a:rPr lang="en-US" b="1" dirty="0" smtClean="0"/>
              <a:t>Tools:</a:t>
            </a:r>
            <a:r>
              <a:rPr lang="en-US" dirty="0" smtClean="0"/>
              <a:t> Apache Kafka, Apache </a:t>
            </a:r>
            <a:r>
              <a:rPr lang="en-US" dirty="0" err="1" smtClean="0"/>
              <a:t>Flink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7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0593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e. Data Visualization &amp; Storytelling</a:t>
            </a:r>
          </a:p>
          <a:p>
            <a:pPr algn="just"/>
            <a:r>
              <a:rPr lang="en-US" b="1" dirty="0" smtClean="0"/>
              <a:t>What:</a:t>
            </a:r>
            <a:r>
              <a:rPr lang="en-US" dirty="0" smtClean="0"/>
              <a:t> Presenting data insights through graphs and interactive visuals.</a:t>
            </a:r>
          </a:p>
          <a:p>
            <a:pPr algn="just"/>
            <a:r>
              <a:rPr lang="en-US" b="1" dirty="0" smtClean="0"/>
              <a:t>Tools:</a:t>
            </a:r>
            <a:r>
              <a:rPr lang="en-US" dirty="0" smtClean="0"/>
              <a:t> Power BI, Tableau, </a:t>
            </a:r>
            <a:r>
              <a:rPr lang="en-US" dirty="0" err="1" smtClean="0"/>
              <a:t>Bokeh</a:t>
            </a:r>
            <a:r>
              <a:rPr lang="en-US" dirty="0" smtClean="0"/>
              <a:t>, </a:t>
            </a:r>
            <a:r>
              <a:rPr lang="en-US" dirty="0" err="1" smtClean="0"/>
              <a:t>Plotly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Use Case:</a:t>
            </a:r>
            <a:r>
              <a:rPr lang="en-US" dirty="0" smtClean="0"/>
              <a:t> Business reporting, dashboard creation.</a:t>
            </a:r>
          </a:p>
          <a:p>
            <a:pPr algn="just"/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f. Privacy-aware Analytics (Data Ethics)</a:t>
            </a:r>
          </a:p>
          <a:p>
            <a:pPr algn="just"/>
            <a:r>
              <a:rPr lang="en-US" b="1" dirty="0" smtClean="0"/>
              <a:t>What:</a:t>
            </a:r>
            <a:r>
              <a:rPr lang="en-US" dirty="0" smtClean="0"/>
              <a:t> Ensuring data collection and usage respects privacy laws like GDPR.</a:t>
            </a:r>
          </a:p>
          <a:p>
            <a:pPr algn="just"/>
            <a:r>
              <a:rPr lang="en-US" b="1" dirty="0" smtClean="0"/>
              <a:t>Use Case:</a:t>
            </a:r>
            <a:r>
              <a:rPr lang="en-US" dirty="0" smtClean="0"/>
              <a:t> Healthcare data analysis, user data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3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The modern data world is:</a:t>
            </a:r>
          </a:p>
          <a:p>
            <a:r>
              <a:rPr lang="en-US" b="1" dirty="0" smtClean="0"/>
              <a:t>More connected</a:t>
            </a:r>
            <a:r>
              <a:rPr lang="en-US" dirty="0" smtClean="0"/>
              <a:t> (</a:t>
            </a:r>
            <a:r>
              <a:rPr lang="en-US" dirty="0" err="1" smtClean="0"/>
              <a:t>IoT</a:t>
            </a:r>
            <a:r>
              <a:rPr lang="en-US" dirty="0" smtClean="0"/>
              <a:t>, APIs)</a:t>
            </a:r>
          </a:p>
          <a:p>
            <a:r>
              <a:rPr lang="en-US" b="1" dirty="0" smtClean="0"/>
              <a:t>More real-time</a:t>
            </a:r>
            <a:r>
              <a:rPr lang="en-US" dirty="0" smtClean="0"/>
              <a:t> (streaming)</a:t>
            </a:r>
          </a:p>
          <a:p>
            <a:r>
              <a:rPr lang="en-US" b="1" dirty="0" smtClean="0"/>
              <a:t>More intelligent</a:t>
            </a:r>
            <a:r>
              <a:rPr lang="en-US" dirty="0" smtClean="0"/>
              <a:t> (AI, ML)</a:t>
            </a:r>
          </a:p>
          <a:p>
            <a:r>
              <a:rPr lang="en-US" b="1" dirty="0" smtClean="0"/>
              <a:t>More visual</a:t>
            </a:r>
            <a:r>
              <a:rPr lang="en-US" dirty="0" smtClean="0"/>
              <a:t> (dashboards)</a:t>
            </a:r>
          </a:p>
          <a:p>
            <a:r>
              <a:rPr lang="en-US" b="1" dirty="0" smtClean="0"/>
              <a:t>More ethical</a:t>
            </a:r>
            <a:r>
              <a:rPr lang="en-US" dirty="0" smtClean="0"/>
              <a:t> (data privacy laws)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1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Visualization Techniques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🔹 Based on data type:</a:t>
            </a:r>
          </a:p>
          <a:p>
            <a:r>
              <a:rPr lang="en-US" b="1" dirty="0" smtClean="0"/>
              <a:t>Bar Charts</a:t>
            </a:r>
            <a:r>
              <a:rPr lang="en-US" dirty="0" smtClean="0"/>
              <a:t> – Categorical comparisons</a:t>
            </a:r>
          </a:p>
          <a:p>
            <a:r>
              <a:rPr lang="en-US" b="1" dirty="0" smtClean="0"/>
              <a:t>Line Charts</a:t>
            </a:r>
            <a:r>
              <a:rPr lang="en-US" dirty="0" smtClean="0"/>
              <a:t> – Trends over time</a:t>
            </a:r>
          </a:p>
          <a:p>
            <a:r>
              <a:rPr lang="en-US" b="1" dirty="0" smtClean="0"/>
              <a:t>Pie Charts</a:t>
            </a:r>
            <a:r>
              <a:rPr lang="en-US" dirty="0" smtClean="0"/>
              <a:t> – Part-to-whole relationships</a:t>
            </a:r>
          </a:p>
          <a:p>
            <a:r>
              <a:rPr lang="en-US" b="1" dirty="0" err="1" smtClean="0"/>
              <a:t>Heatmaps</a:t>
            </a:r>
            <a:r>
              <a:rPr lang="en-US" dirty="0" smtClean="0"/>
              <a:t> – Pattern detection</a:t>
            </a:r>
          </a:p>
          <a:p>
            <a:r>
              <a:rPr lang="en-US" b="1" dirty="0" smtClean="0"/>
              <a:t>Scatter Plots</a:t>
            </a:r>
            <a:r>
              <a:rPr lang="en-US" dirty="0" smtClean="0"/>
              <a:t> – Relationships between two numeric variables</a:t>
            </a:r>
          </a:p>
          <a:p>
            <a:r>
              <a:rPr lang="en-US" b="1" dirty="0" smtClean="0"/>
              <a:t>Tree Maps</a:t>
            </a:r>
            <a:r>
              <a:rPr lang="en-US" dirty="0" smtClean="0"/>
              <a:t> – Hierarchical data visualization</a:t>
            </a:r>
          </a:p>
          <a:p>
            <a:r>
              <a:rPr lang="en-US" b="1" dirty="0" smtClean="0"/>
              <a:t>Word Clouds</a:t>
            </a:r>
            <a:r>
              <a:rPr lang="en-US" dirty="0" smtClean="0"/>
              <a:t> – Frequency of text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26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FF0000"/>
                </a:solidFill>
              </a:rPr>
              <a:t>Various Visualization Techniques in Data Science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dirty="0" smtClean="0"/>
              <a:t>Data </a:t>
            </a:r>
            <a:r>
              <a:rPr lang="en-US" dirty="0"/>
              <a:t>visualization helps to </a:t>
            </a:r>
            <a:r>
              <a:rPr lang="en-US" b="1" dirty="0"/>
              <a:t>understand data</a:t>
            </a:r>
            <a:r>
              <a:rPr lang="en-US" dirty="0"/>
              <a:t>, </a:t>
            </a:r>
            <a:r>
              <a:rPr lang="en-US" b="1" dirty="0"/>
              <a:t>find patterns</a:t>
            </a:r>
            <a:r>
              <a:rPr lang="en-US" dirty="0"/>
              <a:t>, and </a:t>
            </a:r>
            <a:r>
              <a:rPr lang="en-US" b="1" dirty="0"/>
              <a:t>make decisions faster</a:t>
            </a:r>
            <a:r>
              <a:rPr lang="en-US" dirty="0"/>
              <a:t>. Here are the most commonly used techniques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176922"/>
              </p:ext>
            </p:extLst>
          </p:nvPr>
        </p:nvGraphicFramePr>
        <p:xfrm>
          <a:off x="304800" y="11125200"/>
          <a:ext cx="8229600" cy="9006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995"/>
                <a:gridCol w="3764605"/>
              </a:tblGrid>
              <a:tr h="551740">
                <a:tc gridSpan="2"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Various Visualization Techniques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505661">
                <a:tc>
                  <a:txBody>
                    <a:bodyPr/>
                    <a:lstStyle/>
                    <a:p>
                      <a:r>
                        <a:rPr lang="en-US" b="1" dirty="0" smtClean="0"/>
                        <a:t> 1. Bar Chart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Compare quantities across categories</a:t>
                      </a:r>
                    </a:p>
                    <a:p>
                      <a:r>
                        <a:rPr lang="en-US" b="1" dirty="0" smtClean="0"/>
                        <a:t>Best For:</a:t>
                      </a:r>
                      <a:r>
                        <a:rPr lang="en-US" dirty="0" smtClean="0"/>
                        <a:t> Categorical data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Sales by product type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2. Line Chart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trends over time</a:t>
                      </a:r>
                    </a:p>
                    <a:p>
                      <a:r>
                        <a:rPr lang="en-US" b="1" dirty="0" smtClean="0"/>
                        <a:t>Best For:</a:t>
                      </a:r>
                      <a:r>
                        <a:rPr lang="en-US" dirty="0" smtClean="0"/>
                        <a:t> Time series data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Website traffic over a month</a:t>
                      </a:r>
                      <a:endParaRPr lang="en-US" dirty="0"/>
                    </a:p>
                  </a:txBody>
                  <a:tcPr/>
                </a:tc>
              </a:tr>
              <a:tr h="144779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3. Area Chart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cumulative totals over time</a:t>
                      </a:r>
                    </a:p>
                    <a:p>
                      <a:r>
                        <a:rPr lang="en-US" b="1" dirty="0" smtClean="0"/>
                        <a:t>Looks like:</a:t>
                      </a:r>
                      <a:r>
                        <a:rPr lang="en-US" dirty="0" smtClean="0"/>
                        <a:t> A filled version of line chart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Monthly user growth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4. Pie Chart / Donut Chart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percentage/parts of a whole</a:t>
                      </a:r>
                    </a:p>
                    <a:p>
                      <a:r>
                        <a:rPr lang="en-US" b="1" dirty="0" smtClean="0"/>
                        <a:t>Limit:</a:t>
                      </a:r>
                      <a:r>
                        <a:rPr lang="en-US" dirty="0" smtClean="0"/>
                        <a:t> Best for 3-5 categories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Market share by company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61543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5. Scatter Plot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relationships between two variables</a:t>
                      </a:r>
                    </a:p>
                    <a:p>
                      <a:r>
                        <a:rPr lang="en-US" b="1" dirty="0" smtClean="0"/>
                        <a:t>Best For:</a:t>
                      </a:r>
                      <a:r>
                        <a:rPr lang="en-US" dirty="0" smtClean="0"/>
                        <a:t> Correlation &amp; trend analysis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Hours studied </a:t>
                      </a:r>
                      <a:r>
                        <a:rPr lang="en-US" dirty="0" err="1" smtClean="0"/>
                        <a:t>vs</a:t>
                      </a:r>
                      <a:r>
                        <a:rPr lang="en-US" dirty="0" smtClean="0"/>
                        <a:t> Exam score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6. Histogram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frequency distribution of data</a:t>
                      </a:r>
                    </a:p>
                    <a:p>
                      <a:r>
                        <a:rPr lang="en-US" b="1" dirty="0" smtClean="0"/>
                        <a:t>Best For:</a:t>
                      </a:r>
                      <a:r>
                        <a:rPr lang="en-US" dirty="0" smtClean="0"/>
                        <a:t> Understanding data spread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Age distribution of people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55447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7. </a:t>
                      </a:r>
                      <a:r>
                        <a:rPr lang="en-US" b="1" dirty="0" err="1" smtClean="0"/>
                        <a:t>Heatmap</a:t>
                      </a:r>
                      <a:endParaRPr lang="en-US" b="1" dirty="0" smtClean="0"/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intensity or magnitude</a:t>
                      </a:r>
                    </a:p>
                    <a:p>
                      <a:r>
                        <a:rPr lang="en-US" b="1" dirty="0" smtClean="0"/>
                        <a:t>Best For:</a:t>
                      </a:r>
                      <a:r>
                        <a:rPr lang="en-US" dirty="0" smtClean="0"/>
                        <a:t> Correlation matrices, location-based data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Website click </a:t>
                      </a:r>
                      <a:r>
                        <a:rPr lang="en-US" dirty="0" err="1" smtClean="0"/>
                        <a:t>heatmap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8. Geospatial Map (Geo Map)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Display data on maps (location-based insights)</a:t>
                      </a:r>
                    </a:p>
                    <a:p>
                      <a:r>
                        <a:rPr lang="en-US" b="1" dirty="0" smtClean="0"/>
                        <a:t>Tools: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Plotly</a:t>
                      </a:r>
                      <a:r>
                        <a:rPr lang="en-US" dirty="0" smtClean="0"/>
                        <a:t>, Tableau, Power BI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COVID-19 spread by country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56971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9. Box Plot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Show median, quartiles, outliers in a dataset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Compare salaries across departments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10. Bubble Chart</a:t>
                      </a:r>
                    </a:p>
                    <a:p>
                      <a:r>
                        <a:rPr lang="en-US" b="1" dirty="0" smtClean="0"/>
                        <a:t>Use:</a:t>
                      </a:r>
                      <a:r>
                        <a:rPr lang="en-US" dirty="0" smtClean="0"/>
                        <a:t> Scatter plot with an extra dimension (bubble size)</a:t>
                      </a:r>
                    </a:p>
                    <a:p>
                      <a:r>
                        <a:rPr lang="en-US" b="1" dirty="0" smtClean="0"/>
                        <a:t>Example:</a:t>
                      </a:r>
                      <a:r>
                        <a:rPr lang="en-US" dirty="0" smtClean="0"/>
                        <a:t> Country-wise population </a:t>
                      </a:r>
                      <a:r>
                        <a:rPr lang="en-US" dirty="0" err="1" smtClean="0"/>
                        <a:t>vs</a:t>
                      </a:r>
                      <a:r>
                        <a:rPr lang="en-US" dirty="0" smtClean="0"/>
                        <a:t> GDP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87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0"/>
            <a:ext cx="8156575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710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Application Development Methods in Data Science</a:t>
            </a:r>
            <a:br>
              <a:rPr lang="en-US" sz="2800" b="1" dirty="0" smtClean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To build a data science application, we usually follow these </a:t>
            </a:r>
            <a:r>
              <a:rPr lang="en-US" b="1" dirty="0" smtClean="0"/>
              <a:t>development phases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 Phases:</a:t>
            </a:r>
          </a:p>
          <a:p>
            <a:r>
              <a:rPr lang="en-US" b="1" dirty="0" smtClean="0"/>
              <a:t>Problem Definition</a:t>
            </a:r>
            <a:endParaRPr lang="en-US" dirty="0" smtClean="0"/>
          </a:p>
          <a:p>
            <a:r>
              <a:rPr lang="en-US" b="1" dirty="0" smtClean="0"/>
              <a:t>Data Collection</a:t>
            </a:r>
            <a:endParaRPr lang="en-US" dirty="0" smtClean="0"/>
          </a:p>
          <a:p>
            <a:r>
              <a:rPr lang="en-US" b="1" dirty="0" smtClean="0"/>
              <a:t>Data Cleaning &amp; Preprocessing</a:t>
            </a:r>
            <a:endParaRPr lang="en-US" dirty="0" smtClean="0"/>
          </a:p>
          <a:p>
            <a:r>
              <a:rPr lang="en-US" b="1" dirty="0" smtClean="0"/>
              <a:t>Exploratory Data Analysis (EDA)</a:t>
            </a:r>
            <a:endParaRPr lang="en-US" dirty="0" smtClean="0"/>
          </a:p>
          <a:p>
            <a:r>
              <a:rPr lang="en-US" b="1" dirty="0" smtClean="0"/>
              <a:t>Model Building (ML/Statistical)</a:t>
            </a:r>
            <a:endParaRPr lang="en-US" dirty="0" smtClean="0"/>
          </a:p>
          <a:p>
            <a:r>
              <a:rPr lang="en-US" b="1" dirty="0" smtClean="0"/>
              <a:t>Model Evaluation &amp; Optimization</a:t>
            </a:r>
            <a:endParaRPr lang="en-US" dirty="0" smtClean="0"/>
          </a:p>
          <a:p>
            <a:r>
              <a:rPr lang="en-US" b="1" dirty="0" smtClean="0"/>
              <a:t>Visualization &amp; Reporting</a:t>
            </a:r>
            <a:endParaRPr lang="en-US" dirty="0" smtClean="0"/>
          </a:p>
          <a:p>
            <a:r>
              <a:rPr lang="en-US" b="1" dirty="0" smtClean="0"/>
              <a:t>Deployment</a:t>
            </a:r>
            <a:r>
              <a:rPr lang="en-US" dirty="0" smtClean="0"/>
              <a:t> (e.g., via Flask, </a:t>
            </a:r>
            <a:r>
              <a:rPr lang="en-US" dirty="0" err="1" smtClean="0"/>
              <a:t>Streamlit</a:t>
            </a:r>
            <a:r>
              <a:rPr lang="en-US" dirty="0" smtClean="0"/>
              <a:t>, or </a:t>
            </a:r>
            <a:r>
              <a:rPr lang="en-US" dirty="0" err="1" smtClean="0"/>
              <a:t>Django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9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>
                <a:latin typeface="Arial" charset="0"/>
                <a:cs typeface="Arial" charset="0"/>
              </a:rPr>
              <a:t>Popular Tools for Visualization:</a:t>
            </a:r>
            <a:br>
              <a:rPr lang="en-US" sz="2800" b="1" dirty="0">
                <a:latin typeface="Arial" charset="0"/>
                <a:cs typeface="Arial" charset="0"/>
              </a:rPr>
            </a:b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254891"/>
              </p:ext>
            </p:extLst>
          </p:nvPr>
        </p:nvGraphicFramePr>
        <p:xfrm>
          <a:off x="381000" y="144780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Good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b="1" dirty="0" err="1"/>
                        <a:t>Matplotlib</a:t>
                      </a:r>
                      <a:r>
                        <a:rPr lang="en-US" b="1" dirty="0"/>
                        <a:t> / </a:t>
                      </a:r>
                      <a:r>
                        <a:rPr lang="en-US" b="1" dirty="0" err="1"/>
                        <a:t>Seaborn</a:t>
                      </a:r>
                      <a:r>
                        <a:rPr lang="en-US" b="1" dirty="0"/>
                        <a:t> (Python)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Basic charts in notebooks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b="1" dirty="0" err="1"/>
                        <a:t>Bokeh</a:t>
                      </a:r>
                      <a:r>
                        <a:rPr lang="en-US" b="1" dirty="0"/>
                        <a:t> / </a:t>
                      </a:r>
                      <a:r>
                        <a:rPr lang="en-US" b="1" dirty="0" err="1"/>
                        <a:t>Plotly</a:t>
                      </a:r>
                      <a:r>
                        <a:rPr lang="en-US" b="1" dirty="0"/>
                        <a:t> (Python)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Interactive, web-ready plots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b="1" dirty="0"/>
                        <a:t>Tableau / Power BI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Business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b="1" dirty="0"/>
                        <a:t>Excel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and quick visualizations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03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Tools &amp; Technologies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Languages:</a:t>
            </a:r>
            <a:r>
              <a:rPr lang="en-US" dirty="0" smtClean="0"/>
              <a:t> Python, R</a:t>
            </a:r>
          </a:p>
          <a:p>
            <a:r>
              <a:rPr lang="en-US" b="1" dirty="0" smtClean="0"/>
              <a:t>Libraries:</a:t>
            </a:r>
            <a:r>
              <a:rPr lang="en-US" dirty="0" smtClean="0"/>
              <a:t> Pandas, </a:t>
            </a:r>
            <a:r>
              <a:rPr lang="en-US" dirty="0" err="1" smtClean="0"/>
              <a:t>NumPy</a:t>
            </a:r>
            <a:r>
              <a:rPr lang="en-US" dirty="0" smtClean="0"/>
              <a:t>, </a:t>
            </a:r>
            <a:r>
              <a:rPr lang="en-US" dirty="0" err="1" smtClean="0"/>
              <a:t>Scikit</a:t>
            </a:r>
            <a:r>
              <a:rPr lang="en-US" dirty="0" smtClean="0"/>
              <a:t>-learn, </a:t>
            </a:r>
            <a:r>
              <a:rPr lang="en-US" dirty="0" err="1" smtClean="0"/>
              <a:t>TensorFlow</a:t>
            </a:r>
            <a:r>
              <a:rPr lang="en-US" dirty="0" smtClean="0"/>
              <a:t>, </a:t>
            </a:r>
            <a:r>
              <a:rPr lang="en-US" dirty="0" err="1" smtClean="0"/>
              <a:t>PyTorch</a:t>
            </a:r>
            <a:endParaRPr lang="en-US" dirty="0" smtClean="0"/>
          </a:p>
          <a:p>
            <a:r>
              <a:rPr lang="en-US" b="1" dirty="0" smtClean="0"/>
              <a:t>Visualization:</a:t>
            </a:r>
            <a:r>
              <a:rPr lang="en-US" dirty="0" smtClean="0"/>
              <a:t> </a:t>
            </a:r>
            <a:r>
              <a:rPr lang="en-US" dirty="0" err="1" smtClean="0"/>
              <a:t>Bokeh</a:t>
            </a:r>
            <a:r>
              <a:rPr lang="en-US" dirty="0" smtClean="0"/>
              <a:t>, </a:t>
            </a:r>
            <a:r>
              <a:rPr lang="en-US" dirty="0" err="1" smtClean="0"/>
              <a:t>Plotly</a:t>
            </a:r>
            <a:r>
              <a:rPr lang="en-US" dirty="0" smtClean="0"/>
              <a:t>, Dash, Power BI</a:t>
            </a:r>
          </a:p>
          <a:p>
            <a:r>
              <a:rPr lang="en-US" b="1" dirty="0" smtClean="0"/>
              <a:t>Deployment:</a:t>
            </a:r>
            <a:r>
              <a:rPr lang="en-US" dirty="0" smtClean="0"/>
              <a:t> Flask, </a:t>
            </a:r>
            <a:r>
              <a:rPr lang="en-US" dirty="0" err="1" smtClean="0"/>
              <a:t>Streamlit</a:t>
            </a:r>
            <a:r>
              <a:rPr lang="en-US" dirty="0" smtClean="0"/>
              <a:t>, </a:t>
            </a:r>
            <a:r>
              <a:rPr lang="en-US" dirty="0" err="1" smtClean="0"/>
              <a:t>FastAPI</a:t>
            </a:r>
            <a:endParaRPr lang="en-US" dirty="0" smtClean="0"/>
          </a:p>
          <a:p>
            <a:r>
              <a:rPr lang="en-US" b="1" dirty="0" smtClean="0"/>
              <a:t>Cloud:</a:t>
            </a:r>
            <a:r>
              <a:rPr lang="en-US" dirty="0" smtClean="0"/>
              <a:t> AWS, Azure, Google Cloud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16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Use Case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Build a heart disease prediction app</a:t>
            </a:r>
            <a:br>
              <a:rPr lang="en-US" dirty="0"/>
            </a:br>
            <a:r>
              <a:rPr lang="en-US" b="1" dirty="0"/>
              <a:t>Steps (CRISP-DM):</a:t>
            </a:r>
            <a:endParaRPr lang="en-US" dirty="0"/>
          </a:p>
          <a:p>
            <a:r>
              <a:rPr lang="en-US" dirty="0"/>
              <a:t>Understand the healthcare problem</a:t>
            </a:r>
          </a:p>
          <a:p>
            <a:r>
              <a:rPr lang="en-US" dirty="0"/>
              <a:t>Collect patient data</a:t>
            </a:r>
          </a:p>
          <a:p>
            <a:r>
              <a:rPr lang="en-US" dirty="0"/>
              <a:t>Clean and transform the data</a:t>
            </a:r>
          </a:p>
          <a:p>
            <a:r>
              <a:rPr lang="en-US" dirty="0"/>
              <a:t>Train a classification model</a:t>
            </a:r>
          </a:p>
          <a:p>
            <a:r>
              <a:rPr lang="en-US" dirty="0"/>
              <a:t>Test model accuracy</a:t>
            </a:r>
          </a:p>
          <a:p>
            <a:r>
              <a:rPr lang="en-US" dirty="0"/>
              <a:t>Deploy it as a </a:t>
            </a:r>
            <a:r>
              <a:rPr lang="en-US" b="1" dirty="0"/>
              <a:t>web app using </a:t>
            </a:r>
            <a:r>
              <a:rPr lang="en-US" b="1" dirty="0" err="1"/>
              <a:t>Streamlit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058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Finance – Stock Price </a:t>
            </a:r>
            <a:r>
              <a:rPr lang="en-US" dirty="0" smtClean="0"/>
              <a:t>Forecasting</a:t>
            </a:r>
          </a:p>
          <a:p>
            <a:r>
              <a:rPr lang="en-US" dirty="0"/>
              <a:t>Retail – Customer </a:t>
            </a:r>
            <a:r>
              <a:rPr lang="en-US" dirty="0" smtClean="0"/>
              <a:t>Segmentation</a:t>
            </a:r>
          </a:p>
          <a:p>
            <a:r>
              <a:rPr lang="en-US" dirty="0"/>
              <a:t>Real Estate – Price Estimation </a:t>
            </a:r>
            <a:r>
              <a:rPr lang="en-US" dirty="0" smtClean="0"/>
              <a:t>Tool</a:t>
            </a:r>
          </a:p>
          <a:p>
            <a:r>
              <a:rPr lang="en-US" dirty="0"/>
              <a:t>Education – Student Performance </a:t>
            </a:r>
            <a:r>
              <a:rPr lang="en-US" dirty="0" smtClean="0"/>
              <a:t>Dashboard</a:t>
            </a:r>
          </a:p>
          <a:p>
            <a:r>
              <a:rPr lang="en-US" dirty="0"/>
              <a:t>Logistics – Fleet </a:t>
            </a:r>
            <a:r>
              <a:rPr lang="en-US" dirty="0" smtClean="0"/>
              <a:t>Optimization</a:t>
            </a:r>
          </a:p>
          <a:p>
            <a:r>
              <a:rPr lang="en-US" dirty="0"/>
              <a:t>NLP – Sentiment Analysis App</a:t>
            </a:r>
          </a:p>
        </p:txBody>
      </p:sp>
    </p:spTree>
    <p:extLst>
      <p:ext uri="{BB962C8B-B14F-4D97-AF65-F5344CB8AC3E}">
        <p14:creationId xmlns:p14="http://schemas.microsoft.com/office/powerpoint/2010/main" val="3401774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Logistics – Fleet Optimization</a:t>
            </a:r>
          </a:p>
          <a:p>
            <a:r>
              <a:rPr lang="en-US" b="1" dirty="0"/>
              <a:t>Use Case:</a:t>
            </a:r>
            <a:r>
              <a:rPr lang="en-US" dirty="0"/>
              <a:t> Optimize routes and fuel usage for delivery vehicles.</a:t>
            </a:r>
          </a:p>
          <a:p>
            <a:r>
              <a:rPr lang="en-US" b="1" dirty="0"/>
              <a:t>Data:</a:t>
            </a:r>
            <a:r>
              <a:rPr lang="en-US" dirty="0"/>
              <a:t> GPS, delivery times, traffic</a:t>
            </a:r>
          </a:p>
          <a:p>
            <a:r>
              <a:rPr lang="en-US" b="1" dirty="0"/>
              <a:t>Model:</a:t>
            </a:r>
            <a:r>
              <a:rPr lang="en-US" dirty="0"/>
              <a:t> Route optimization algorithms (like </a:t>
            </a:r>
            <a:r>
              <a:rPr lang="en-US" dirty="0" err="1"/>
              <a:t>Dijkstra's</a:t>
            </a:r>
            <a:r>
              <a:rPr lang="en-US" dirty="0"/>
              <a:t>)</a:t>
            </a:r>
          </a:p>
          <a:p>
            <a:r>
              <a:rPr lang="en-US" b="1" dirty="0"/>
              <a:t>Application:</a:t>
            </a:r>
            <a:r>
              <a:rPr lang="en-US" dirty="0"/>
              <a:t> Live tracking dashboard</a:t>
            </a:r>
          </a:p>
          <a:p>
            <a:r>
              <a:rPr lang="en-US" b="1" dirty="0"/>
              <a:t>Outcome:</a:t>
            </a:r>
            <a:r>
              <a:rPr lang="en-US" dirty="0"/>
              <a:t> Saves fuel and delivery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91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 Estate – Price Estimation Tool</a:t>
            </a:r>
          </a:p>
          <a:p>
            <a:r>
              <a:rPr lang="en-US" b="1" dirty="0"/>
              <a:t>Use Case:</a:t>
            </a:r>
            <a:r>
              <a:rPr lang="en-US" dirty="0"/>
              <a:t> Estimate house prices based on features.</a:t>
            </a:r>
          </a:p>
          <a:p>
            <a:r>
              <a:rPr lang="en-US" b="1" dirty="0"/>
              <a:t>Data:</a:t>
            </a:r>
            <a:r>
              <a:rPr lang="en-US" dirty="0"/>
              <a:t> Area, location, no. of bedrooms, etc.</a:t>
            </a:r>
          </a:p>
          <a:p>
            <a:r>
              <a:rPr lang="en-US" b="1" dirty="0"/>
              <a:t>Model:</a:t>
            </a:r>
            <a:r>
              <a:rPr lang="en-US" dirty="0"/>
              <a:t> Linear Regression /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b="1" dirty="0"/>
              <a:t>Application:</a:t>
            </a:r>
            <a:r>
              <a:rPr lang="en-US" dirty="0"/>
              <a:t> Interactive web app using </a:t>
            </a:r>
            <a:r>
              <a:rPr lang="en-US" dirty="0" err="1"/>
              <a:t>Streamlit</a:t>
            </a:r>
            <a:endParaRPr lang="en-US" dirty="0"/>
          </a:p>
          <a:p>
            <a:r>
              <a:rPr lang="en-US" b="1" dirty="0"/>
              <a:t>Outcome:</a:t>
            </a:r>
            <a:r>
              <a:rPr lang="en-US" dirty="0"/>
              <a:t> Helps users find fair property prices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758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Application Development Methodologies in Data Science Projects</a:t>
            </a:r>
            <a:br>
              <a:rPr lang="en-US" sz="3200" b="1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Developing </a:t>
            </a:r>
            <a:r>
              <a:rPr lang="en-US" dirty="0"/>
              <a:t>a data science project involves systematic planning, data collection, analysis, modeling, and deployment. Several methodologies have been adapted or specifically designed to manage data science workflows efficiently.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26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 smtClean="0"/>
              <a:t>key </a:t>
            </a:r>
            <a:r>
              <a:rPr lang="en-US" dirty="0"/>
              <a:t>methodologies include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1. CRISP-DM (Cross-Industry Standard Process for Data Mining)</a:t>
            </a:r>
          </a:p>
          <a:p>
            <a:pPr marL="0" indent="0">
              <a:buNone/>
            </a:pPr>
            <a:r>
              <a:rPr lang="en-US" b="1" dirty="0"/>
              <a:t>Most widely used methodology.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Phases:</a:t>
            </a:r>
            <a:endParaRPr lang="en-US" dirty="0"/>
          </a:p>
          <a:p>
            <a:pPr lvl="1"/>
            <a:r>
              <a:rPr lang="en-US" b="1" dirty="0"/>
              <a:t>Business Understanding</a:t>
            </a:r>
            <a:r>
              <a:rPr lang="en-US" dirty="0"/>
              <a:t> – Define objectives and requirements.</a:t>
            </a:r>
          </a:p>
          <a:p>
            <a:pPr lvl="1"/>
            <a:r>
              <a:rPr lang="en-US" b="1" dirty="0"/>
              <a:t>Data Understanding</a:t>
            </a:r>
            <a:r>
              <a:rPr lang="en-US" dirty="0"/>
              <a:t> – Collect, describe, and explore data.</a:t>
            </a:r>
          </a:p>
          <a:p>
            <a:pPr lvl="1"/>
            <a:r>
              <a:rPr lang="en-US" b="1" dirty="0"/>
              <a:t>Data Preparation</a:t>
            </a:r>
            <a:r>
              <a:rPr lang="en-US" dirty="0"/>
              <a:t> – Clean, transform, and select data for modeling.</a:t>
            </a:r>
          </a:p>
          <a:p>
            <a:pPr lvl="1"/>
            <a:r>
              <a:rPr lang="en-US" b="1" dirty="0"/>
              <a:t>Modeling</a:t>
            </a:r>
            <a:r>
              <a:rPr lang="en-US" dirty="0"/>
              <a:t> – Choose and apply modeling techniques.</a:t>
            </a:r>
          </a:p>
          <a:p>
            <a:pPr lvl="1"/>
            <a:r>
              <a:rPr lang="en-US" b="1" dirty="0"/>
              <a:t>Evaluation</a:t>
            </a:r>
            <a:r>
              <a:rPr lang="en-US" dirty="0"/>
              <a:t> – Assess model effectiveness and verify business goals.</a:t>
            </a:r>
          </a:p>
          <a:p>
            <a:pPr lvl="1"/>
            <a:r>
              <a:rPr lang="en-US" b="1" dirty="0"/>
              <a:t>Deployment</a:t>
            </a:r>
            <a:r>
              <a:rPr lang="en-US" dirty="0"/>
              <a:t> – Implement the model into production or report results.</a:t>
            </a:r>
          </a:p>
          <a:p>
            <a:r>
              <a:rPr lang="en-US" b="1" dirty="0"/>
              <a:t>Strength</a:t>
            </a:r>
            <a:r>
              <a:rPr lang="en-US" dirty="0"/>
              <a:t>: Iterative and flexible approach; suitable for both academic and industrial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173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2. KDD (Knowledge Discovery in Databases)</a:t>
            </a:r>
          </a:p>
          <a:p>
            <a:r>
              <a:rPr lang="en-US" dirty="0"/>
              <a:t>An older but foundational method.</a:t>
            </a:r>
          </a:p>
          <a:p>
            <a:r>
              <a:rPr lang="en-US" b="1" dirty="0"/>
              <a:t>Phases:</a:t>
            </a:r>
            <a:endParaRPr lang="en-US" dirty="0"/>
          </a:p>
          <a:p>
            <a:pPr lvl="1"/>
            <a:r>
              <a:rPr lang="en-US" b="1" dirty="0"/>
              <a:t>Selection</a:t>
            </a:r>
            <a:r>
              <a:rPr lang="en-US" dirty="0"/>
              <a:t> – Choose relevant data.</a:t>
            </a:r>
          </a:p>
          <a:p>
            <a:pPr lvl="1"/>
            <a:r>
              <a:rPr lang="en-US" b="1" dirty="0"/>
              <a:t>Preprocessing</a:t>
            </a:r>
            <a:r>
              <a:rPr lang="en-US" dirty="0"/>
              <a:t> – Remove noise and handle missing values.</a:t>
            </a:r>
          </a:p>
          <a:p>
            <a:pPr lvl="1"/>
            <a:r>
              <a:rPr lang="en-US" b="1" dirty="0"/>
              <a:t>Transformation</a:t>
            </a:r>
            <a:r>
              <a:rPr lang="en-US" dirty="0"/>
              <a:t> – Convert data into suitable formats.</a:t>
            </a:r>
          </a:p>
          <a:p>
            <a:pPr lvl="1"/>
            <a:r>
              <a:rPr lang="en-US" b="1" dirty="0"/>
              <a:t>Data Mining</a:t>
            </a:r>
            <a:r>
              <a:rPr lang="en-US" dirty="0"/>
              <a:t> – Apply algorithms to extract patterns.</a:t>
            </a:r>
          </a:p>
          <a:p>
            <a:pPr lvl="1"/>
            <a:r>
              <a:rPr lang="en-US" b="1" dirty="0"/>
              <a:t>Interpretation/Evaluation</a:t>
            </a:r>
            <a:r>
              <a:rPr lang="en-US" dirty="0"/>
              <a:t> – Make sense of the patterns.</a:t>
            </a:r>
          </a:p>
          <a:p>
            <a:r>
              <a:rPr lang="en-US" b="1" dirty="0"/>
              <a:t>Focus</a:t>
            </a:r>
            <a:r>
              <a:rPr lang="en-US" dirty="0"/>
              <a:t>: Pattern discovery and interpretation.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81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Agile Data Science</a:t>
            </a:r>
          </a:p>
          <a:p>
            <a:r>
              <a:rPr lang="en-US" dirty="0"/>
              <a:t>Based on </a:t>
            </a:r>
            <a:r>
              <a:rPr lang="en-US" b="1" dirty="0"/>
              <a:t>Agile software development</a:t>
            </a:r>
            <a:r>
              <a:rPr lang="en-US" dirty="0"/>
              <a:t> principles.</a:t>
            </a:r>
          </a:p>
          <a:p>
            <a:r>
              <a:rPr lang="en-US" dirty="0"/>
              <a:t>Emphasizes </a:t>
            </a:r>
            <a:r>
              <a:rPr lang="en-US" b="1" dirty="0"/>
              <a:t>collaboration</a:t>
            </a:r>
            <a:r>
              <a:rPr lang="en-US" dirty="0"/>
              <a:t>, </a:t>
            </a:r>
            <a:r>
              <a:rPr lang="en-US" b="1" dirty="0"/>
              <a:t>iterative development</a:t>
            </a:r>
            <a:r>
              <a:rPr lang="en-US" dirty="0"/>
              <a:t>, and </a:t>
            </a:r>
            <a:r>
              <a:rPr lang="en-US" b="1" dirty="0"/>
              <a:t>continuous delivery</a:t>
            </a:r>
            <a:r>
              <a:rPr lang="en-US" dirty="0"/>
              <a:t>.</a:t>
            </a:r>
          </a:p>
          <a:p>
            <a:r>
              <a:rPr lang="en-US" b="1" dirty="0"/>
              <a:t>Sprint-based approach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Regular progress reviews.</a:t>
            </a:r>
          </a:p>
          <a:p>
            <a:pPr lvl="1"/>
            <a:r>
              <a:rPr lang="en-US" dirty="0"/>
              <a:t>Incorporates feedback from stakeholders.</a:t>
            </a:r>
          </a:p>
          <a:p>
            <a:r>
              <a:rPr lang="en-US" b="1" dirty="0"/>
              <a:t>Advantage</a:t>
            </a:r>
            <a:r>
              <a:rPr lang="en-US" dirty="0"/>
              <a:t>: Allows fast prototyping and frequent updates in dynamic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321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4. SEMMA (Sample, Explore, Modify, Model, Assess)</a:t>
            </a:r>
          </a:p>
          <a:p>
            <a:r>
              <a:rPr lang="en-US" dirty="0"/>
              <a:t>Developed by </a:t>
            </a:r>
            <a:r>
              <a:rPr lang="en-US" b="1" dirty="0"/>
              <a:t>SAS Institute</a:t>
            </a:r>
            <a:r>
              <a:rPr lang="en-US" dirty="0"/>
              <a:t>.</a:t>
            </a:r>
          </a:p>
          <a:p>
            <a:r>
              <a:rPr lang="en-US" dirty="0"/>
              <a:t>Focused more on the </a:t>
            </a:r>
            <a:r>
              <a:rPr lang="en-US" b="1" dirty="0"/>
              <a:t>technical steps</a:t>
            </a:r>
            <a:r>
              <a:rPr lang="en-US" dirty="0"/>
              <a:t> of data mining.</a:t>
            </a:r>
          </a:p>
          <a:p>
            <a:pPr lvl="1"/>
            <a:r>
              <a:rPr lang="en-US" b="1" dirty="0"/>
              <a:t>Sample</a:t>
            </a:r>
            <a:r>
              <a:rPr lang="en-US" dirty="0"/>
              <a:t> – Extract a representative sample.</a:t>
            </a:r>
          </a:p>
          <a:p>
            <a:pPr lvl="1"/>
            <a:r>
              <a:rPr lang="en-US" b="1" dirty="0"/>
              <a:t>Explore</a:t>
            </a:r>
            <a:r>
              <a:rPr lang="en-US" dirty="0"/>
              <a:t> – Visualize and examine data.</a:t>
            </a:r>
          </a:p>
          <a:p>
            <a:pPr lvl="1"/>
            <a:r>
              <a:rPr lang="en-US" b="1" dirty="0"/>
              <a:t>Modify</a:t>
            </a:r>
            <a:r>
              <a:rPr lang="en-US" dirty="0"/>
              <a:t> – Clean and transform data.</a:t>
            </a:r>
          </a:p>
          <a:p>
            <a:pPr lvl="1"/>
            <a:r>
              <a:rPr lang="en-US" b="1" dirty="0"/>
              <a:t>Model</a:t>
            </a:r>
            <a:r>
              <a:rPr lang="en-US" dirty="0"/>
              <a:t> – Apply statistical/machine learning models.</a:t>
            </a:r>
          </a:p>
          <a:p>
            <a:pPr lvl="1"/>
            <a:r>
              <a:rPr lang="en-US" b="1" dirty="0"/>
              <a:t>Assess</a:t>
            </a:r>
            <a:r>
              <a:rPr lang="en-US" dirty="0"/>
              <a:t> – Evaluate model performance.</a:t>
            </a:r>
          </a:p>
          <a:p>
            <a:r>
              <a:rPr lang="en-US" b="1" dirty="0"/>
              <a:t>Limitation</a:t>
            </a:r>
            <a:r>
              <a:rPr lang="en-US" dirty="0"/>
              <a:t>: Less emphasis on business understanding.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658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5. Microsoft Team Data Science Process (TDSP)</a:t>
            </a:r>
          </a:p>
          <a:p>
            <a:r>
              <a:rPr lang="en-US" dirty="0"/>
              <a:t>Designed for </a:t>
            </a:r>
            <a:r>
              <a:rPr lang="en-US" b="1" dirty="0"/>
              <a:t>enterprise-level AI and machine learning solutions</a:t>
            </a:r>
            <a:r>
              <a:rPr lang="en-US" dirty="0"/>
              <a:t>.</a:t>
            </a:r>
          </a:p>
          <a:p>
            <a:r>
              <a:rPr lang="en-US" b="1" dirty="0"/>
              <a:t>Phases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Business Understanding</a:t>
            </a:r>
            <a:endParaRPr lang="en-US" dirty="0"/>
          </a:p>
          <a:p>
            <a:pPr lvl="1"/>
            <a:r>
              <a:rPr lang="en-US" b="1" dirty="0"/>
              <a:t>Data Acquisition and Understanding</a:t>
            </a:r>
            <a:endParaRPr lang="en-US" dirty="0"/>
          </a:p>
          <a:p>
            <a:pPr lvl="1"/>
            <a:r>
              <a:rPr lang="en-US" b="1" dirty="0"/>
              <a:t>Modeling</a:t>
            </a:r>
            <a:endParaRPr lang="en-US" dirty="0"/>
          </a:p>
          <a:p>
            <a:pPr lvl="1"/>
            <a:r>
              <a:rPr lang="en-US" b="1" dirty="0"/>
              <a:t>Deployment</a:t>
            </a:r>
            <a:endParaRPr lang="en-US" dirty="0"/>
          </a:p>
          <a:p>
            <a:pPr lvl="1"/>
            <a:r>
              <a:rPr lang="en-US" b="1" dirty="0"/>
              <a:t>Customer Acceptance</a:t>
            </a:r>
            <a:endParaRPr lang="en-US" dirty="0"/>
          </a:p>
          <a:p>
            <a:r>
              <a:rPr lang="en-US" b="1" dirty="0"/>
              <a:t>Features</a:t>
            </a:r>
            <a:r>
              <a:rPr lang="en-US" dirty="0"/>
              <a:t>: Collaborative, cloud-compatible, integrates tools like Azure ML, </a:t>
            </a:r>
            <a:r>
              <a:rPr lang="en-US" dirty="0" err="1"/>
              <a:t>Git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484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Choosing </a:t>
            </a:r>
            <a:r>
              <a:rPr lang="en-US" dirty="0"/>
              <a:t>the right methodology depends on:</a:t>
            </a:r>
          </a:p>
          <a:p>
            <a:r>
              <a:rPr lang="en-US" dirty="0"/>
              <a:t>The </a:t>
            </a:r>
            <a:r>
              <a:rPr lang="en-US" b="1" dirty="0"/>
              <a:t>complexity</a:t>
            </a:r>
            <a:r>
              <a:rPr lang="en-US" dirty="0"/>
              <a:t> of the project,</a:t>
            </a:r>
          </a:p>
          <a:p>
            <a:r>
              <a:rPr lang="en-US" dirty="0"/>
              <a:t>The </a:t>
            </a:r>
            <a:r>
              <a:rPr lang="en-US" b="1" dirty="0"/>
              <a:t>team structure</a:t>
            </a:r>
            <a:r>
              <a:rPr lang="en-US" dirty="0"/>
              <a:t>,</a:t>
            </a:r>
          </a:p>
          <a:p>
            <a:r>
              <a:rPr lang="en-US" dirty="0"/>
              <a:t>The </a:t>
            </a:r>
            <a:r>
              <a:rPr lang="en-US" b="1" dirty="0"/>
              <a:t>timeline</a:t>
            </a:r>
            <a:r>
              <a:rPr lang="en-US" dirty="0"/>
              <a:t>, and</a:t>
            </a:r>
          </a:p>
          <a:p>
            <a:r>
              <a:rPr lang="en-US" dirty="0"/>
              <a:t>The </a:t>
            </a:r>
            <a:r>
              <a:rPr lang="en-US" b="1" dirty="0"/>
              <a:t>goals</a:t>
            </a:r>
            <a:r>
              <a:rPr lang="en-US" dirty="0"/>
              <a:t> (research vs. production deployment).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1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2177</Words>
  <Application>Microsoft Office PowerPoint</Application>
  <PresentationFormat>On-screen Show (4:3)</PresentationFormat>
  <Paragraphs>348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 UNIT-V: Applications of Data Science: Technologies for visualization, Bokeh (Python), recent trends in various data collection and analysis techniques, various visualization techniques, application development methods  used in data science. </vt:lpstr>
      <vt:lpstr>Mind Map </vt:lpstr>
      <vt:lpstr>Applications of Data Science </vt:lpstr>
      <vt:lpstr>Cont..</vt:lpstr>
      <vt:lpstr>Cont..</vt:lpstr>
      <vt:lpstr>PowerPoint Presentation</vt:lpstr>
      <vt:lpstr>PowerPoint Presentation</vt:lpstr>
      <vt:lpstr>Tools Used in Data Science Applications: </vt:lpstr>
      <vt:lpstr>Technologies for visualization</vt:lpstr>
      <vt:lpstr>Bokeh (Python)</vt:lpstr>
      <vt:lpstr>Cont..</vt:lpstr>
      <vt:lpstr>PowerPoint Presentation</vt:lpstr>
      <vt:lpstr>PowerPoint Presentation</vt:lpstr>
      <vt:lpstr> Recent Trends in Data Collection &amp; Analysis </vt:lpstr>
      <vt:lpstr>1. Recent Trends in Data Collection </vt:lpstr>
      <vt:lpstr>Cont..</vt:lpstr>
      <vt:lpstr>PowerPoint Presentation</vt:lpstr>
      <vt:lpstr>Cont..</vt:lpstr>
      <vt:lpstr>2. Recent Trends in Data Analysis </vt:lpstr>
      <vt:lpstr>Cont..</vt:lpstr>
      <vt:lpstr>Cont..</vt:lpstr>
      <vt:lpstr>PowerPoint Presentation</vt:lpstr>
      <vt:lpstr>Visualization Techniques </vt:lpstr>
      <vt:lpstr>Various Visualization Techniques in Data Science </vt:lpstr>
      <vt:lpstr>PowerPoint Presentation</vt:lpstr>
      <vt:lpstr>Application Development Methods in Data Science </vt:lpstr>
      <vt:lpstr>Popular Tools for Visualization: </vt:lpstr>
      <vt:lpstr>Tools &amp; Technologies:</vt:lpstr>
      <vt:lpstr>Example Use Case </vt:lpstr>
      <vt:lpstr>Use Cases</vt:lpstr>
      <vt:lpstr>Example-1</vt:lpstr>
      <vt:lpstr>Example-2</vt:lpstr>
      <vt:lpstr>Application Development Methodologies in Data Science Projects </vt:lpstr>
      <vt:lpstr>Cont..</vt:lpstr>
      <vt:lpstr>Cont..</vt:lpstr>
      <vt:lpstr>Cont..</vt:lpstr>
      <vt:lpstr>Cont..</vt:lpstr>
      <vt:lpstr>Cont..</vt:lpstr>
      <vt:lpstr>Cont..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UNIT-V: Applications of Data Science: Technologies for visualization, Bokeh (Python), recent trends in various data collection and analysis techniques, various visualization techniques, application development metHoDs of used in data science.</dc:title>
  <dc:creator>admin</dc:creator>
  <cp:lastModifiedBy>admin</cp:lastModifiedBy>
  <cp:revision>20</cp:revision>
  <dcterms:created xsi:type="dcterms:W3CDTF">2025-04-10T05:54:42Z</dcterms:created>
  <dcterms:modified xsi:type="dcterms:W3CDTF">2026-04-15T04:11:51Z</dcterms:modified>
</cp:coreProperties>
</file>