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0" r:id="rId5"/>
    <p:sldId id="259" r:id="rId6"/>
    <p:sldId id="316" r:id="rId7"/>
    <p:sldId id="268" r:id="rId8"/>
    <p:sldId id="282" r:id="rId9"/>
    <p:sldId id="281" r:id="rId10"/>
    <p:sldId id="269" r:id="rId11"/>
    <p:sldId id="283" r:id="rId12"/>
    <p:sldId id="284" r:id="rId13"/>
    <p:sldId id="270" r:id="rId14"/>
    <p:sldId id="285" r:id="rId15"/>
    <p:sldId id="286" r:id="rId16"/>
    <p:sldId id="287" r:id="rId17"/>
    <p:sldId id="279" r:id="rId18"/>
    <p:sldId id="288" r:id="rId19"/>
    <p:sldId id="271" r:id="rId20"/>
    <p:sldId id="289" r:id="rId21"/>
    <p:sldId id="290" r:id="rId22"/>
    <p:sldId id="272" r:id="rId23"/>
    <p:sldId id="291" r:id="rId24"/>
    <p:sldId id="294" r:id="rId25"/>
    <p:sldId id="292" r:id="rId26"/>
    <p:sldId id="293" r:id="rId27"/>
    <p:sldId id="260" r:id="rId28"/>
    <p:sldId id="261" r:id="rId29"/>
    <p:sldId id="262" r:id="rId30"/>
    <p:sldId id="263" r:id="rId31"/>
    <p:sldId id="264" r:id="rId32"/>
    <p:sldId id="265" r:id="rId33"/>
    <p:sldId id="266" r:id="rId34"/>
    <p:sldId id="267" r:id="rId35"/>
    <p:sldId id="295" r:id="rId36"/>
    <p:sldId id="273" r:id="rId37"/>
    <p:sldId id="274" r:id="rId38"/>
    <p:sldId id="275" r:id="rId39"/>
    <p:sldId id="276" r:id="rId40"/>
    <p:sldId id="277" r:id="rId41"/>
    <p:sldId id="309" r:id="rId42"/>
    <p:sldId id="312" r:id="rId43"/>
    <p:sldId id="296" r:id="rId44"/>
    <p:sldId id="317" r:id="rId45"/>
    <p:sldId id="318" r:id="rId46"/>
    <p:sldId id="319" r:id="rId47"/>
    <p:sldId id="320" r:id="rId48"/>
    <p:sldId id="297" r:id="rId49"/>
    <p:sldId id="278" r:id="rId50"/>
    <p:sldId id="300" r:id="rId51"/>
    <p:sldId id="308" r:id="rId52"/>
    <p:sldId id="298" r:id="rId53"/>
    <p:sldId id="299" r:id="rId54"/>
    <p:sldId id="301" r:id="rId55"/>
    <p:sldId id="302" r:id="rId56"/>
    <p:sldId id="306" r:id="rId57"/>
    <p:sldId id="307" r:id="rId58"/>
    <p:sldId id="311" r:id="rId59"/>
    <p:sldId id="305" r:id="rId60"/>
    <p:sldId id="303" r:id="rId61"/>
    <p:sldId id="313" r:id="rId62"/>
    <p:sldId id="314" r:id="rId63"/>
    <p:sldId id="315"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3" d="100"/>
          <a:sy n="73" d="100"/>
        </p:scale>
        <p:origin x="-1122" y="3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manualLayout>
          <c:layoutTarget val="inner"/>
          <c:xMode val="edge"/>
          <c:yMode val="edge"/>
          <c:x val="0.10728018372703411"/>
          <c:y val="0.19943314377369495"/>
          <c:w val="0.6901097987751531"/>
          <c:h val="0.68921660834062404"/>
        </c:manualLayout>
      </c:layout>
      <c:barChart>
        <c:barDir val="col"/>
        <c:grouping val="clustered"/>
        <c:varyColors val="0"/>
        <c:ser>
          <c:idx val="0"/>
          <c:order val="0"/>
          <c:tx>
            <c:strRef>
              <c:f>Sheet1!$C$4</c:f>
              <c:strCache>
                <c:ptCount val="1"/>
                <c:pt idx="0">
                  <c:v>Sales ($)</c:v>
                </c:pt>
              </c:strCache>
            </c:strRef>
          </c:tx>
          <c:spPr>
            <a:solidFill>
              <a:srgbClr val="002060"/>
            </a:solidFill>
          </c:spPr>
          <c:invertIfNegative val="0"/>
          <c:cat>
            <c:strRef>
              <c:f>Sheet1!$B$5:$B$7</c:f>
              <c:strCache>
                <c:ptCount val="3"/>
                <c:pt idx="0">
                  <c:v>Product A</c:v>
                </c:pt>
                <c:pt idx="1">
                  <c:v>Product B</c:v>
                </c:pt>
                <c:pt idx="2">
                  <c:v>Product C</c:v>
                </c:pt>
              </c:strCache>
            </c:strRef>
          </c:cat>
          <c:val>
            <c:numRef>
              <c:f>Sheet1!$C$5:$C$7</c:f>
              <c:numCache>
                <c:formatCode>#,##0</c:formatCode>
                <c:ptCount val="3"/>
                <c:pt idx="0">
                  <c:v>50000</c:v>
                </c:pt>
                <c:pt idx="1">
                  <c:v>75000</c:v>
                </c:pt>
                <c:pt idx="2">
                  <c:v>40000</c:v>
                </c:pt>
              </c:numCache>
            </c:numRef>
          </c:val>
        </c:ser>
        <c:dLbls>
          <c:showLegendKey val="0"/>
          <c:showVal val="0"/>
          <c:showCatName val="0"/>
          <c:showSerName val="0"/>
          <c:showPercent val="0"/>
          <c:showBubbleSize val="0"/>
        </c:dLbls>
        <c:gapWidth val="150"/>
        <c:axId val="141640448"/>
        <c:axId val="141641984"/>
      </c:barChart>
      <c:catAx>
        <c:axId val="141640448"/>
        <c:scaling>
          <c:orientation val="minMax"/>
        </c:scaling>
        <c:delete val="0"/>
        <c:axPos val="b"/>
        <c:majorTickMark val="out"/>
        <c:minorTickMark val="none"/>
        <c:tickLblPos val="nextTo"/>
        <c:crossAx val="141641984"/>
        <c:crosses val="autoZero"/>
        <c:auto val="1"/>
        <c:lblAlgn val="ctr"/>
        <c:lblOffset val="100"/>
        <c:noMultiLvlLbl val="0"/>
      </c:catAx>
      <c:valAx>
        <c:axId val="141641984"/>
        <c:scaling>
          <c:orientation val="minMax"/>
        </c:scaling>
        <c:delete val="0"/>
        <c:axPos val="l"/>
        <c:majorGridlines/>
        <c:numFmt formatCode="#,##0" sourceLinked="1"/>
        <c:majorTickMark val="out"/>
        <c:minorTickMark val="none"/>
        <c:tickLblPos val="nextTo"/>
        <c:crossAx val="141640448"/>
        <c:crosses val="autoZero"/>
        <c:crossBetween val="between"/>
      </c:valAx>
    </c:plotArea>
    <c:legend>
      <c:legendPos val="r"/>
      <c:layout/>
      <c:overlay val="0"/>
    </c:legend>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B3B5C4-916C-49CA-9AA7-52AA72D7E2FD}" type="datetimeFigureOut">
              <a:rPr lang="en-US" smtClean="0"/>
              <a:t>2026-04-07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217890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B3B5C4-916C-49CA-9AA7-52AA72D7E2FD}" type="datetimeFigureOut">
              <a:rPr lang="en-US" smtClean="0"/>
              <a:t>2026-04-07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411048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B3B5C4-916C-49CA-9AA7-52AA72D7E2FD}" type="datetimeFigureOut">
              <a:rPr lang="en-US" smtClean="0"/>
              <a:t>2026-04-07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2614766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B3B5C4-916C-49CA-9AA7-52AA72D7E2FD}" type="datetimeFigureOut">
              <a:rPr lang="en-US" smtClean="0"/>
              <a:t>2026-04-07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3616753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6B3B5C4-916C-49CA-9AA7-52AA72D7E2FD}" type="datetimeFigureOut">
              <a:rPr lang="en-US" smtClean="0"/>
              <a:t>2026-04-07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4132335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6B3B5C4-916C-49CA-9AA7-52AA72D7E2FD}" type="datetimeFigureOut">
              <a:rPr lang="en-US" smtClean="0"/>
              <a:t>2026-04-07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342645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B3B5C4-916C-49CA-9AA7-52AA72D7E2FD}" type="datetimeFigureOut">
              <a:rPr lang="en-US" smtClean="0"/>
              <a:t>2026-04-07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2080367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B3B5C4-916C-49CA-9AA7-52AA72D7E2FD}" type="datetimeFigureOut">
              <a:rPr lang="en-US" smtClean="0"/>
              <a:t>2026-04-07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362699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B3B5C4-916C-49CA-9AA7-52AA72D7E2FD}" type="datetimeFigureOut">
              <a:rPr lang="en-US" smtClean="0"/>
              <a:t>2026-04-07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3782834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B3B5C4-916C-49CA-9AA7-52AA72D7E2FD}" type="datetimeFigureOut">
              <a:rPr lang="en-US" smtClean="0"/>
              <a:t>2026-04-07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279843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B3B5C4-916C-49CA-9AA7-52AA72D7E2FD}" type="datetimeFigureOut">
              <a:rPr lang="en-US" smtClean="0"/>
              <a:t>2026-04-07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6177B-2910-438F-A907-4C95069F6008}" type="slidenum">
              <a:rPr lang="en-US" smtClean="0"/>
              <a:t>‹#›</a:t>
            </a:fld>
            <a:endParaRPr lang="en-US"/>
          </a:p>
        </p:txBody>
      </p:sp>
    </p:spTree>
    <p:extLst>
      <p:ext uri="{BB962C8B-B14F-4D97-AF65-F5344CB8AC3E}">
        <p14:creationId xmlns:p14="http://schemas.microsoft.com/office/powerpoint/2010/main" val="4030360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B3B5C4-916C-49CA-9AA7-52AA72D7E2FD}" type="datetimeFigureOut">
              <a:rPr lang="en-US" smtClean="0"/>
              <a:t>2026-04-07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D6177B-2910-438F-A907-4C95069F6008}" type="slidenum">
              <a:rPr lang="en-US" smtClean="0"/>
              <a:t>‹#›</a:t>
            </a:fld>
            <a:endParaRPr lang="en-US"/>
          </a:p>
        </p:txBody>
      </p:sp>
    </p:spTree>
    <p:extLst>
      <p:ext uri="{BB962C8B-B14F-4D97-AF65-F5344CB8AC3E}">
        <p14:creationId xmlns:p14="http://schemas.microsoft.com/office/powerpoint/2010/main" val="1265552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990600"/>
            <a:ext cx="8458200" cy="4571999"/>
          </a:xfrm>
        </p:spPr>
        <p:txBody>
          <a:bodyPr>
            <a:normAutofit fontScale="90000"/>
          </a:bodyPr>
          <a:lstStyle/>
          <a:p>
            <a:pPr algn="just"/>
            <a:r>
              <a:rPr lang="en-US" dirty="0" smtClean="0">
                <a:solidFill>
                  <a:srgbClr val="FF0000"/>
                </a:solidFill>
              </a:rPr>
              <a:t>UNIT-IV: </a:t>
            </a:r>
            <a:r>
              <a:rPr lang="en-US" dirty="0" smtClean="0"/>
              <a:t/>
            </a:r>
            <a:br>
              <a:rPr lang="en-US" dirty="0" smtClean="0"/>
            </a:br>
            <a:r>
              <a:rPr lang="en-US" dirty="0" smtClean="0">
                <a:solidFill>
                  <a:srgbClr val="FF0000"/>
                </a:solidFill>
              </a:rPr>
              <a:t>Data Visualization: </a:t>
            </a:r>
            <a:r>
              <a:rPr lang="en-US" dirty="0" smtClean="0"/>
              <a:t>Introduction, Types of data visualization, Data for visualization: </a:t>
            </a:r>
            <a:br>
              <a:rPr lang="en-US" dirty="0" smtClean="0"/>
            </a:br>
            <a:r>
              <a:rPr lang="en-US" dirty="0" smtClean="0"/>
              <a:t>, Data encodings, Retinal variables, mapping variables to encodings, Visual encodings </a:t>
            </a:r>
            <a:endParaRPr lang="en-US" dirty="0"/>
          </a:p>
        </p:txBody>
      </p:sp>
    </p:spTree>
    <p:extLst>
      <p:ext uri="{BB962C8B-B14F-4D97-AF65-F5344CB8AC3E}">
        <p14:creationId xmlns:p14="http://schemas.microsoft.com/office/powerpoint/2010/main" val="2859062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Introduction</a:t>
            </a:r>
            <a:r>
              <a:rPr lang="en-US" b="1" dirty="0" smtClean="0"/>
              <a:t/>
            </a:r>
            <a:br>
              <a:rPr lang="en-US" b="1" dirty="0" smtClean="0"/>
            </a:br>
            <a:endParaRPr lang="en-US"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pPr algn="just"/>
            <a:r>
              <a:rPr lang="en-US" dirty="0">
                <a:solidFill>
                  <a:schemeClr val="tx2"/>
                </a:solidFill>
              </a:rPr>
              <a:t>Data Visualization </a:t>
            </a:r>
            <a:r>
              <a:rPr lang="en-US" dirty="0"/>
              <a:t>is defined as </a:t>
            </a:r>
            <a:r>
              <a:rPr lang="en-US" dirty="0">
                <a:solidFill>
                  <a:srgbClr val="FF0000"/>
                </a:solidFill>
              </a:rPr>
              <a:t>the pictorial representation of the data to provide the </a:t>
            </a:r>
            <a:r>
              <a:rPr lang="en-US" dirty="0" smtClean="0">
                <a:solidFill>
                  <a:srgbClr val="FF0000"/>
                </a:solidFill>
              </a:rPr>
              <a:t>fact based </a:t>
            </a:r>
            <a:r>
              <a:rPr lang="en-US" dirty="0">
                <a:solidFill>
                  <a:srgbClr val="FF0000"/>
                </a:solidFill>
              </a:rPr>
              <a:t>analysis to decision-makers. </a:t>
            </a:r>
            <a:endParaRPr lang="en-US" dirty="0" smtClean="0">
              <a:solidFill>
                <a:srgbClr val="FF0000"/>
              </a:solidFill>
            </a:endParaRPr>
          </a:p>
          <a:p>
            <a:pPr algn="just"/>
            <a:r>
              <a:rPr lang="en-US" dirty="0" smtClean="0">
                <a:solidFill>
                  <a:schemeClr val="tx2"/>
                </a:solidFill>
              </a:rPr>
              <a:t>Typically </a:t>
            </a:r>
            <a:r>
              <a:rPr lang="en-US" dirty="0">
                <a:solidFill>
                  <a:schemeClr val="tx2"/>
                </a:solidFill>
              </a:rPr>
              <a:t>text data </a:t>
            </a:r>
            <a:r>
              <a:rPr lang="en-US" dirty="0"/>
              <a:t>might </a:t>
            </a:r>
            <a:r>
              <a:rPr lang="en-US" dirty="0">
                <a:solidFill>
                  <a:srgbClr val="FF0000"/>
                </a:solidFill>
              </a:rPr>
              <a:t>not be able to reve</a:t>
            </a:r>
            <a:r>
              <a:rPr lang="en-US" dirty="0"/>
              <a:t>al the pattern or trends needed to recognize data. </a:t>
            </a:r>
            <a:endParaRPr lang="en-US" dirty="0" smtClean="0"/>
          </a:p>
          <a:p>
            <a:pPr algn="just"/>
            <a:r>
              <a:rPr lang="en-US" dirty="0" smtClean="0"/>
              <a:t>In </a:t>
            </a:r>
            <a:r>
              <a:rPr lang="en-US" dirty="0"/>
              <a:t>the digital age, data visualization is an </a:t>
            </a:r>
            <a:r>
              <a:rPr lang="en-US" dirty="0">
                <a:solidFill>
                  <a:srgbClr val="FF0000"/>
                </a:solidFill>
              </a:rPr>
              <a:t>essential tool for making complex data understandable, actionable, and accessible. </a:t>
            </a:r>
            <a:endParaRPr lang="en-US" dirty="0" smtClean="0">
              <a:solidFill>
                <a:srgbClr val="FF0000"/>
              </a:solidFill>
            </a:endParaRPr>
          </a:p>
          <a:p>
            <a:pPr algn="just"/>
            <a:r>
              <a:rPr lang="en-US" dirty="0" smtClean="0"/>
              <a:t>Whether </a:t>
            </a:r>
            <a:r>
              <a:rPr lang="en-US" dirty="0"/>
              <a:t>you’re a marketer, data scientist, or business analyst, understanding the different types of data visualizations can help you tell compelling data stories and make informed decisions.</a:t>
            </a:r>
          </a:p>
          <a:p>
            <a:pPr algn="just"/>
            <a:endParaRPr lang="en-US" dirty="0"/>
          </a:p>
        </p:txBody>
      </p:sp>
    </p:spTree>
    <p:extLst>
      <p:ext uri="{BB962C8B-B14F-4D97-AF65-F5344CB8AC3E}">
        <p14:creationId xmlns:p14="http://schemas.microsoft.com/office/powerpoint/2010/main" val="59970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What is Data Visualization?</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lgn="just"/>
            <a:r>
              <a:rPr lang="en-US" dirty="0" smtClean="0">
                <a:solidFill>
                  <a:srgbClr val="FF0000"/>
                </a:solidFill>
              </a:rPr>
              <a:t>Data </a:t>
            </a:r>
            <a:r>
              <a:rPr lang="en-US" dirty="0">
                <a:solidFill>
                  <a:srgbClr val="FF0000"/>
                </a:solidFill>
              </a:rPr>
              <a:t>visualization refers to the graphical representation of information and data</a:t>
            </a:r>
            <a:r>
              <a:rPr lang="en-US" dirty="0"/>
              <a:t>. </a:t>
            </a:r>
            <a:endParaRPr lang="en-US" dirty="0" smtClean="0"/>
          </a:p>
          <a:p>
            <a:pPr algn="just"/>
            <a:r>
              <a:rPr lang="en-US" dirty="0" smtClean="0"/>
              <a:t>Using </a:t>
            </a:r>
            <a:r>
              <a:rPr lang="en-US" dirty="0"/>
              <a:t>visual elements like </a:t>
            </a:r>
            <a:r>
              <a:rPr lang="en-US" dirty="0">
                <a:solidFill>
                  <a:srgbClr val="002060"/>
                </a:solidFill>
              </a:rPr>
              <a:t>charts, graphs, and maps, it provides an accessible way to see and understand patterns, trends, and outliers.</a:t>
            </a:r>
          </a:p>
          <a:p>
            <a:pPr algn="just"/>
            <a:endParaRPr lang="en-US" dirty="0">
              <a:solidFill>
                <a:srgbClr val="002060"/>
              </a:solidFill>
            </a:endParaRPr>
          </a:p>
        </p:txBody>
      </p:sp>
    </p:spTree>
    <p:extLst>
      <p:ext uri="{BB962C8B-B14F-4D97-AF65-F5344CB8AC3E}">
        <p14:creationId xmlns:p14="http://schemas.microsoft.com/office/powerpoint/2010/main" val="25951003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229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00067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Why Data Visualization is Important</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b="1" dirty="0" smtClean="0"/>
              <a:t>Simplifies </a:t>
            </a:r>
            <a:r>
              <a:rPr lang="en-US" b="1" dirty="0"/>
              <a:t>complex data:</a:t>
            </a:r>
            <a:r>
              <a:rPr lang="en-US" dirty="0"/>
              <a:t> Allows non-technical audiences to understand.</a:t>
            </a:r>
          </a:p>
          <a:p>
            <a:r>
              <a:rPr lang="en-US" b="1" dirty="0"/>
              <a:t>Enhances decision-making:</a:t>
            </a:r>
            <a:r>
              <a:rPr lang="en-US" dirty="0"/>
              <a:t> Helps stakeholders make informed decisions quickly.</a:t>
            </a:r>
          </a:p>
          <a:p>
            <a:r>
              <a:rPr lang="en-US" b="1" dirty="0"/>
              <a:t>Highlights insights:</a:t>
            </a:r>
            <a:r>
              <a:rPr lang="en-US" dirty="0"/>
              <a:t> Makes it easier to spot trends and outliers</a:t>
            </a:r>
          </a:p>
          <a:p>
            <a:endParaRPr lang="en-US" dirty="0"/>
          </a:p>
        </p:txBody>
      </p:sp>
    </p:spTree>
    <p:extLst>
      <p:ext uri="{BB962C8B-B14F-4D97-AF65-F5344CB8AC3E}">
        <p14:creationId xmlns:p14="http://schemas.microsoft.com/office/powerpoint/2010/main" val="18482737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Types of data visualization</a:t>
            </a:r>
            <a:endParaRPr lang="en-US" dirty="0"/>
          </a:p>
        </p:txBody>
      </p:sp>
      <p:sp>
        <p:nvSpPr>
          <p:cNvPr id="3" name="Content Placeholder 2"/>
          <p:cNvSpPr>
            <a:spLocks noGrp="1"/>
          </p:cNvSpPr>
          <p:nvPr>
            <p:ph idx="1"/>
          </p:nvPr>
        </p:nvSpPr>
        <p:spPr/>
        <p:txBody>
          <a:bodyPr/>
          <a:lstStyle/>
          <a:p>
            <a:pPr marL="0" indent="0" algn="just">
              <a:buNone/>
            </a:pPr>
            <a:r>
              <a:rPr lang="en-US" dirty="0"/>
              <a:t>Data visualization is broadly classified into different types.</a:t>
            </a:r>
          </a:p>
          <a:p>
            <a:pPr marL="0" indent="0" algn="just">
              <a:buNone/>
            </a:pPr>
            <a:r>
              <a:rPr lang="en-US" dirty="0"/>
              <a:t>They are:</a:t>
            </a:r>
          </a:p>
          <a:p>
            <a:pPr marL="571500" indent="-571500" algn="just">
              <a:buAutoNum type="romanUcPeriod"/>
            </a:pPr>
            <a:r>
              <a:rPr lang="en-US" b="1" dirty="0" smtClean="0">
                <a:solidFill>
                  <a:srgbClr val="FF0000"/>
                </a:solidFill>
              </a:rPr>
              <a:t>Temporal</a:t>
            </a:r>
          </a:p>
          <a:p>
            <a:pPr marL="571500" indent="-571500" algn="just">
              <a:buAutoNum type="romanUcPeriod"/>
            </a:pPr>
            <a:r>
              <a:rPr lang="en-US" b="1" dirty="0" smtClean="0">
                <a:solidFill>
                  <a:srgbClr val="FF0000"/>
                </a:solidFill>
              </a:rPr>
              <a:t>Hierarchical</a:t>
            </a:r>
          </a:p>
          <a:p>
            <a:pPr marL="571500" indent="-571500" algn="just">
              <a:buAutoNum type="romanUcPeriod"/>
            </a:pPr>
            <a:r>
              <a:rPr lang="en-US" b="1" dirty="0" smtClean="0">
                <a:solidFill>
                  <a:srgbClr val="FF0000"/>
                </a:solidFill>
              </a:rPr>
              <a:t>Network</a:t>
            </a:r>
          </a:p>
          <a:p>
            <a:pPr marL="571500" indent="-571500" algn="just">
              <a:buAutoNum type="romanUcPeriod"/>
            </a:pPr>
            <a:r>
              <a:rPr lang="en-US" b="1" dirty="0" smtClean="0">
                <a:solidFill>
                  <a:srgbClr val="FF0000"/>
                </a:solidFill>
              </a:rPr>
              <a:t>Multidimensional</a:t>
            </a:r>
          </a:p>
          <a:p>
            <a:pPr marL="571500" indent="-571500" algn="just">
              <a:buAutoNum type="romanUcPeriod"/>
            </a:pPr>
            <a:endParaRPr lang="en-US" b="1" dirty="0">
              <a:solidFill>
                <a:srgbClr val="FF0000"/>
              </a:solidFill>
            </a:endParaRPr>
          </a:p>
          <a:p>
            <a:endParaRPr lang="en-US" dirty="0"/>
          </a:p>
        </p:txBody>
      </p:sp>
    </p:spTree>
    <p:extLst>
      <p:ext uri="{BB962C8B-B14F-4D97-AF65-F5344CB8AC3E}">
        <p14:creationId xmlns:p14="http://schemas.microsoft.com/office/powerpoint/2010/main" val="3283561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Types of data visualization</a:t>
            </a:r>
          </a:p>
        </p:txBody>
      </p:sp>
      <p:sp>
        <p:nvSpPr>
          <p:cNvPr id="3" name="Content Placeholder 2"/>
          <p:cNvSpPr>
            <a:spLocks noGrp="1"/>
          </p:cNvSpPr>
          <p:nvPr>
            <p:ph idx="1"/>
          </p:nvPr>
        </p:nvSpPr>
        <p:spPr>
          <a:xfrm>
            <a:off x="0" y="1295400"/>
            <a:ext cx="9144000" cy="5410200"/>
          </a:xfrm>
        </p:spPr>
        <p:txBody>
          <a:bodyPr>
            <a:noAutofit/>
          </a:bodyPr>
          <a:lstStyle/>
          <a:p>
            <a:pPr marL="0" indent="0" algn="just">
              <a:buNone/>
            </a:pPr>
            <a:r>
              <a:rPr lang="en-US" sz="2400" dirty="0"/>
              <a:t>Data visualization is broadly classified </a:t>
            </a:r>
            <a:r>
              <a:rPr lang="en-US" sz="2400" dirty="0" smtClean="0"/>
              <a:t>into </a:t>
            </a:r>
            <a:r>
              <a:rPr lang="en-US" sz="2400" dirty="0"/>
              <a:t>different types.</a:t>
            </a:r>
          </a:p>
          <a:p>
            <a:pPr marL="0" indent="0" algn="just">
              <a:buNone/>
            </a:pPr>
            <a:r>
              <a:rPr lang="en-US" sz="2400" dirty="0"/>
              <a:t>They are:</a:t>
            </a:r>
          </a:p>
          <a:p>
            <a:pPr marL="571500" indent="-571500" algn="just">
              <a:buAutoNum type="romanUcPeriod"/>
            </a:pPr>
            <a:r>
              <a:rPr lang="en-US" sz="2400" b="1" dirty="0" smtClean="0">
                <a:solidFill>
                  <a:srgbClr val="FF0000"/>
                </a:solidFill>
              </a:rPr>
              <a:t>Temporal:</a:t>
            </a:r>
          </a:p>
          <a:p>
            <a:r>
              <a:rPr lang="en-US" sz="2400" dirty="0" smtClean="0"/>
              <a:t>Temporal </a:t>
            </a:r>
            <a:r>
              <a:rPr lang="en-US" sz="2400" dirty="0"/>
              <a:t>visualizations are used for </a:t>
            </a:r>
            <a:r>
              <a:rPr lang="en-US" sz="2400" dirty="0">
                <a:solidFill>
                  <a:srgbClr val="FF0000"/>
                </a:solidFill>
              </a:rPr>
              <a:t>data that has a time component</a:t>
            </a:r>
            <a:r>
              <a:rPr lang="en-US" sz="2400" dirty="0"/>
              <a:t> and </a:t>
            </a:r>
            <a:r>
              <a:rPr lang="en-US" sz="2400" dirty="0">
                <a:solidFill>
                  <a:srgbClr val="FF0000"/>
                </a:solidFill>
              </a:rPr>
              <a:t>is </a:t>
            </a:r>
            <a:r>
              <a:rPr lang="en-US" sz="2400" dirty="0" smtClean="0">
                <a:solidFill>
                  <a:srgbClr val="FF0000"/>
                </a:solidFill>
              </a:rPr>
              <a:t>linear</a:t>
            </a:r>
            <a:r>
              <a:rPr lang="en-US" sz="2400" dirty="0" smtClean="0"/>
              <a:t>.</a:t>
            </a:r>
            <a:endParaRPr lang="en-US" sz="2400" dirty="0"/>
          </a:p>
          <a:p>
            <a:r>
              <a:rPr lang="en-US" sz="2400" b="1" dirty="0"/>
              <a:t>Purpose:</a:t>
            </a:r>
            <a:r>
              <a:rPr lang="en-US" sz="2400" dirty="0"/>
              <a:t> Best suited for showing </a:t>
            </a:r>
            <a:r>
              <a:rPr lang="en-US" sz="2400" dirty="0">
                <a:solidFill>
                  <a:srgbClr val="FF0000"/>
                </a:solidFill>
              </a:rPr>
              <a:t>trends or patterns over time</a:t>
            </a:r>
            <a:r>
              <a:rPr lang="en-US" sz="2400" dirty="0"/>
              <a:t>.</a:t>
            </a:r>
          </a:p>
          <a:p>
            <a:r>
              <a:rPr lang="en-US" sz="2400" b="1" dirty="0"/>
              <a:t>Example Use Cases:</a:t>
            </a:r>
            <a:r>
              <a:rPr lang="en-US" sz="2400" dirty="0"/>
              <a:t> Stock prices, sales data, temperature over time.</a:t>
            </a:r>
          </a:p>
          <a:p>
            <a:pPr marL="0" indent="0">
              <a:buNone/>
            </a:pPr>
            <a:r>
              <a:rPr lang="en-US" sz="2400" b="1" dirty="0">
                <a:solidFill>
                  <a:srgbClr val="FF0000"/>
                </a:solidFill>
              </a:rPr>
              <a:t>Common Types of Temporal Visualizations:</a:t>
            </a:r>
            <a:endParaRPr lang="en-US" sz="2400" dirty="0">
              <a:solidFill>
                <a:srgbClr val="FF0000"/>
              </a:solidFill>
            </a:endParaRPr>
          </a:p>
          <a:p>
            <a:r>
              <a:rPr lang="en-US" sz="2400" b="1" dirty="0"/>
              <a:t>Scatter Plots:</a:t>
            </a:r>
            <a:r>
              <a:rPr lang="en-US" sz="2400" dirty="0"/>
              <a:t> Dots represent individual data points.</a:t>
            </a:r>
          </a:p>
          <a:p>
            <a:r>
              <a:rPr lang="en-US" sz="2400" b="1" dirty="0"/>
              <a:t>Pie Charts:</a:t>
            </a:r>
            <a:r>
              <a:rPr lang="en-US" sz="2400" dirty="0"/>
              <a:t> Circular charts where each sector’s arc represents a percentage.</a:t>
            </a:r>
          </a:p>
          <a:p>
            <a:r>
              <a:rPr lang="en-US" sz="2400" b="1" dirty="0"/>
              <a:t>Line Graphs:</a:t>
            </a:r>
            <a:r>
              <a:rPr lang="en-US" sz="2400" dirty="0"/>
              <a:t> Data points connected by lines to show trends </a:t>
            </a:r>
            <a:r>
              <a:rPr lang="en-US" sz="2400" dirty="0" smtClean="0"/>
              <a:t>over time</a:t>
            </a:r>
            <a:r>
              <a:rPr lang="en-US" sz="2400" dirty="0"/>
              <a:t>.</a:t>
            </a:r>
          </a:p>
        </p:txBody>
      </p:sp>
    </p:spTree>
    <p:extLst>
      <p:ext uri="{BB962C8B-B14F-4D97-AF65-F5344CB8AC3E}">
        <p14:creationId xmlns:p14="http://schemas.microsoft.com/office/powerpoint/2010/main" val="301481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Cont..</a:t>
            </a:r>
            <a:endParaRPr lang="en-US" dirty="0"/>
          </a:p>
        </p:txBody>
      </p:sp>
      <p:sp>
        <p:nvSpPr>
          <p:cNvPr id="3" name="Content Placeholder 2"/>
          <p:cNvSpPr>
            <a:spLocks noGrp="1"/>
          </p:cNvSpPr>
          <p:nvPr>
            <p:ph idx="1"/>
          </p:nvPr>
        </p:nvSpPr>
        <p:spPr>
          <a:xfrm>
            <a:off x="304800" y="1219200"/>
            <a:ext cx="8610600" cy="5486400"/>
          </a:xfrm>
        </p:spPr>
        <p:txBody>
          <a:bodyPr>
            <a:normAutofit fontScale="70000" lnSpcReduction="20000"/>
          </a:bodyPr>
          <a:lstStyle/>
          <a:p>
            <a:r>
              <a:rPr lang="en-US" b="1" dirty="0" smtClean="0">
                <a:solidFill>
                  <a:srgbClr val="FF0000"/>
                </a:solidFill>
              </a:rPr>
              <a:t>Scatter Plot</a:t>
            </a:r>
            <a:r>
              <a:rPr lang="en-US" dirty="0" smtClean="0">
                <a:solidFill>
                  <a:srgbClr val="FF0000"/>
                </a:solidFill>
              </a:rPr>
              <a:t>:</a:t>
            </a:r>
          </a:p>
          <a:p>
            <a:pPr marL="0" indent="0" algn="just">
              <a:buNone/>
            </a:pPr>
            <a:r>
              <a:rPr lang="en-US" dirty="0" smtClean="0"/>
              <a:t>A </a:t>
            </a:r>
            <a:r>
              <a:rPr lang="en-US" dirty="0"/>
              <a:t>scatter plot uses </a:t>
            </a:r>
            <a:r>
              <a:rPr lang="en-US" dirty="0">
                <a:solidFill>
                  <a:srgbClr val="FF0000"/>
                </a:solidFill>
              </a:rPr>
              <a:t>dots to represent individual data points</a:t>
            </a:r>
            <a:r>
              <a:rPr lang="en-US" dirty="0"/>
              <a:t>. It shows the </a:t>
            </a:r>
            <a:r>
              <a:rPr lang="en-US" dirty="0">
                <a:solidFill>
                  <a:srgbClr val="FF0000"/>
                </a:solidFill>
              </a:rPr>
              <a:t>relationship between two variables</a:t>
            </a:r>
            <a:r>
              <a:rPr lang="en-US" dirty="0"/>
              <a:t>, with one variable on the x-axis and the other on the y-axis. It is commonly used to </a:t>
            </a:r>
            <a:r>
              <a:rPr lang="en-US" b="1" dirty="0">
                <a:solidFill>
                  <a:srgbClr val="FF0000"/>
                </a:solidFill>
              </a:rPr>
              <a:t>visualize correlations or patterns </a:t>
            </a:r>
            <a:r>
              <a:rPr lang="en-US" b="1" dirty="0"/>
              <a:t>in data</a:t>
            </a:r>
            <a:r>
              <a:rPr lang="en-US" b="1" dirty="0" smtClean="0"/>
              <a:t>.</a:t>
            </a:r>
          </a:p>
          <a:p>
            <a:pPr marL="0" indent="0" algn="just">
              <a:buNone/>
            </a:pPr>
            <a:endParaRPr lang="en-US" dirty="0"/>
          </a:p>
          <a:p>
            <a:r>
              <a:rPr lang="en-US" b="1" dirty="0">
                <a:solidFill>
                  <a:srgbClr val="FF0000"/>
                </a:solidFill>
              </a:rPr>
              <a:t>Pie Chart</a:t>
            </a:r>
            <a:r>
              <a:rPr lang="en-US" dirty="0" smtClean="0">
                <a:solidFill>
                  <a:srgbClr val="FF0000"/>
                </a:solidFill>
              </a:rPr>
              <a:t>:</a:t>
            </a:r>
          </a:p>
          <a:p>
            <a:pPr marL="0" indent="0" algn="just">
              <a:buNone/>
            </a:pPr>
            <a:r>
              <a:rPr lang="en-US" dirty="0" smtClean="0"/>
              <a:t>A </a:t>
            </a:r>
            <a:r>
              <a:rPr lang="en-US" dirty="0"/>
              <a:t>pie chart is a </a:t>
            </a:r>
            <a:r>
              <a:rPr lang="en-US" dirty="0">
                <a:solidFill>
                  <a:srgbClr val="FF0000"/>
                </a:solidFill>
              </a:rPr>
              <a:t>circular statistical graphic divided into slices </a:t>
            </a:r>
            <a:r>
              <a:rPr lang="en-US" dirty="0"/>
              <a:t>to illustrate </a:t>
            </a:r>
            <a:r>
              <a:rPr lang="en-US" b="1" dirty="0">
                <a:solidFill>
                  <a:srgbClr val="FF0000"/>
                </a:solidFill>
              </a:rPr>
              <a:t>numerical proportions</a:t>
            </a:r>
            <a:r>
              <a:rPr lang="en-US" dirty="0"/>
              <a:t>. Each </a:t>
            </a:r>
            <a:r>
              <a:rPr lang="en-US" dirty="0">
                <a:solidFill>
                  <a:srgbClr val="FF0000"/>
                </a:solidFill>
              </a:rPr>
              <a:t>slice's size is proportional to the percentage </a:t>
            </a:r>
            <a:r>
              <a:rPr lang="en-US" dirty="0"/>
              <a:t>or value it represents, making it useful for showing the </a:t>
            </a:r>
            <a:r>
              <a:rPr lang="en-US" dirty="0">
                <a:solidFill>
                  <a:srgbClr val="FF0000"/>
                </a:solidFill>
              </a:rPr>
              <a:t>relative </a:t>
            </a:r>
            <a:r>
              <a:rPr lang="en-US" b="1" dirty="0">
                <a:solidFill>
                  <a:srgbClr val="FF0000"/>
                </a:solidFill>
              </a:rPr>
              <a:t>size of categories</a:t>
            </a:r>
            <a:r>
              <a:rPr lang="en-US" b="1" dirty="0" smtClean="0">
                <a:solidFill>
                  <a:srgbClr val="FF0000"/>
                </a:solidFill>
              </a:rPr>
              <a:t>.</a:t>
            </a:r>
          </a:p>
          <a:p>
            <a:pPr marL="0" indent="0" algn="just">
              <a:buNone/>
            </a:pPr>
            <a:endParaRPr lang="en-US" dirty="0">
              <a:solidFill>
                <a:srgbClr val="FF0000"/>
              </a:solidFill>
            </a:endParaRPr>
          </a:p>
          <a:p>
            <a:r>
              <a:rPr lang="en-US" b="1" dirty="0">
                <a:solidFill>
                  <a:srgbClr val="FF0000"/>
                </a:solidFill>
              </a:rPr>
              <a:t>Line Graph</a:t>
            </a:r>
            <a:r>
              <a:rPr lang="en-US" dirty="0" smtClean="0">
                <a:solidFill>
                  <a:srgbClr val="FF0000"/>
                </a:solidFill>
              </a:rPr>
              <a:t>:</a:t>
            </a:r>
          </a:p>
          <a:p>
            <a:pPr marL="0" indent="0" algn="just">
              <a:buNone/>
            </a:pPr>
            <a:r>
              <a:rPr lang="en-US" dirty="0" smtClean="0"/>
              <a:t>A </a:t>
            </a:r>
            <a:r>
              <a:rPr lang="en-US" dirty="0"/>
              <a:t>line graph uses points connected </a:t>
            </a:r>
            <a:r>
              <a:rPr lang="en-US" b="1" dirty="0"/>
              <a:t>by </a:t>
            </a:r>
            <a:r>
              <a:rPr lang="en-US" b="1" dirty="0">
                <a:solidFill>
                  <a:srgbClr val="FF0000"/>
                </a:solidFill>
              </a:rPr>
              <a:t>lines to represent data</a:t>
            </a:r>
            <a:r>
              <a:rPr lang="en-US" dirty="0"/>
              <a:t>. It is often used to visualize </a:t>
            </a:r>
            <a:r>
              <a:rPr lang="en-US" b="1" dirty="0"/>
              <a:t>trends </a:t>
            </a:r>
            <a:r>
              <a:rPr lang="en-US" b="1" dirty="0">
                <a:solidFill>
                  <a:srgbClr val="FF0000"/>
                </a:solidFill>
              </a:rPr>
              <a:t>over time </a:t>
            </a:r>
            <a:r>
              <a:rPr lang="en-US" dirty="0">
                <a:solidFill>
                  <a:srgbClr val="FF0000"/>
                </a:solidFill>
              </a:rPr>
              <a:t>or continuous data, helping to identify </a:t>
            </a:r>
            <a:r>
              <a:rPr lang="en-US" b="1" dirty="0">
                <a:solidFill>
                  <a:srgbClr val="FF0000"/>
                </a:solidFill>
              </a:rPr>
              <a:t>patterns, increases, or decreases.</a:t>
            </a:r>
          </a:p>
          <a:p>
            <a:endParaRPr lang="en-US" b="1" dirty="0"/>
          </a:p>
        </p:txBody>
      </p:sp>
    </p:spTree>
    <p:extLst>
      <p:ext uri="{BB962C8B-B14F-4D97-AF65-F5344CB8AC3E}">
        <p14:creationId xmlns:p14="http://schemas.microsoft.com/office/powerpoint/2010/main" val="324264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981199"/>
            <a:ext cx="3048000" cy="2971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883229"/>
            <a:ext cx="2733675" cy="2917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2526" y="1883228"/>
            <a:ext cx="2905125" cy="3069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6201" y="5105400"/>
            <a:ext cx="8891450" cy="1754326"/>
          </a:xfrm>
          <a:prstGeom prst="rect">
            <a:avLst/>
          </a:prstGeom>
        </p:spPr>
        <p:txBody>
          <a:bodyPr wrap="square">
            <a:spAutoFit/>
          </a:bodyPr>
          <a:lstStyle/>
          <a:p>
            <a:pPr lvl="0" fontAlgn="base">
              <a:spcBef>
                <a:spcPct val="0"/>
              </a:spcBef>
              <a:spcAft>
                <a:spcPct val="0"/>
              </a:spcAft>
            </a:pPr>
            <a:r>
              <a:rPr lang="en-US" dirty="0">
                <a:latin typeface="Arial" pitchFamily="34" charset="0"/>
                <a:cs typeface="Arial" pitchFamily="34" charset="0"/>
              </a:rPr>
              <a:t>Here are the visualizations for the simple examples:</a:t>
            </a:r>
          </a:p>
          <a:p>
            <a:pPr lvl="0" eaLnBrk="0" fontAlgn="base" hangingPunct="0">
              <a:spcBef>
                <a:spcPct val="0"/>
              </a:spcBef>
              <a:spcAft>
                <a:spcPct val="0"/>
              </a:spcAft>
              <a:buFontTx/>
              <a:buAutoNum type="arabicPeriod"/>
            </a:pPr>
            <a:r>
              <a:rPr lang="en-US" b="1" dirty="0">
                <a:latin typeface="Arial" pitchFamily="34" charset="0"/>
                <a:cs typeface="Arial" pitchFamily="34" charset="0"/>
              </a:rPr>
              <a:t>Scatter Plot</a:t>
            </a:r>
            <a:r>
              <a:rPr lang="en-US" dirty="0">
                <a:latin typeface="Arial" pitchFamily="34" charset="0"/>
                <a:cs typeface="Arial" pitchFamily="34" charset="0"/>
              </a:rPr>
              <a:t>: Plots five points with </a:t>
            </a:r>
            <a:r>
              <a:rPr lang="en-US" dirty="0">
                <a:latin typeface="Arial Unicode MS" pitchFamily="34" charset="-128"/>
                <a:cs typeface="Arial" pitchFamily="34" charset="0"/>
              </a:rPr>
              <a:t>(x, y)</a:t>
            </a:r>
            <a:r>
              <a:rPr lang="en-US" dirty="0">
                <a:latin typeface="Arial" pitchFamily="34" charset="0"/>
                <a:cs typeface="Arial" pitchFamily="34" charset="0"/>
              </a:rPr>
              <a:t> values of (1,2), (2,4), (3,1), (4,8), and (5,7).</a:t>
            </a:r>
          </a:p>
          <a:p>
            <a:pPr lvl="0" eaLnBrk="0" fontAlgn="base" hangingPunct="0">
              <a:spcBef>
                <a:spcPct val="0"/>
              </a:spcBef>
              <a:spcAft>
                <a:spcPct val="0"/>
              </a:spcAft>
              <a:buFontTx/>
              <a:buAutoNum type="arabicPeriod" startAt="2"/>
            </a:pPr>
            <a:r>
              <a:rPr lang="en-US" b="1" dirty="0">
                <a:latin typeface="Arial" pitchFamily="34" charset="0"/>
                <a:cs typeface="Arial" pitchFamily="34" charset="0"/>
              </a:rPr>
              <a:t>Pie Chart</a:t>
            </a:r>
            <a:r>
              <a:rPr lang="en-US" dirty="0">
                <a:latin typeface="Arial" pitchFamily="34" charset="0"/>
                <a:cs typeface="Arial" pitchFamily="34" charset="0"/>
              </a:rPr>
              <a:t>: Shows three categories (A, B, and C) with percentages of 30%, 50%, and 20%.</a:t>
            </a:r>
          </a:p>
          <a:p>
            <a:pPr lvl="0" eaLnBrk="0" fontAlgn="base" hangingPunct="0">
              <a:spcBef>
                <a:spcPct val="0"/>
              </a:spcBef>
              <a:spcAft>
                <a:spcPct val="0"/>
              </a:spcAft>
              <a:buFontTx/>
              <a:buAutoNum type="arabicPeriod" startAt="3"/>
            </a:pPr>
            <a:r>
              <a:rPr lang="en-US" b="1" dirty="0">
                <a:latin typeface="Arial" pitchFamily="34" charset="0"/>
                <a:cs typeface="Arial" pitchFamily="34" charset="0"/>
              </a:rPr>
              <a:t>Line Graph</a:t>
            </a:r>
            <a:r>
              <a:rPr lang="en-US" dirty="0">
                <a:latin typeface="Arial" pitchFamily="34" charset="0"/>
                <a:cs typeface="Arial" pitchFamily="34" charset="0"/>
              </a:rPr>
              <a:t>: Displays a line connecting five points with </a:t>
            </a:r>
            <a:r>
              <a:rPr lang="en-US" dirty="0">
                <a:latin typeface="Arial Unicode MS" pitchFamily="34" charset="-128"/>
                <a:cs typeface="Arial" pitchFamily="34" charset="0"/>
              </a:rPr>
              <a:t>(x, y)</a:t>
            </a:r>
            <a:r>
              <a:rPr lang="en-US" dirty="0">
                <a:latin typeface="Arial" pitchFamily="34" charset="0"/>
                <a:cs typeface="Arial" pitchFamily="34" charset="0"/>
              </a:rPr>
              <a:t> values of (1,2), (2,3), (3,5), (4,7), and (5,11).</a:t>
            </a:r>
          </a:p>
        </p:txBody>
      </p:sp>
    </p:spTree>
    <p:extLst>
      <p:ext uri="{BB962C8B-B14F-4D97-AF65-F5344CB8AC3E}">
        <p14:creationId xmlns:p14="http://schemas.microsoft.com/office/powerpoint/2010/main" val="1482558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228600" y="1219200"/>
            <a:ext cx="8686800" cy="5715000"/>
          </a:xfrm>
        </p:spPr>
        <p:txBody>
          <a:bodyPr>
            <a:normAutofit fontScale="70000" lnSpcReduction="20000"/>
          </a:bodyPr>
          <a:lstStyle/>
          <a:p>
            <a:pPr marL="0" indent="0">
              <a:buNone/>
            </a:pPr>
            <a:r>
              <a:rPr lang="en-US" b="1" dirty="0">
                <a:solidFill>
                  <a:srgbClr val="FF0000"/>
                </a:solidFill>
              </a:rPr>
              <a:t>II. Hierarchical: </a:t>
            </a:r>
            <a:r>
              <a:rPr lang="en-US" dirty="0"/>
              <a:t>Represents data that is structured in </a:t>
            </a:r>
            <a:r>
              <a:rPr lang="en-US" b="1" dirty="0"/>
              <a:t>a </a:t>
            </a:r>
            <a:r>
              <a:rPr lang="en-US" b="1" dirty="0">
                <a:solidFill>
                  <a:srgbClr val="FF0000"/>
                </a:solidFill>
              </a:rPr>
              <a:t>tree-like format</a:t>
            </a:r>
            <a:r>
              <a:rPr lang="en-US" dirty="0"/>
              <a:t>, showing relationships within a hierarchy.</a:t>
            </a:r>
          </a:p>
          <a:p>
            <a:r>
              <a:rPr lang="en-US" b="1" dirty="0"/>
              <a:t>Purpose:</a:t>
            </a:r>
            <a:r>
              <a:rPr lang="en-US" dirty="0"/>
              <a:t> Best for visualizing data with </a:t>
            </a:r>
            <a:r>
              <a:rPr lang="en-US" b="1" dirty="0">
                <a:solidFill>
                  <a:srgbClr val="FF0000"/>
                </a:solidFill>
              </a:rPr>
              <a:t>parent-child relationships or classifications</a:t>
            </a:r>
            <a:r>
              <a:rPr lang="en-US" b="1" dirty="0"/>
              <a:t>.</a:t>
            </a:r>
          </a:p>
          <a:p>
            <a:r>
              <a:rPr lang="en-US" b="1" dirty="0"/>
              <a:t>Example Use Cases:</a:t>
            </a:r>
            <a:r>
              <a:rPr lang="en-US" dirty="0"/>
              <a:t> </a:t>
            </a:r>
            <a:r>
              <a:rPr lang="en-US" b="1" dirty="0">
                <a:solidFill>
                  <a:srgbClr val="FF0000"/>
                </a:solidFill>
              </a:rPr>
              <a:t>Organization charts, file directories</a:t>
            </a:r>
            <a:r>
              <a:rPr lang="en-US" dirty="0"/>
              <a:t>, and taxonomy data</a:t>
            </a:r>
            <a:r>
              <a:rPr lang="en-US" dirty="0" smtClean="0"/>
              <a:t>.</a:t>
            </a:r>
          </a:p>
          <a:p>
            <a:endParaRPr lang="en-US" dirty="0"/>
          </a:p>
          <a:p>
            <a:pPr marL="0" indent="0">
              <a:buNone/>
            </a:pPr>
            <a:r>
              <a:rPr lang="en-US" b="1" dirty="0">
                <a:solidFill>
                  <a:srgbClr val="FF0000"/>
                </a:solidFill>
              </a:rPr>
              <a:t>Common Types of Hierarchical Visualizations:</a:t>
            </a:r>
            <a:endParaRPr lang="en-US" dirty="0">
              <a:solidFill>
                <a:srgbClr val="FF0000"/>
              </a:solidFill>
            </a:endParaRPr>
          </a:p>
          <a:p>
            <a:r>
              <a:rPr lang="en-US" b="1" dirty="0" smtClean="0"/>
              <a:t>1.Tree </a:t>
            </a:r>
            <a:r>
              <a:rPr lang="en-US" b="1" dirty="0"/>
              <a:t>Diagrams:</a:t>
            </a:r>
            <a:r>
              <a:rPr lang="en-US" dirty="0"/>
              <a:t> Displays </a:t>
            </a:r>
            <a:r>
              <a:rPr lang="en-US" b="1" dirty="0"/>
              <a:t>data starting from </a:t>
            </a:r>
            <a:r>
              <a:rPr lang="en-US" b="1" dirty="0">
                <a:solidFill>
                  <a:srgbClr val="FF0000"/>
                </a:solidFill>
              </a:rPr>
              <a:t>a single point </a:t>
            </a:r>
            <a:r>
              <a:rPr lang="en-US" b="1" dirty="0"/>
              <a:t>and branching out like a tree</a:t>
            </a:r>
            <a:r>
              <a:rPr lang="en-US" b="1" dirty="0" smtClean="0"/>
              <a:t>.</a:t>
            </a:r>
          </a:p>
          <a:p>
            <a:pPr marL="0" indent="0">
              <a:buNone/>
            </a:pPr>
            <a:r>
              <a:rPr lang="en-US" b="1" dirty="0"/>
              <a:t>Purpose:</a:t>
            </a:r>
            <a:r>
              <a:rPr lang="en-US" dirty="0"/>
              <a:t> It is commonly used to represent </a:t>
            </a:r>
            <a:r>
              <a:rPr lang="en-US" dirty="0">
                <a:solidFill>
                  <a:srgbClr val="FF0000"/>
                </a:solidFill>
              </a:rPr>
              <a:t>family trees, organizational structures, and decision-making </a:t>
            </a:r>
            <a:r>
              <a:rPr lang="en-US" dirty="0" smtClean="0">
                <a:solidFill>
                  <a:srgbClr val="FF0000"/>
                </a:solidFill>
              </a:rPr>
              <a:t>processes</a:t>
            </a:r>
          </a:p>
          <a:p>
            <a:pPr marL="0" indent="0">
              <a:buNone/>
            </a:pPr>
            <a:endParaRPr lang="en-US" dirty="0"/>
          </a:p>
          <a:p>
            <a:r>
              <a:rPr lang="en-US" b="1" dirty="0" smtClean="0"/>
              <a:t>Tree </a:t>
            </a:r>
            <a:r>
              <a:rPr lang="en-US" b="1" dirty="0"/>
              <a:t>Maps:</a:t>
            </a:r>
            <a:r>
              <a:rPr lang="en-US" dirty="0"/>
              <a:t> </a:t>
            </a:r>
            <a:r>
              <a:rPr lang="en-US" dirty="0" smtClean="0"/>
              <a:t>Represents </a:t>
            </a:r>
            <a:r>
              <a:rPr lang="en-US" b="1" dirty="0" smtClean="0">
                <a:solidFill>
                  <a:srgbClr val="FF0000"/>
                </a:solidFill>
              </a:rPr>
              <a:t>hierarchical data using rectangles</a:t>
            </a:r>
            <a:r>
              <a:rPr lang="en-US" dirty="0"/>
              <a:t>. </a:t>
            </a:r>
            <a:r>
              <a:rPr lang="en-US" b="1" dirty="0">
                <a:solidFill>
                  <a:srgbClr val="FF0000"/>
                </a:solidFill>
              </a:rPr>
              <a:t>The size of the rectangles reflects the value</a:t>
            </a:r>
            <a:r>
              <a:rPr lang="en-US" b="1" dirty="0" smtClean="0">
                <a:solidFill>
                  <a:srgbClr val="FF0000"/>
                </a:solidFill>
              </a:rPr>
              <a:t>.</a:t>
            </a:r>
          </a:p>
          <a:p>
            <a:pPr marL="0" indent="0">
              <a:buNone/>
            </a:pPr>
            <a:r>
              <a:rPr lang="en-US" b="1" dirty="0"/>
              <a:t>Purpose:</a:t>
            </a:r>
            <a:r>
              <a:rPr lang="en-US" dirty="0"/>
              <a:t> It is used for visualizing </a:t>
            </a:r>
            <a:r>
              <a:rPr lang="en-US" b="1" dirty="0"/>
              <a:t>large datasets like sales figures</a:t>
            </a:r>
            <a:r>
              <a:rPr lang="en-US" dirty="0"/>
              <a:t>, </a:t>
            </a:r>
            <a:r>
              <a:rPr lang="en-US" b="1" dirty="0">
                <a:solidFill>
                  <a:srgbClr val="FF0000"/>
                </a:solidFill>
              </a:rPr>
              <a:t>population distribution</a:t>
            </a:r>
            <a:r>
              <a:rPr lang="en-US" dirty="0">
                <a:solidFill>
                  <a:srgbClr val="FF0000"/>
                </a:solidFill>
              </a:rPr>
              <a:t>, or </a:t>
            </a:r>
            <a:r>
              <a:rPr lang="en-US" b="1" dirty="0">
                <a:solidFill>
                  <a:srgbClr val="FF0000"/>
                </a:solidFill>
              </a:rPr>
              <a:t>storage usage</a:t>
            </a:r>
          </a:p>
        </p:txBody>
      </p:sp>
    </p:spTree>
    <p:extLst>
      <p:ext uri="{BB962C8B-B14F-4D97-AF65-F5344CB8AC3E}">
        <p14:creationId xmlns:p14="http://schemas.microsoft.com/office/powerpoint/2010/main" val="252859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50" y="76200"/>
            <a:ext cx="7491550"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200400"/>
            <a:ext cx="6781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800600" y="152400"/>
            <a:ext cx="1452385" cy="369332"/>
          </a:xfrm>
          <a:prstGeom prst="rect">
            <a:avLst/>
          </a:prstGeom>
          <a:noFill/>
        </p:spPr>
        <p:txBody>
          <a:bodyPr wrap="none" rtlCol="0">
            <a:spAutoFit/>
          </a:bodyPr>
          <a:lstStyle/>
          <a:p>
            <a:r>
              <a:rPr lang="en-US" b="1" dirty="0" smtClean="0">
                <a:solidFill>
                  <a:srgbClr val="FF0000"/>
                </a:solidFill>
              </a:rPr>
              <a:t>Tree Diagram</a:t>
            </a:r>
            <a:endParaRPr lang="en-US" b="1" dirty="0">
              <a:solidFill>
                <a:srgbClr val="FF0000"/>
              </a:solidFill>
            </a:endParaRPr>
          </a:p>
        </p:txBody>
      </p:sp>
    </p:spTree>
    <p:extLst>
      <p:ext uri="{BB962C8B-B14F-4D97-AF65-F5344CB8AC3E}">
        <p14:creationId xmlns:p14="http://schemas.microsoft.com/office/powerpoint/2010/main" val="35650334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Map</a:t>
            </a:r>
            <a:endParaRPr lang="en-US" dirty="0"/>
          </a:p>
        </p:txBody>
      </p:sp>
      <p:sp>
        <p:nvSpPr>
          <p:cNvPr id="3" name="Content Placeholder 2"/>
          <p:cNvSpPr>
            <a:spLocks noGrp="1"/>
          </p:cNvSpPr>
          <p:nvPr>
            <p:ph idx="1"/>
          </p:nvPr>
        </p:nvSpPr>
        <p:spPr>
          <a:xfrm>
            <a:off x="457200" y="1219200"/>
            <a:ext cx="8458200" cy="5410200"/>
          </a:xfrm>
        </p:spPr>
        <p:txBody>
          <a:bodyPr/>
          <a:lstStyle/>
          <a:p>
            <a:r>
              <a:rPr lang="en-US" dirty="0"/>
              <a:t>Let's consider </a:t>
            </a:r>
            <a:r>
              <a:rPr lang="en-US" b="1" dirty="0">
                <a:solidFill>
                  <a:srgbClr val="FF0000"/>
                </a:solidFill>
              </a:rPr>
              <a:t>sales data </a:t>
            </a:r>
            <a:r>
              <a:rPr lang="en-US" dirty="0"/>
              <a:t>for five product categories:</a:t>
            </a:r>
          </a:p>
          <a:p>
            <a:r>
              <a:rPr lang="en-US" b="1" dirty="0"/>
              <a:t>Electronics</a:t>
            </a:r>
            <a:r>
              <a:rPr lang="en-US" dirty="0"/>
              <a:t>: $500</a:t>
            </a:r>
          </a:p>
          <a:p>
            <a:r>
              <a:rPr lang="en-US" b="1" dirty="0"/>
              <a:t>Clothing</a:t>
            </a:r>
            <a:r>
              <a:rPr lang="en-US" dirty="0"/>
              <a:t>: $300</a:t>
            </a:r>
          </a:p>
          <a:p>
            <a:r>
              <a:rPr lang="en-US" b="1" dirty="0"/>
              <a:t>Furniture</a:t>
            </a:r>
            <a:r>
              <a:rPr lang="en-US" dirty="0"/>
              <a:t>: $100</a:t>
            </a:r>
          </a:p>
          <a:p>
            <a:r>
              <a:rPr lang="en-US" b="1" dirty="0"/>
              <a:t>Toys</a:t>
            </a:r>
            <a:r>
              <a:rPr lang="en-US" dirty="0"/>
              <a:t>: $50</a:t>
            </a:r>
          </a:p>
          <a:p>
            <a:r>
              <a:rPr lang="en-US" b="1" dirty="0"/>
              <a:t>Groceries</a:t>
            </a:r>
            <a:r>
              <a:rPr lang="en-US" dirty="0"/>
              <a:t>: $150</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905000"/>
            <a:ext cx="455295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45565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228600" y="990600"/>
            <a:ext cx="8763000" cy="6096000"/>
          </a:xfrm>
        </p:spPr>
        <p:txBody>
          <a:bodyPr>
            <a:normAutofit fontScale="77500" lnSpcReduction="20000"/>
          </a:bodyPr>
          <a:lstStyle/>
          <a:p>
            <a:pPr marL="0" indent="0" algn="just">
              <a:buNone/>
            </a:pPr>
            <a:r>
              <a:rPr lang="en-US" b="1" dirty="0">
                <a:solidFill>
                  <a:srgbClr val="FF0000"/>
                </a:solidFill>
              </a:rPr>
              <a:t>III. Network: </a:t>
            </a:r>
            <a:r>
              <a:rPr lang="en-US" dirty="0"/>
              <a:t>Shows </a:t>
            </a:r>
            <a:r>
              <a:rPr lang="en-US" b="1" dirty="0">
                <a:solidFill>
                  <a:srgbClr val="FF0000"/>
                </a:solidFill>
              </a:rPr>
              <a:t>the relationships between different datasets</a:t>
            </a:r>
            <a:r>
              <a:rPr lang="en-US" b="1" dirty="0"/>
              <a:t> </a:t>
            </a:r>
            <a:r>
              <a:rPr lang="en-US" dirty="0"/>
              <a:t>using </a:t>
            </a:r>
            <a:r>
              <a:rPr lang="en-US" b="1" dirty="0">
                <a:solidFill>
                  <a:srgbClr val="0070C0"/>
                </a:solidFill>
              </a:rPr>
              <a:t>nodes and connections</a:t>
            </a:r>
            <a:r>
              <a:rPr lang="en-US" dirty="0"/>
              <a:t>.</a:t>
            </a:r>
          </a:p>
          <a:p>
            <a:pPr algn="just"/>
            <a:r>
              <a:rPr lang="en-US" b="1" dirty="0"/>
              <a:t>Purpose:</a:t>
            </a:r>
            <a:r>
              <a:rPr lang="en-US" dirty="0"/>
              <a:t> Best for visualizing </a:t>
            </a:r>
            <a:r>
              <a:rPr lang="en-US" b="1" dirty="0">
                <a:solidFill>
                  <a:srgbClr val="FF0000"/>
                </a:solidFill>
              </a:rPr>
              <a:t>interconnected data points</a:t>
            </a:r>
            <a:r>
              <a:rPr lang="en-US" dirty="0">
                <a:solidFill>
                  <a:srgbClr val="FF0000"/>
                </a:solidFill>
              </a:rPr>
              <a:t>.</a:t>
            </a:r>
          </a:p>
          <a:p>
            <a:pPr algn="just"/>
            <a:r>
              <a:rPr lang="en-US" b="1" dirty="0"/>
              <a:t>Example Use Cases:</a:t>
            </a:r>
            <a:r>
              <a:rPr lang="en-US" dirty="0"/>
              <a:t> </a:t>
            </a:r>
            <a:r>
              <a:rPr lang="en-US" b="1" dirty="0">
                <a:solidFill>
                  <a:srgbClr val="0070C0"/>
                </a:solidFill>
              </a:rPr>
              <a:t>Social network analysis, web analytics, and supply chain connections</a:t>
            </a:r>
            <a:r>
              <a:rPr lang="en-US" dirty="0" smtClean="0"/>
              <a:t>.</a:t>
            </a:r>
          </a:p>
          <a:p>
            <a:pPr algn="just"/>
            <a:endParaRPr lang="en-US" dirty="0"/>
          </a:p>
          <a:p>
            <a:pPr marL="0" indent="0" algn="just">
              <a:buNone/>
            </a:pPr>
            <a:r>
              <a:rPr lang="en-US" b="1" dirty="0">
                <a:solidFill>
                  <a:srgbClr val="00B050"/>
                </a:solidFill>
              </a:rPr>
              <a:t>Common Types of Network Visualizations:</a:t>
            </a:r>
            <a:endParaRPr lang="en-US" dirty="0">
              <a:solidFill>
                <a:srgbClr val="00B050"/>
              </a:solidFill>
            </a:endParaRPr>
          </a:p>
          <a:p>
            <a:pPr algn="just"/>
            <a:r>
              <a:rPr lang="en-US" sz="3600" b="1" dirty="0">
                <a:solidFill>
                  <a:srgbClr val="FF0000"/>
                </a:solidFill>
              </a:rPr>
              <a:t>Matrix Charts</a:t>
            </a:r>
            <a:r>
              <a:rPr lang="en-US" b="1" dirty="0"/>
              <a:t>:</a:t>
            </a:r>
            <a:r>
              <a:rPr lang="en-US" dirty="0"/>
              <a:t> Displays </a:t>
            </a:r>
            <a:r>
              <a:rPr lang="en-US" b="1" dirty="0"/>
              <a:t>relationships between data points </a:t>
            </a:r>
            <a:r>
              <a:rPr lang="en-US" dirty="0"/>
              <a:t>using </a:t>
            </a:r>
            <a:r>
              <a:rPr lang="en-US" b="1" dirty="0">
                <a:solidFill>
                  <a:srgbClr val="FF0000"/>
                </a:solidFill>
              </a:rPr>
              <a:t>grids or matrices</a:t>
            </a:r>
            <a:r>
              <a:rPr lang="en-US" dirty="0" smtClean="0"/>
              <a:t>.</a:t>
            </a:r>
          </a:p>
          <a:p>
            <a:pPr algn="just"/>
            <a:r>
              <a:rPr lang="en-US" dirty="0"/>
              <a:t>A matrix chart uses a grid format to show relationships between different variables. The values in the cells can represent </a:t>
            </a:r>
            <a:r>
              <a:rPr lang="en-US" b="1" dirty="0">
                <a:solidFill>
                  <a:srgbClr val="FF0000"/>
                </a:solidFill>
              </a:rPr>
              <a:t>correlations, frequencies, or other quantitative metrics</a:t>
            </a:r>
            <a:r>
              <a:rPr lang="en-US" dirty="0">
                <a:solidFill>
                  <a:srgbClr val="FF0000"/>
                </a:solidFill>
              </a:rPr>
              <a:t>.</a:t>
            </a:r>
          </a:p>
          <a:p>
            <a:pPr algn="just"/>
            <a:r>
              <a:rPr lang="en-US" b="1" dirty="0" smtClean="0"/>
              <a:t>Purpose: o</a:t>
            </a:r>
            <a:r>
              <a:rPr lang="en-US" dirty="0" smtClean="0"/>
              <a:t>ften </a:t>
            </a:r>
            <a:r>
              <a:rPr lang="en-US" dirty="0"/>
              <a:t>used for </a:t>
            </a:r>
            <a:r>
              <a:rPr lang="en-US" b="1" dirty="0"/>
              <a:t>correlation matrices, confusion matrices in classification models</a:t>
            </a:r>
            <a:r>
              <a:rPr lang="en-US" dirty="0"/>
              <a:t>, or risk assessment.</a:t>
            </a:r>
          </a:p>
          <a:p>
            <a:pPr algn="just"/>
            <a:r>
              <a:rPr lang="en-US" b="1" dirty="0"/>
              <a:t>Example</a:t>
            </a:r>
            <a:r>
              <a:rPr lang="en-US" b="1" dirty="0" smtClean="0"/>
              <a:t>: </a:t>
            </a:r>
            <a:r>
              <a:rPr lang="en-US" dirty="0" smtClean="0"/>
              <a:t>A </a:t>
            </a:r>
            <a:r>
              <a:rPr lang="en-US" b="1" dirty="0"/>
              <a:t>Correlation Matrix</a:t>
            </a:r>
            <a:r>
              <a:rPr lang="en-US" dirty="0"/>
              <a:t> for variables like Age, Income, and Spending Score.</a:t>
            </a:r>
          </a:p>
          <a:p>
            <a:pPr algn="just"/>
            <a:endParaRPr lang="en-US" dirty="0"/>
          </a:p>
          <a:p>
            <a:pPr marL="0" indent="0" algn="just">
              <a:buNone/>
            </a:pPr>
            <a:endParaRPr lang="en-US" dirty="0"/>
          </a:p>
        </p:txBody>
      </p:sp>
    </p:spTree>
    <p:extLst>
      <p:ext uri="{BB962C8B-B14F-4D97-AF65-F5344CB8AC3E}">
        <p14:creationId xmlns:p14="http://schemas.microsoft.com/office/powerpoint/2010/main" val="3233250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correlation matrix</a:t>
            </a:r>
            <a:endParaRPr lang="en-US" dirty="0"/>
          </a:p>
        </p:txBody>
      </p:sp>
      <p:sp>
        <p:nvSpPr>
          <p:cNvPr id="3" name="Content Placeholder 2"/>
          <p:cNvSpPr>
            <a:spLocks noGrp="1"/>
          </p:cNvSpPr>
          <p:nvPr>
            <p:ph idx="1"/>
          </p:nvPr>
        </p:nvSpPr>
        <p:spPr>
          <a:xfrm>
            <a:off x="457200" y="1295400"/>
            <a:ext cx="8229600" cy="5105400"/>
          </a:xfrm>
        </p:spPr>
        <p:txBody>
          <a:bodyPr>
            <a:normAutofit fontScale="77500" lnSpcReduction="20000"/>
          </a:bodyPr>
          <a:lstStyle/>
          <a:p>
            <a:pPr algn="just"/>
            <a:r>
              <a:rPr lang="en-US" dirty="0"/>
              <a:t>A </a:t>
            </a:r>
            <a:r>
              <a:rPr lang="en-US" b="1" dirty="0"/>
              <a:t>correlation matrix</a:t>
            </a:r>
            <a:r>
              <a:rPr lang="en-US" dirty="0"/>
              <a:t> is a table that shows the correlation coefficients between many variables. Each cell in the table displays the correlation between two variables. The values in the matrix range from </a:t>
            </a:r>
            <a:r>
              <a:rPr lang="en-US" b="1" dirty="0"/>
              <a:t>-1 to +1</a:t>
            </a:r>
            <a:r>
              <a:rPr lang="en-US" dirty="0" smtClean="0"/>
              <a:t>.</a:t>
            </a:r>
          </a:p>
          <a:p>
            <a:pPr algn="just"/>
            <a:endParaRPr lang="en-US" dirty="0"/>
          </a:p>
          <a:p>
            <a:pPr algn="just"/>
            <a:r>
              <a:rPr lang="en-US" b="1" dirty="0">
                <a:solidFill>
                  <a:srgbClr val="0070C0"/>
                </a:solidFill>
              </a:rPr>
              <a:t>+1: Perfect positive correlation </a:t>
            </a:r>
            <a:r>
              <a:rPr lang="en-US" dirty="0"/>
              <a:t>— as one variable increases, the other variable also increases in exact proportion.</a:t>
            </a:r>
          </a:p>
          <a:p>
            <a:pPr algn="just"/>
            <a:r>
              <a:rPr lang="en-US" b="1" dirty="0"/>
              <a:t>-</a:t>
            </a:r>
            <a:r>
              <a:rPr lang="en-US" b="1" dirty="0">
                <a:solidFill>
                  <a:srgbClr val="0070C0"/>
                </a:solidFill>
              </a:rPr>
              <a:t>1: Perfect negative correlation </a:t>
            </a:r>
            <a:r>
              <a:rPr lang="en-US" dirty="0"/>
              <a:t>— as one variable increases, the other decreases in exact proportion.</a:t>
            </a:r>
          </a:p>
          <a:p>
            <a:pPr algn="just"/>
            <a:r>
              <a:rPr lang="en-US" b="1" dirty="0">
                <a:solidFill>
                  <a:srgbClr val="0070C0"/>
                </a:solidFill>
              </a:rPr>
              <a:t>0: No correlation </a:t>
            </a:r>
            <a:r>
              <a:rPr lang="en-US" dirty="0"/>
              <a:t>— no predictable relationship exists between the variables.</a:t>
            </a:r>
          </a:p>
          <a:p>
            <a:pPr algn="just"/>
            <a:r>
              <a:rPr lang="en-US" dirty="0">
                <a:solidFill>
                  <a:srgbClr val="FF0000"/>
                </a:solidFill>
              </a:rPr>
              <a:t>The diagonal of a correlation matrix always contains </a:t>
            </a:r>
            <a:r>
              <a:rPr lang="en-US" b="1" dirty="0">
                <a:solidFill>
                  <a:srgbClr val="FF0000"/>
                </a:solidFill>
              </a:rPr>
              <a:t>1s</a:t>
            </a:r>
            <a:r>
              <a:rPr lang="en-US" dirty="0">
                <a:solidFill>
                  <a:srgbClr val="FF0000"/>
                </a:solidFill>
              </a:rPr>
              <a:t>, because each variable is perfectly correlated with itself.</a:t>
            </a:r>
          </a:p>
          <a:p>
            <a:pPr algn="just"/>
            <a:endParaRPr lang="en-US" dirty="0"/>
          </a:p>
        </p:txBody>
      </p:sp>
    </p:spTree>
    <p:extLst>
      <p:ext uri="{BB962C8B-B14F-4D97-AF65-F5344CB8AC3E}">
        <p14:creationId xmlns:p14="http://schemas.microsoft.com/office/powerpoint/2010/main" val="173831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034" y="762000"/>
            <a:ext cx="43434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838200"/>
            <a:ext cx="4495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5"/>
          <p:cNvSpPr>
            <a:spLocks noChangeArrowheads="1"/>
          </p:cNvSpPr>
          <p:nvPr/>
        </p:nvSpPr>
        <p:spPr bwMode="auto">
          <a:xfrm>
            <a:off x="0" y="-94565"/>
            <a:ext cx="72250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Arial" pitchFamily="34" charset="0"/>
                <a:cs typeface="Arial" pitchFamily="34" charset="0"/>
              </a:rPr>
              <a:t>Example of a Correlation Matrix: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pitchFamily="34" charset="0"/>
                <a:cs typeface="Arial" pitchFamily="34" charset="0"/>
              </a:rPr>
              <a:t>Imagine we have a dataset with 3 variables: </a:t>
            </a:r>
            <a:r>
              <a:rPr kumimoji="0" lang="en-US" b="0" i="0" u="none" strike="noStrike" cap="none" normalizeH="0" baseline="0" dirty="0" smtClean="0">
                <a:ln>
                  <a:noFill/>
                </a:ln>
                <a:solidFill>
                  <a:schemeClr val="tx1"/>
                </a:solidFill>
                <a:effectLst/>
                <a:latin typeface="Arial Unicode MS" pitchFamily="34" charset="-128"/>
                <a:cs typeface="Arial" pitchFamily="34" charset="0"/>
              </a:rPr>
              <a:t>Height</a:t>
            </a:r>
            <a:r>
              <a:rPr kumimoji="0" lang="en-US" b="0" i="0" u="none" strike="noStrike" cap="none" normalizeH="0" baseline="0" dirty="0" smtClean="0">
                <a:ln>
                  <a:noFill/>
                </a:ln>
                <a:solidFill>
                  <a:schemeClr val="tx1"/>
                </a:solidFill>
                <a:effectLst/>
                <a:latin typeface="Arial" pitchFamily="34" charset="0"/>
                <a:cs typeface="Arial" pitchFamily="34" charset="0"/>
              </a:rPr>
              <a:t>, </a:t>
            </a:r>
            <a:r>
              <a:rPr kumimoji="0" lang="en-US" b="0" i="0" u="none" strike="noStrike" cap="none" normalizeH="0" baseline="0" dirty="0" smtClean="0">
                <a:ln>
                  <a:noFill/>
                </a:ln>
                <a:solidFill>
                  <a:schemeClr val="tx1"/>
                </a:solidFill>
                <a:effectLst/>
                <a:latin typeface="Arial Unicode MS" pitchFamily="34" charset="-128"/>
                <a:cs typeface="Arial" pitchFamily="34" charset="0"/>
              </a:rPr>
              <a:t>Weight</a:t>
            </a:r>
            <a:r>
              <a:rPr kumimoji="0" lang="en-US" b="0" i="0" u="none" strike="noStrike" cap="none" normalizeH="0" baseline="0" dirty="0" smtClean="0">
                <a:ln>
                  <a:noFill/>
                </a:ln>
                <a:solidFill>
                  <a:schemeClr val="tx1"/>
                </a:solidFill>
                <a:effectLst/>
                <a:latin typeface="Arial" pitchFamily="34" charset="0"/>
                <a:cs typeface="Arial" pitchFamily="34" charset="0"/>
              </a:rPr>
              <a:t>, and </a:t>
            </a:r>
            <a:r>
              <a:rPr kumimoji="0" lang="en-US" b="0" i="0" u="none" strike="noStrike" cap="none" normalizeH="0" baseline="0" dirty="0" smtClean="0">
                <a:ln>
                  <a:noFill/>
                </a:ln>
                <a:solidFill>
                  <a:schemeClr val="tx1"/>
                </a:solidFill>
                <a:effectLst/>
                <a:latin typeface="Arial Unicode MS" pitchFamily="34" charset="-128"/>
                <a:cs typeface="Arial" pitchFamily="34" charset="0"/>
              </a:rPr>
              <a:t>Age</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078498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heatmap</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A </a:t>
            </a:r>
            <a:r>
              <a:rPr lang="en-US" b="1" dirty="0" err="1"/>
              <a:t>heatmap</a:t>
            </a:r>
            <a:r>
              <a:rPr lang="en-US" dirty="0"/>
              <a:t> is a data visualization technique that </a:t>
            </a:r>
            <a:r>
              <a:rPr lang="en-US" b="1" dirty="0">
                <a:solidFill>
                  <a:srgbClr val="FF0000"/>
                </a:solidFill>
              </a:rPr>
              <a:t>uses colors to represent </a:t>
            </a:r>
            <a:r>
              <a:rPr lang="en-US" b="1" dirty="0" smtClean="0">
                <a:solidFill>
                  <a:srgbClr val="FF0000"/>
                </a:solidFill>
              </a:rPr>
              <a:t>different values </a:t>
            </a:r>
            <a:r>
              <a:rPr lang="en-US" dirty="0"/>
              <a:t>in a two-dimensional matrix. </a:t>
            </a:r>
            <a:endParaRPr lang="en-US" dirty="0" smtClean="0"/>
          </a:p>
          <a:p>
            <a:pPr algn="just"/>
            <a:r>
              <a:rPr lang="en-US" dirty="0"/>
              <a:t> </a:t>
            </a:r>
            <a:r>
              <a:rPr lang="en-US" dirty="0" smtClean="0"/>
              <a:t>It is a two-dimensional visualization of data that uses color to represent numerical values.</a:t>
            </a:r>
          </a:p>
          <a:p>
            <a:pPr algn="just"/>
            <a:r>
              <a:rPr lang="en-US" dirty="0" smtClean="0"/>
              <a:t>It </a:t>
            </a:r>
            <a:r>
              <a:rPr lang="en-US" dirty="0"/>
              <a:t>is particularly useful for visualizing large amounts of data and </a:t>
            </a:r>
            <a:r>
              <a:rPr lang="en-US" b="1" dirty="0">
                <a:solidFill>
                  <a:srgbClr val="FF0000"/>
                </a:solidFill>
              </a:rPr>
              <a:t>identifying patterns, correlations, or anomalies in data</a:t>
            </a:r>
            <a:r>
              <a:rPr lang="en-US" dirty="0" smtClean="0"/>
              <a:t>.</a:t>
            </a:r>
          </a:p>
          <a:p>
            <a:pPr algn="just"/>
            <a:r>
              <a:rPr lang="en-US" dirty="0" smtClean="0"/>
              <a:t> </a:t>
            </a:r>
            <a:r>
              <a:rPr lang="en-US" dirty="0"/>
              <a:t>The </a:t>
            </a:r>
            <a:r>
              <a:rPr lang="en-US" b="1" dirty="0"/>
              <a:t>intensity of the color </a:t>
            </a:r>
            <a:r>
              <a:rPr lang="en-US" dirty="0"/>
              <a:t>corresponds to the </a:t>
            </a:r>
            <a:r>
              <a:rPr lang="en-US" b="1" dirty="0">
                <a:solidFill>
                  <a:srgbClr val="FF0000"/>
                </a:solidFill>
              </a:rPr>
              <a:t>magnitude of the values</a:t>
            </a:r>
            <a:r>
              <a:rPr lang="en-US" dirty="0"/>
              <a:t>.</a:t>
            </a:r>
          </a:p>
        </p:txBody>
      </p:sp>
    </p:spTree>
    <p:extLst>
      <p:ext uri="{BB962C8B-B14F-4D97-AF65-F5344CB8AC3E}">
        <p14:creationId xmlns:p14="http://schemas.microsoft.com/office/powerpoint/2010/main" val="80742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152400" y="1295400"/>
            <a:ext cx="8534400" cy="5562600"/>
          </a:xfrm>
        </p:spPr>
        <p:txBody>
          <a:bodyPr>
            <a:normAutofit fontScale="92500" lnSpcReduction="20000"/>
          </a:bodyPr>
          <a:lstStyle/>
          <a:p>
            <a:pPr marL="0" indent="0" algn="just">
              <a:buNone/>
            </a:pPr>
            <a:r>
              <a:rPr lang="en-US" b="1" dirty="0" smtClean="0">
                <a:solidFill>
                  <a:srgbClr val="FF0000"/>
                </a:solidFill>
              </a:rPr>
              <a:t>2.Word </a:t>
            </a:r>
            <a:r>
              <a:rPr lang="en-US" b="1" dirty="0">
                <a:solidFill>
                  <a:srgbClr val="FF0000"/>
                </a:solidFill>
              </a:rPr>
              <a:t>Clouds</a:t>
            </a:r>
            <a:r>
              <a:rPr lang="en-US" b="1" dirty="0"/>
              <a:t>:</a:t>
            </a:r>
            <a:r>
              <a:rPr lang="en-US" dirty="0"/>
              <a:t> Visual representation of </a:t>
            </a:r>
            <a:r>
              <a:rPr lang="en-US" dirty="0">
                <a:solidFill>
                  <a:srgbClr val="FF0000"/>
                </a:solidFill>
              </a:rPr>
              <a:t>text data </a:t>
            </a:r>
            <a:r>
              <a:rPr lang="en-US" dirty="0"/>
              <a:t>where the size of each word indicates its frequency</a:t>
            </a:r>
            <a:r>
              <a:rPr lang="en-US" dirty="0" smtClean="0"/>
              <a:t>.</a:t>
            </a:r>
          </a:p>
          <a:p>
            <a:pPr algn="just"/>
            <a:endParaRPr lang="en-US" dirty="0"/>
          </a:p>
          <a:p>
            <a:pPr algn="just"/>
            <a:r>
              <a:rPr lang="en-US" dirty="0"/>
              <a:t>A word cloud visualizes text data where </a:t>
            </a:r>
            <a:r>
              <a:rPr lang="en-US" b="1" dirty="0">
                <a:solidFill>
                  <a:srgbClr val="00B050"/>
                </a:solidFill>
              </a:rPr>
              <a:t>frequently occurring words </a:t>
            </a:r>
            <a:r>
              <a:rPr lang="en-US" dirty="0">
                <a:solidFill>
                  <a:srgbClr val="FF0000"/>
                </a:solidFill>
              </a:rPr>
              <a:t>appear </a:t>
            </a:r>
            <a:r>
              <a:rPr lang="en-US" b="1" dirty="0">
                <a:solidFill>
                  <a:srgbClr val="FF0000"/>
                </a:solidFill>
              </a:rPr>
              <a:t>larger and bolder</a:t>
            </a:r>
            <a:r>
              <a:rPr lang="en-US" b="1" dirty="0" smtClean="0"/>
              <a:t>.</a:t>
            </a:r>
          </a:p>
          <a:p>
            <a:pPr algn="just"/>
            <a:endParaRPr lang="en-US" b="1" dirty="0"/>
          </a:p>
          <a:p>
            <a:r>
              <a:rPr lang="en-US" b="1" dirty="0"/>
              <a:t>Purpose:</a:t>
            </a:r>
            <a:r>
              <a:rPr lang="en-US" dirty="0"/>
              <a:t/>
            </a:r>
            <a:br>
              <a:rPr lang="en-US" dirty="0"/>
            </a:br>
            <a:r>
              <a:rPr lang="en-US" dirty="0"/>
              <a:t>Useful for analyzing </a:t>
            </a:r>
            <a:r>
              <a:rPr lang="en-US" dirty="0">
                <a:solidFill>
                  <a:srgbClr val="FF0000"/>
                </a:solidFill>
              </a:rPr>
              <a:t>sentiment in customer reviews</a:t>
            </a:r>
            <a:r>
              <a:rPr lang="en-US" dirty="0"/>
              <a:t>, </a:t>
            </a:r>
            <a:r>
              <a:rPr lang="en-US" dirty="0">
                <a:solidFill>
                  <a:srgbClr val="FF0000"/>
                </a:solidFill>
              </a:rPr>
              <a:t>social media analysis, or feedback data</a:t>
            </a:r>
            <a:r>
              <a:rPr lang="en-US" dirty="0"/>
              <a:t>.</a:t>
            </a:r>
          </a:p>
          <a:p>
            <a:r>
              <a:rPr lang="en-US" b="1" dirty="0"/>
              <a:t>Example:</a:t>
            </a:r>
            <a:r>
              <a:rPr lang="en-US" dirty="0"/>
              <a:t/>
            </a:r>
            <a:br>
              <a:rPr lang="en-US" dirty="0"/>
            </a:br>
            <a:r>
              <a:rPr lang="en-US" dirty="0"/>
              <a:t>Analyzing product reviews, words like </a:t>
            </a:r>
            <a:r>
              <a:rPr lang="en-US" b="1" dirty="0"/>
              <a:t>"Good," "Excellent,"</a:t>
            </a:r>
            <a:r>
              <a:rPr lang="en-US" dirty="0"/>
              <a:t> or </a:t>
            </a:r>
            <a:r>
              <a:rPr lang="en-US" b="1" dirty="0"/>
              <a:t>"Expensive"</a:t>
            </a:r>
            <a:r>
              <a:rPr lang="en-US" dirty="0"/>
              <a:t> may appear larger depending on their frequency.</a:t>
            </a:r>
          </a:p>
          <a:p>
            <a:endParaRPr lang="en-US" dirty="0"/>
          </a:p>
        </p:txBody>
      </p:sp>
    </p:spTree>
    <p:extLst>
      <p:ext uri="{BB962C8B-B14F-4D97-AF65-F5344CB8AC3E}">
        <p14:creationId xmlns:p14="http://schemas.microsoft.com/office/powerpoint/2010/main" val="353457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087931"/>
            <a:ext cx="4419600" cy="5562600"/>
          </a:xfrm>
        </p:spPr>
        <p:txBody>
          <a:bodyPr>
            <a:normAutofit fontScale="70000" lnSpcReduction="20000"/>
          </a:bodyPr>
          <a:lstStyle/>
          <a:p>
            <a:r>
              <a:rPr lang="en-US" b="1" dirty="0"/>
              <a:t>Example Data (Customer Reviews):</a:t>
            </a:r>
          </a:p>
          <a:p>
            <a:pPr algn="just"/>
            <a:r>
              <a:rPr lang="en-US" b="1" dirty="0">
                <a:solidFill>
                  <a:srgbClr val="00B050"/>
                </a:solidFill>
              </a:rPr>
              <a:t>Let's consider a list of customer reviews</a:t>
            </a:r>
            <a:r>
              <a:rPr lang="en-US" dirty="0"/>
              <a:t>:</a:t>
            </a:r>
          </a:p>
          <a:p>
            <a:pPr algn="just"/>
            <a:r>
              <a:rPr lang="en-US" b="1" dirty="0"/>
              <a:t>"I love this </a:t>
            </a:r>
            <a:r>
              <a:rPr lang="en-US" b="1" dirty="0">
                <a:solidFill>
                  <a:srgbClr val="FF0000"/>
                </a:solidFill>
              </a:rPr>
              <a:t>phone</a:t>
            </a:r>
            <a:r>
              <a:rPr lang="en-US" b="1" dirty="0"/>
              <a:t>. It's </a:t>
            </a:r>
            <a:r>
              <a:rPr lang="en-US" b="1" dirty="0">
                <a:solidFill>
                  <a:srgbClr val="0070C0"/>
                </a:solidFill>
              </a:rPr>
              <a:t>great</a:t>
            </a:r>
            <a:r>
              <a:rPr lang="en-US" b="1" dirty="0"/>
              <a:t> for photography."</a:t>
            </a:r>
          </a:p>
          <a:p>
            <a:pPr algn="just"/>
            <a:r>
              <a:rPr lang="en-US" b="1" dirty="0"/>
              <a:t>"The </a:t>
            </a:r>
            <a:r>
              <a:rPr lang="en-US" b="1" dirty="0">
                <a:solidFill>
                  <a:srgbClr val="FF0000"/>
                </a:solidFill>
              </a:rPr>
              <a:t>phone</a:t>
            </a:r>
            <a:r>
              <a:rPr lang="en-US" b="1" dirty="0"/>
              <a:t> is amazing, but the battery could be better."</a:t>
            </a:r>
          </a:p>
          <a:p>
            <a:pPr algn="just"/>
            <a:r>
              <a:rPr lang="en-US" b="1" dirty="0"/>
              <a:t>"</a:t>
            </a:r>
            <a:r>
              <a:rPr lang="en-US" b="1" dirty="0">
                <a:solidFill>
                  <a:srgbClr val="0070C0"/>
                </a:solidFill>
              </a:rPr>
              <a:t>Great</a:t>
            </a:r>
            <a:r>
              <a:rPr lang="en-US" b="1" dirty="0"/>
              <a:t> </a:t>
            </a:r>
            <a:r>
              <a:rPr lang="en-US" b="1" dirty="0">
                <a:solidFill>
                  <a:srgbClr val="FF0000"/>
                </a:solidFill>
              </a:rPr>
              <a:t>phone</a:t>
            </a:r>
            <a:r>
              <a:rPr lang="en-US" b="1" dirty="0"/>
              <a:t> overall, but the camera needs improvement."</a:t>
            </a:r>
          </a:p>
          <a:p>
            <a:pPr algn="just"/>
            <a:r>
              <a:rPr lang="en-US" b="1" dirty="0"/>
              <a:t>"I’m very happy with this phone. It’s fast and reliable</a:t>
            </a:r>
            <a:r>
              <a:rPr lang="en-US" dirty="0" smtClean="0"/>
              <a:t>.“</a:t>
            </a:r>
          </a:p>
          <a:p>
            <a:pPr marL="0" indent="0" algn="just">
              <a:buNone/>
            </a:pPr>
            <a:r>
              <a:rPr lang="en-US" b="1" dirty="0" smtClean="0">
                <a:solidFill>
                  <a:srgbClr val="00B050"/>
                </a:solidFill>
              </a:rPr>
              <a:t>Word </a:t>
            </a:r>
            <a:r>
              <a:rPr lang="en-US" b="1" dirty="0">
                <a:solidFill>
                  <a:srgbClr val="00B050"/>
                </a:solidFill>
              </a:rPr>
              <a:t>Cloud Visualization</a:t>
            </a:r>
            <a:r>
              <a:rPr lang="en-US" b="1" dirty="0"/>
              <a:t>:</a:t>
            </a:r>
          </a:p>
          <a:p>
            <a:pPr algn="just"/>
            <a:r>
              <a:rPr lang="en-US" dirty="0"/>
              <a:t>We'll generate a word cloud for the sample reviews to see which words appear most frequently.</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6338" y="152400"/>
            <a:ext cx="363038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50228" y="5029198"/>
            <a:ext cx="4542607" cy="2031325"/>
          </a:xfrm>
          <a:prstGeom prst="rect">
            <a:avLst/>
          </a:prstGeom>
        </p:spPr>
        <p:txBody>
          <a:bodyPr wrap="square">
            <a:spAutoFit/>
          </a:bodyPr>
          <a:lstStyle/>
          <a:p>
            <a:r>
              <a:rPr lang="en-US" dirty="0"/>
              <a:t>A </a:t>
            </a:r>
            <a:r>
              <a:rPr lang="en-US" b="1" dirty="0"/>
              <a:t>Word Cloud</a:t>
            </a:r>
            <a:r>
              <a:rPr lang="en-US" dirty="0"/>
              <a:t> is a popular visualization used to represent text data. Words are displayed in various sizes, with the size of each word corresponding to its frequency or importance in the text. </a:t>
            </a:r>
            <a:r>
              <a:rPr lang="en-US" b="1" dirty="0">
                <a:solidFill>
                  <a:srgbClr val="FF0000"/>
                </a:solidFill>
              </a:rPr>
              <a:t>Words that appear more frequently are larger, while those that appear less frequently are smaller</a:t>
            </a:r>
          </a:p>
        </p:txBody>
      </p:sp>
      <p:sp>
        <p:nvSpPr>
          <p:cNvPr id="5" name="Rectangle 4"/>
          <p:cNvSpPr/>
          <p:nvPr/>
        </p:nvSpPr>
        <p:spPr>
          <a:xfrm>
            <a:off x="152400" y="22835"/>
            <a:ext cx="4572000" cy="2031325"/>
          </a:xfrm>
          <a:prstGeom prst="rect">
            <a:avLst/>
          </a:prstGeom>
        </p:spPr>
        <p:txBody>
          <a:bodyPr>
            <a:spAutoFit/>
          </a:bodyPr>
          <a:lstStyle/>
          <a:p>
            <a:r>
              <a:rPr lang="en-US" b="1" dirty="0"/>
              <a:t>Example Use Case:</a:t>
            </a:r>
          </a:p>
          <a:p>
            <a:r>
              <a:rPr lang="en-US" dirty="0"/>
              <a:t>Suppose you have a dataset of customer reviews or </a:t>
            </a:r>
            <a:r>
              <a:rPr lang="en-US" b="1" dirty="0"/>
              <a:t>product feedback</a:t>
            </a:r>
            <a:r>
              <a:rPr lang="en-US" dirty="0"/>
              <a:t>, and you want to visualize the most frequently mentioned words. The word cloud will highlight these frequent terms, giving you a sense of which topics are most important or discussed.</a:t>
            </a:r>
          </a:p>
        </p:txBody>
      </p:sp>
    </p:spTree>
    <p:extLst>
      <p:ext uri="{BB962C8B-B14F-4D97-AF65-F5344CB8AC3E}">
        <p14:creationId xmlns:p14="http://schemas.microsoft.com/office/powerpoint/2010/main" val="23914906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304800" y="1219200"/>
            <a:ext cx="8382000" cy="5181600"/>
          </a:xfrm>
        </p:spPr>
        <p:txBody>
          <a:bodyPr>
            <a:normAutofit fontScale="85000" lnSpcReduction="20000"/>
          </a:bodyPr>
          <a:lstStyle/>
          <a:p>
            <a:pPr marL="0" indent="0" algn="just">
              <a:buNone/>
            </a:pPr>
            <a:r>
              <a:rPr lang="en-US" b="1" dirty="0">
                <a:solidFill>
                  <a:srgbClr val="FF0000"/>
                </a:solidFill>
              </a:rPr>
              <a:t>IV. Multidimensional: </a:t>
            </a:r>
            <a:r>
              <a:rPr lang="en-US" dirty="0"/>
              <a:t>Used to visualize data with </a:t>
            </a:r>
            <a:r>
              <a:rPr lang="en-US" dirty="0">
                <a:solidFill>
                  <a:srgbClr val="FF0000"/>
                </a:solidFill>
              </a:rPr>
              <a:t>multiple variables </a:t>
            </a:r>
            <a:r>
              <a:rPr lang="en-US" dirty="0"/>
              <a:t>(2 or more dimensions).</a:t>
            </a:r>
          </a:p>
          <a:p>
            <a:pPr algn="just"/>
            <a:r>
              <a:rPr lang="en-US" b="1" dirty="0"/>
              <a:t>Purpose:</a:t>
            </a:r>
            <a:r>
              <a:rPr lang="en-US" dirty="0"/>
              <a:t> Useful for </a:t>
            </a:r>
            <a:r>
              <a:rPr lang="en-US" b="1" dirty="0"/>
              <a:t>analyzing</a:t>
            </a:r>
            <a:r>
              <a:rPr lang="en-US" dirty="0"/>
              <a:t> </a:t>
            </a:r>
            <a:r>
              <a:rPr lang="en-US" dirty="0">
                <a:solidFill>
                  <a:srgbClr val="FF0000"/>
                </a:solidFill>
              </a:rPr>
              <a:t>relationships between different variables in complex datasets</a:t>
            </a:r>
            <a:r>
              <a:rPr lang="en-US" dirty="0"/>
              <a:t>.</a:t>
            </a:r>
          </a:p>
          <a:p>
            <a:pPr algn="just"/>
            <a:r>
              <a:rPr lang="en-US" b="1" dirty="0"/>
              <a:t>Example Use Cases:</a:t>
            </a:r>
            <a:r>
              <a:rPr lang="en-US" dirty="0"/>
              <a:t> Customer segmentation, scientific analysis, and financial modeling</a:t>
            </a:r>
            <a:r>
              <a:rPr lang="en-US" dirty="0" smtClean="0"/>
              <a:t>.</a:t>
            </a:r>
          </a:p>
          <a:p>
            <a:pPr algn="just"/>
            <a:endParaRPr lang="en-US" dirty="0"/>
          </a:p>
          <a:p>
            <a:pPr marL="0" indent="0" algn="just">
              <a:buNone/>
            </a:pPr>
            <a:r>
              <a:rPr lang="en-US" b="1" dirty="0"/>
              <a:t>Common Types of Multidimensional Visualizations:</a:t>
            </a:r>
            <a:endParaRPr lang="en-US" dirty="0"/>
          </a:p>
          <a:p>
            <a:pPr algn="just"/>
            <a:r>
              <a:rPr lang="en-US" b="1" dirty="0"/>
              <a:t>Scatter Plots:</a:t>
            </a:r>
            <a:r>
              <a:rPr lang="en-US" dirty="0"/>
              <a:t> Used for plotting relationships between two variables.</a:t>
            </a:r>
          </a:p>
          <a:p>
            <a:pPr algn="just"/>
            <a:r>
              <a:rPr lang="en-US" b="1" dirty="0"/>
              <a:t>Stacked Bar Graphs:</a:t>
            </a:r>
            <a:r>
              <a:rPr lang="en-US" dirty="0"/>
              <a:t> </a:t>
            </a:r>
            <a:r>
              <a:rPr lang="en-US" dirty="0">
                <a:solidFill>
                  <a:srgbClr val="0070C0"/>
                </a:solidFill>
              </a:rPr>
              <a:t>Bar segments are stacked to show part-to-whole </a:t>
            </a:r>
            <a:r>
              <a:rPr lang="en-US" dirty="0" smtClean="0">
                <a:solidFill>
                  <a:srgbClr val="0070C0"/>
                </a:solidFill>
              </a:rPr>
              <a:t>relationships</a:t>
            </a:r>
            <a:r>
              <a:rPr lang="en-US" dirty="0" smtClean="0"/>
              <a:t>.</a:t>
            </a:r>
            <a:r>
              <a:rPr lang="en-US" dirty="0"/>
              <a:t> </a:t>
            </a:r>
            <a:r>
              <a:rPr lang="en-US" dirty="0" smtClean="0"/>
              <a:t>It is </a:t>
            </a:r>
            <a:r>
              <a:rPr lang="en-US" dirty="0"/>
              <a:t>useful for </a:t>
            </a:r>
            <a:r>
              <a:rPr lang="en-US" b="1" dirty="0"/>
              <a:t>visualizing multi-category comparisons</a:t>
            </a:r>
            <a:r>
              <a:rPr lang="en-US" dirty="0"/>
              <a:t> across different groups.</a:t>
            </a:r>
          </a:p>
        </p:txBody>
      </p:sp>
    </p:spTree>
    <p:extLst>
      <p:ext uri="{BB962C8B-B14F-4D97-AF65-F5344CB8AC3E}">
        <p14:creationId xmlns:p14="http://schemas.microsoft.com/office/powerpoint/2010/main" val="425461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85800"/>
            <a:ext cx="4495800" cy="5440363"/>
          </a:xfrm>
        </p:spPr>
        <p:txBody>
          <a:bodyPr>
            <a:normAutofit fontScale="85000" lnSpcReduction="20000"/>
          </a:bodyPr>
          <a:lstStyle/>
          <a:p>
            <a:r>
              <a:rPr lang="en-US" b="1" dirty="0"/>
              <a:t>1. Scatter Plot (Two-Dimensional Example)</a:t>
            </a:r>
          </a:p>
          <a:p>
            <a:r>
              <a:rPr lang="en-US" dirty="0"/>
              <a:t>A </a:t>
            </a:r>
            <a:r>
              <a:rPr lang="en-US" b="1" dirty="0"/>
              <a:t>scatter plot</a:t>
            </a:r>
            <a:r>
              <a:rPr lang="en-US" dirty="0"/>
              <a:t> is used to visualize relationships between two continuous variables. </a:t>
            </a:r>
            <a:endParaRPr lang="en-US" dirty="0" smtClean="0"/>
          </a:p>
          <a:p>
            <a:endParaRPr lang="en-US" dirty="0" smtClean="0"/>
          </a:p>
          <a:p>
            <a:r>
              <a:rPr lang="en-US" dirty="0" smtClean="0"/>
              <a:t>For </a:t>
            </a:r>
            <a:r>
              <a:rPr lang="en-US" dirty="0"/>
              <a:t>example, </a:t>
            </a:r>
            <a:r>
              <a:rPr lang="en-US" b="1" dirty="0">
                <a:solidFill>
                  <a:srgbClr val="FF0000"/>
                </a:solidFill>
              </a:rPr>
              <a:t>let's plot Height vs. Weight for a group of individuals</a:t>
            </a:r>
            <a:r>
              <a:rPr lang="en-US" dirty="0"/>
              <a:t>.</a:t>
            </a:r>
          </a:p>
          <a:p>
            <a:r>
              <a:rPr lang="en-US" dirty="0"/>
              <a:t>height = [150, 160, 170, 180, 190, 200]</a:t>
            </a:r>
          </a:p>
          <a:p>
            <a:r>
              <a:rPr lang="en-US" dirty="0"/>
              <a:t>weight = [50, 60, 70, 80, 90, 100</a:t>
            </a:r>
            <a:r>
              <a:rPr lang="en-US" dirty="0" smtClean="0"/>
              <a:t>]</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685800"/>
            <a:ext cx="43434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58524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17" y="152400"/>
            <a:ext cx="4935583" cy="5962650"/>
          </a:xfrm>
        </p:spPr>
        <p:txBody>
          <a:bodyPr>
            <a:normAutofit fontScale="70000" lnSpcReduction="20000"/>
          </a:bodyPr>
          <a:lstStyle/>
          <a:p>
            <a:r>
              <a:rPr lang="en-US" b="1" dirty="0"/>
              <a:t>2. Stacked Bar Graph (Three-Dimensional Example)</a:t>
            </a:r>
          </a:p>
          <a:p>
            <a:pPr algn="just"/>
            <a:r>
              <a:rPr lang="en-US" dirty="0"/>
              <a:t>A </a:t>
            </a:r>
            <a:r>
              <a:rPr lang="en-US" b="1" dirty="0"/>
              <a:t>stacked bar graph</a:t>
            </a:r>
            <a:r>
              <a:rPr lang="en-US" dirty="0"/>
              <a:t> is useful for showing </a:t>
            </a:r>
            <a:r>
              <a:rPr lang="en-US" b="1" dirty="0">
                <a:solidFill>
                  <a:srgbClr val="0070C0"/>
                </a:solidFill>
              </a:rPr>
              <a:t>parts of a whole across multiple categories</a:t>
            </a:r>
            <a:r>
              <a:rPr lang="en-US" dirty="0" smtClean="0"/>
              <a:t>.</a:t>
            </a:r>
          </a:p>
          <a:p>
            <a:pPr algn="just"/>
            <a:endParaRPr lang="en-US" dirty="0"/>
          </a:p>
          <a:p>
            <a:pPr algn="just"/>
            <a:r>
              <a:rPr lang="en-US" dirty="0"/>
              <a:t>For example, let's visualize </a:t>
            </a:r>
            <a:r>
              <a:rPr lang="en-US" b="1" dirty="0"/>
              <a:t>sales data</a:t>
            </a:r>
            <a:r>
              <a:rPr lang="en-US" dirty="0"/>
              <a:t> for different products in different regions.</a:t>
            </a:r>
          </a:p>
          <a:p>
            <a:pPr algn="just"/>
            <a:r>
              <a:rPr lang="en-US" dirty="0"/>
              <a:t># Sample Data: </a:t>
            </a:r>
            <a:r>
              <a:rPr lang="en-US" b="1" dirty="0">
                <a:solidFill>
                  <a:srgbClr val="00B050"/>
                </a:solidFill>
              </a:rPr>
              <a:t>Sales of Products in Different Regions</a:t>
            </a:r>
          </a:p>
          <a:p>
            <a:pPr algn="just"/>
            <a:r>
              <a:rPr lang="en-US" b="1" dirty="0">
                <a:solidFill>
                  <a:srgbClr val="FF0000"/>
                </a:solidFill>
              </a:rPr>
              <a:t>categories = ["Electronics", "Clothing", "Furniture"]</a:t>
            </a:r>
          </a:p>
          <a:p>
            <a:pPr algn="just"/>
            <a:r>
              <a:rPr lang="en-US" dirty="0" err="1"/>
              <a:t>region_A</a:t>
            </a:r>
            <a:r>
              <a:rPr lang="en-US" dirty="0"/>
              <a:t> = [40, 30, 20] </a:t>
            </a:r>
            <a:endParaRPr lang="en-US" dirty="0" smtClean="0"/>
          </a:p>
          <a:p>
            <a:pPr marL="0" indent="0" algn="just">
              <a:buNone/>
            </a:pPr>
            <a:r>
              <a:rPr lang="en-US" dirty="0" smtClean="0"/>
              <a:t> </a:t>
            </a:r>
            <a:r>
              <a:rPr lang="en-US" dirty="0"/>
              <a:t># Sales in Region A</a:t>
            </a:r>
          </a:p>
          <a:p>
            <a:pPr algn="just"/>
            <a:r>
              <a:rPr lang="en-US" dirty="0" err="1"/>
              <a:t>region_B</a:t>
            </a:r>
            <a:r>
              <a:rPr lang="en-US" dirty="0"/>
              <a:t> = [35, 25, 30] </a:t>
            </a:r>
            <a:endParaRPr lang="en-US" dirty="0" smtClean="0"/>
          </a:p>
          <a:p>
            <a:pPr algn="just"/>
            <a:r>
              <a:rPr lang="en-US" dirty="0" smtClean="0"/>
              <a:t> </a:t>
            </a:r>
            <a:r>
              <a:rPr lang="en-US" dirty="0"/>
              <a:t># Sales in Region B</a:t>
            </a:r>
          </a:p>
          <a:p>
            <a:pPr algn="just"/>
            <a:r>
              <a:rPr lang="en-US" dirty="0" err="1"/>
              <a:t>region_C</a:t>
            </a:r>
            <a:r>
              <a:rPr lang="en-US" dirty="0"/>
              <a:t> = [25, 20, 40] </a:t>
            </a:r>
            <a:endParaRPr lang="en-US" dirty="0" smtClean="0"/>
          </a:p>
          <a:p>
            <a:pPr algn="just"/>
            <a:r>
              <a:rPr lang="en-US" dirty="0" smtClean="0"/>
              <a:t> </a:t>
            </a:r>
            <a:r>
              <a:rPr lang="en-US" dirty="0"/>
              <a:t># Sales in Region C</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646" y="685800"/>
            <a:ext cx="3962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234146" y="5657671"/>
            <a:ext cx="7391400" cy="1200329"/>
          </a:xfrm>
          <a:prstGeom prst="rect">
            <a:avLst/>
          </a:prstGeom>
        </p:spPr>
        <p:txBody>
          <a:bodyPr wrap="square">
            <a:spAutoFit/>
          </a:bodyPr>
          <a:lstStyle/>
          <a:p>
            <a:r>
              <a:rPr lang="en-US" b="1" dirty="0"/>
              <a:t>Explanation:</a:t>
            </a:r>
          </a:p>
          <a:p>
            <a:pPr marL="285750" indent="-285750">
              <a:buFont typeface="Arial" pitchFamily="34" charset="0"/>
              <a:buChar char="•"/>
            </a:pPr>
            <a:r>
              <a:rPr lang="en-US" b="1" dirty="0"/>
              <a:t>Each bar represents a product category</a:t>
            </a:r>
            <a:r>
              <a:rPr lang="en-US" dirty="0"/>
              <a:t>.</a:t>
            </a:r>
          </a:p>
          <a:p>
            <a:pPr marL="285750" indent="-285750">
              <a:buFont typeface="Arial" pitchFamily="34" charset="0"/>
              <a:buChar char="•"/>
            </a:pPr>
            <a:r>
              <a:rPr lang="en-US" dirty="0"/>
              <a:t>The </a:t>
            </a:r>
            <a:r>
              <a:rPr lang="en-US" b="1" dirty="0"/>
              <a:t>colors within the bar</a:t>
            </a:r>
            <a:r>
              <a:rPr lang="en-US" dirty="0"/>
              <a:t> show sales in different regions.</a:t>
            </a:r>
          </a:p>
          <a:p>
            <a:pPr marL="285750" indent="-285750">
              <a:buFont typeface="Arial" pitchFamily="34" charset="0"/>
              <a:buChar char="•"/>
            </a:pPr>
            <a:r>
              <a:rPr lang="en-US" dirty="0"/>
              <a:t>This helps compare the contribution of each region to total sales.</a:t>
            </a:r>
          </a:p>
        </p:txBody>
      </p:sp>
    </p:spTree>
    <p:extLst>
      <p:ext uri="{BB962C8B-B14F-4D97-AF65-F5344CB8AC3E}">
        <p14:creationId xmlns:p14="http://schemas.microsoft.com/office/powerpoint/2010/main" val="40112259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457200" y="1143000"/>
            <a:ext cx="8229600" cy="5334000"/>
          </a:xfrm>
        </p:spPr>
        <p:txBody>
          <a:bodyPr>
            <a:normAutofit fontScale="85000" lnSpcReduction="20000"/>
          </a:bodyPr>
          <a:lstStyle/>
          <a:p>
            <a:pPr algn="just"/>
            <a:r>
              <a:rPr lang="en-US" b="1" dirty="0">
                <a:solidFill>
                  <a:srgbClr val="FF0000"/>
                </a:solidFill>
              </a:rPr>
              <a:t>V. Geospatial: </a:t>
            </a:r>
            <a:r>
              <a:rPr lang="en-US" dirty="0"/>
              <a:t>Represents </a:t>
            </a:r>
            <a:r>
              <a:rPr lang="en-US" b="1" dirty="0">
                <a:solidFill>
                  <a:srgbClr val="FF0000"/>
                </a:solidFill>
              </a:rPr>
              <a:t>geographical data </a:t>
            </a:r>
            <a:r>
              <a:rPr lang="en-US" b="1" dirty="0"/>
              <a:t>using </a:t>
            </a:r>
            <a:r>
              <a:rPr lang="en-US" b="1" dirty="0">
                <a:solidFill>
                  <a:srgbClr val="FF0000"/>
                </a:solidFill>
              </a:rPr>
              <a:t>map</a:t>
            </a:r>
            <a:r>
              <a:rPr lang="en-US" dirty="0">
                <a:solidFill>
                  <a:srgbClr val="FF0000"/>
                </a:solidFill>
              </a:rPr>
              <a:t>s</a:t>
            </a:r>
            <a:r>
              <a:rPr lang="en-US" dirty="0"/>
              <a:t>.</a:t>
            </a:r>
          </a:p>
          <a:p>
            <a:pPr algn="just"/>
            <a:r>
              <a:rPr lang="en-US" b="1" dirty="0"/>
              <a:t>Purpose:</a:t>
            </a:r>
            <a:r>
              <a:rPr lang="en-US" dirty="0"/>
              <a:t> Best for </a:t>
            </a:r>
            <a:r>
              <a:rPr lang="en-US" b="1" dirty="0">
                <a:solidFill>
                  <a:srgbClr val="FF0000"/>
                </a:solidFill>
              </a:rPr>
              <a:t>visualizing location-based data</a:t>
            </a:r>
            <a:r>
              <a:rPr lang="en-US" dirty="0"/>
              <a:t>.</a:t>
            </a:r>
          </a:p>
          <a:p>
            <a:pPr algn="just"/>
            <a:r>
              <a:rPr lang="en-US" b="1" dirty="0"/>
              <a:t>Example Use Cases:</a:t>
            </a:r>
            <a:r>
              <a:rPr lang="en-US" dirty="0"/>
              <a:t> Disease outbreak mapping, delivery route planning, and population density analysis</a:t>
            </a:r>
            <a:r>
              <a:rPr lang="en-US" dirty="0" smtClean="0"/>
              <a:t>.</a:t>
            </a:r>
          </a:p>
          <a:p>
            <a:pPr marL="0" indent="0" algn="just">
              <a:buNone/>
            </a:pPr>
            <a:endParaRPr lang="en-US" dirty="0"/>
          </a:p>
          <a:p>
            <a:pPr marL="0" indent="0" algn="just">
              <a:buNone/>
            </a:pPr>
            <a:r>
              <a:rPr lang="en-US" b="1" dirty="0"/>
              <a:t>Common Types of Geospatial Visualizations:</a:t>
            </a:r>
            <a:endParaRPr lang="en-US" dirty="0"/>
          </a:p>
          <a:p>
            <a:pPr algn="just"/>
            <a:r>
              <a:rPr lang="en-US" b="1" dirty="0"/>
              <a:t>Flow Maps:</a:t>
            </a:r>
            <a:r>
              <a:rPr lang="en-US" dirty="0"/>
              <a:t> Show </a:t>
            </a:r>
            <a:r>
              <a:rPr lang="en-US" dirty="0">
                <a:solidFill>
                  <a:srgbClr val="FF0000"/>
                </a:solidFill>
              </a:rPr>
              <a:t>movement of people, goods</a:t>
            </a:r>
            <a:r>
              <a:rPr lang="en-US" dirty="0"/>
              <a:t>, or data from one location to another using </a:t>
            </a:r>
            <a:r>
              <a:rPr lang="en-US" dirty="0">
                <a:solidFill>
                  <a:srgbClr val="FF0000"/>
                </a:solidFill>
              </a:rPr>
              <a:t>arrows</a:t>
            </a:r>
            <a:r>
              <a:rPr lang="en-US" dirty="0"/>
              <a:t>.</a:t>
            </a:r>
          </a:p>
          <a:p>
            <a:pPr algn="just"/>
            <a:r>
              <a:rPr lang="en-US" b="1" dirty="0" err="1"/>
              <a:t>Choropleth</a:t>
            </a:r>
            <a:r>
              <a:rPr lang="en-US" b="1" dirty="0"/>
              <a:t> Maps:</a:t>
            </a:r>
            <a:r>
              <a:rPr lang="en-US" dirty="0"/>
              <a:t> Represent geographic regions </a:t>
            </a:r>
            <a:r>
              <a:rPr lang="en-US" dirty="0">
                <a:solidFill>
                  <a:srgbClr val="FF0000"/>
                </a:solidFill>
              </a:rPr>
              <a:t>shaded or colored based </a:t>
            </a:r>
            <a:r>
              <a:rPr lang="en-US" dirty="0"/>
              <a:t>on a </a:t>
            </a:r>
            <a:r>
              <a:rPr lang="en-US" b="1" dirty="0">
                <a:solidFill>
                  <a:srgbClr val="0070C0"/>
                </a:solidFill>
              </a:rPr>
              <a:t>data variable</a:t>
            </a:r>
            <a:r>
              <a:rPr lang="en-US" dirty="0"/>
              <a:t>.</a:t>
            </a:r>
          </a:p>
          <a:p>
            <a:pPr algn="just"/>
            <a:r>
              <a:rPr lang="en-US" b="1" dirty="0"/>
              <a:t>Heat Maps:</a:t>
            </a:r>
            <a:r>
              <a:rPr lang="en-US" dirty="0"/>
              <a:t> Display </a:t>
            </a:r>
            <a:r>
              <a:rPr lang="en-US" dirty="0">
                <a:solidFill>
                  <a:srgbClr val="FF0000"/>
                </a:solidFill>
              </a:rPr>
              <a:t>data density or intensity using color gradients</a:t>
            </a:r>
          </a:p>
          <a:p>
            <a:pPr marL="0" indent="0" algn="just">
              <a:buNone/>
            </a:pPr>
            <a:endParaRPr lang="en-US" dirty="0"/>
          </a:p>
        </p:txBody>
      </p:sp>
    </p:spTree>
    <p:extLst>
      <p:ext uri="{BB962C8B-B14F-4D97-AF65-F5344CB8AC3E}">
        <p14:creationId xmlns:p14="http://schemas.microsoft.com/office/powerpoint/2010/main" val="40804675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2042883"/>
            <a:ext cx="552450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838200"/>
            <a:ext cx="8534400" cy="1200329"/>
          </a:xfrm>
          <a:prstGeom prst="rect">
            <a:avLst/>
          </a:prstGeom>
        </p:spPr>
        <p:txBody>
          <a:bodyPr wrap="square">
            <a:spAutoFit/>
          </a:bodyPr>
          <a:lstStyle/>
          <a:p>
            <a:r>
              <a:rPr lang="en-US" b="1" dirty="0"/>
              <a:t>✅ </a:t>
            </a:r>
            <a:r>
              <a:rPr lang="en-US" sz="2400" b="1" dirty="0"/>
              <a:t>1. Flow Map: Migration Routes</a:t>
            </a:r>
          </a:p>
          <a:p>
            <a:r>
              <a:rPr lang="en-US" sz="2400" dirty="0"/>
              <a:t>A </a:t>
            </a:r>
            <a:r>
              <a:rPr lang="en-US" sz="2400" b="1" dirty="0"/>
              <a:t>Flow Map</a:t>
            </a:r>
            <a:r>
              <a:rPr lang="en-US" sz="2400" dirty="0"/>
              <a:t> </a:t>
            </a:r>
            <a:r>
              <a:rPr lang="en-US" sz="2400" dirty="0">
                <a:solidFill>
                  <a:srgbClr val="FF0000"/>
                </a:solidFill>
              </a:rPr>
              <a:t>shows movement between locations using arrows</a:t>
            </a:r>
            <a:r>
              <a:rPr lang="en-US" sz="2400" dirty="0"/>
              <a:t>. Here’s an example of migration routes between major US cities</a:t>
            </a:r>
            <a:r>
              <a:rPr lang="en-US" dirty="0"/>
              <a:t>.</a:t>
            </a:r>
          </a:p>
        </p:txBody>
      </p:sp>
      <p:sp>
        <p:nvSpPr>
          <p:cNvPr id="5" name="Rectangle 4"/>
          <p:cNvSpPr/>
          <p:nvPr/>
        </p:nvSpPr>
        <p:spPr>
          <a:xfrm>
            <a:off x="1752600" y="5791200"/>
            <a:ext cx="6705600" cy="646331"/>
          </a:xfrm>
          <a:prstGeom prst="rect">
            <a:avLst/>
          </a:prstGeom>
        </p:spPr>
        <p:txBody>
          <a:bodyPr wrap="square">
            <a:spAutoFit/>
          </a:bodyPr>
          <a:lstStyle/>
          <a:p>
            <a:r>
              <a:rPr lang="en-US" b="1" dirty="0"/>
              <a:t>Flow Map</a:t>
            </a:r>
            <a:r>
              <a:rPr lang="en-US" dirty="0"/>
              <a:t>: Shows migration routes between major U.S. cities using arrows.</a:t>
            </a:r>
          </a:p>
        </p:txBody>
      </p:sp>
    </p:spTree>
    <p:extLst>
      <p:ext uri="{BB962C8B-B14F-4D97-AF65-F5344CB8AC3E}">
        <p14:creationId xmlns:p14="http://schemas.microsoft.com/office/powerpoint/2010/main" val="13729469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1525" y="2362200"/>
            <a:ext cx="7372350" cy="412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304800"/>
            <a:ext cx="8763000" cy="1938992"/>
          </a:xfrm>
          <a:prstGeom prst="rect">
            <a:avLst/>
          </a:prstGeom>
        </p:spPr>
        <p:txBody>
          <a:bodyPr wrap="square">
            <a:spAutoFit/>
          </a:bodyPr>
          <a:lstStyle/>
          <a:p>
            <a:pPr fontAlgn="t"/>
            <a:r>
              <a:rPr lang="en-US" sz="2400" b="1" dirty="0">
                <a:solidFill>
                  <a:srgbClr val="FF0000"/>
                </a:solidFill>
              </a:rPr>
              <a:t>A </a:t>
            </a:r>
            <a:r>
              <a:rPr lang="en-US" sz="2400" b="1" dirty="0" err="1">
                <a:solidFill>
                  <a:srgbClr val="FF0000"/>
                </a:solidFill>
              </a:rPr>
              <a:t>choropleth</a:t>
            </a:r>
            <a:r>
              <a:rPr lang="en-US" sz="2400" b="1" dirty="0">
                <a:solidFill>
                  <a:srgbClr val="FF0000"/>
                </a:solidFill>
              </a:rPr>
              <a:t> map </a:t>
            </a:r>
            <a:r>
              <a:rPr lang="en-US" sz="2400" dirty="0"/>
              <a:t>is a map that is </a:t>
            </a:r>
            <a:r>
              <a:rPr lang="en-US" sz="2400" b="1" dirty="0"/>
              <a:t>shaded according to a range of values</a:t>
            </a:r>
            <a:r>
              <a:rPr lang="en-US" sz="2400" dirty="0"/>
              <a:t> presented in a key. </a:t>
            </a:r>
            <a:endParaRPr lang="en-US" sz="2400" dirty="0" smtClean="0"/>
          </a:p>
          <a:p>
            <a:pPr fontAlgn="t"/>
            <a:r>
              <a:rPr lang="en-US" sz="2400" dirty="0" err="1" smtClean="0"/>
              <a:t>Choropleth</a:t>
            </a:r>
            <a:r>
              <a:rPr lang="en-US" sz="2400" dirty="0" smtClean="0"/>
              <a:t> </a:t>
            </a:r>
            <a:r>
              <a:rPr lang="en-US" sz="2400" dirty="0"/>
              <a:t>maps are popular thematic maps used to represent </a:t>
            </a:r>
            <a:r>
              <a:rPr lang="en-US" sz="2400" dirty="0">
                <a:solidFill>
                  <a:srgbClr val="FF0000"/>
                </a:solidFill>
              </a:rPr>
              <a:t>statistical data through various shading patterns </a:t>
            </a:r>
            <a:r>
              <a:rPr lang="en-US" sz="2400" dirty="0"/>
              <a:t>or symbols on predetermined geographic areas (i.e. countries).</a:t>
            </a:r>
          </a:p>
        </p:txBody>
      </p:sp>
    </p:spTree>
    <p:extLst>
      <p:ext uri="{BB962C8B-B14F-4D97-AF65-F5344CB8AC3E}">
        <p14:creationId xmlns:p14="http://schemas.microsoft.com/office/powerpoint/2010/main" val="17679401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7428" y="1600201"/>
            <a:ext cx="5549144"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50520" y="381000"/>
            <a:ext cx="8382000" cy="954107"/>
          </a:xfrm>
          <a:prstGeom prst="rect">
            <a:avLst/>
          </a:prstGeom>
        </p:spPr>
        <p:txBody>
          <a:bodyPr wrap="square">
            <a:spAutoFit/>
          </a:bodyPr>
          <a:lstStyle/>
          <a:p>
            <a:r>
              <a:rPr lang="en-US" sz="2800" b="1" dirty="0"/>
              <a:t>Heat Map: </a:t>
            </a:r>
            <a:r>
              <a:rPr lang="en-US" sz="2800" b="1" dirty="0">
                <a:solidFill>
                  <a:srgbClr val="FF0000"/>
                </a:solidFill>
              </a:rPr>
              <a:t>Population Density</a:t>
            </a:r>
          </a:p>
          <a:p>
            <a:r>
              <a:rPr lang="en-US" sz="2800" dirty="0"/>
              <a:t>A </a:t>
            </a:r>
            <a:r>
              <a:rPr lang="en-US" sz="2800" b="1" dirty="0"/>
              <a:t>Heat Map</a:t>
            </a:r>
            <a:r>
              <a:rPr lang="en-US" sz="2800" dirty="0"/>
              <a:t> visualizes data density using color gradients.</a:t>
            </a:r>
          </a:p>
        </p:txBody>
      </p:sp>
      <p:sp>
        <p:nvSpPr>
          <p:cNvPr id="5" name="Rectangle 4"/>
          <p:cNvSpPr/>
          <p:nvPr/>
        </p:nvSpPr>
        <p:spPr>
          <a:xfrm>
            <a:off x="568234" y="5240608"/>
            <a:ext cx="8305800" cy="1754326"/>
          </a:xfrm>
          <a:prstGeom prst="rect">
            <a:avLst/>
          </a:prstGeom>
        </p:spPr>
        <p:txBody>
          <a:bodyPr wrap="square">
            <a:spAutoFit/>
          </a:bodyPr>
          <a:lstStyle/>
          <a:p>
            <a:r>
              <a:rPr lang="en-US" b="1" dirty="0">
                <a:solidFill>
                  <a:srgbClr val="00B050"/>
                </a:solidFill>
              </a:rPr>
              <a:t>Heat Map</a:t>
            </a:r>
            <a:r>
              <a:rPr lang="en-US" dirty="0">
                <a:solidFill>
                  <a:srgbClr val="FF0000"/>
                </a:solidFill>
              </a:rPr>
              <a:t>: </a:t>
            </a:r>
            <a:r>
              <a:rPr lang="en-US" b="1" dirty="0">
                <a:solidFill>
                  <a:srgbClr val="FF0000"/>
                </a:solidFill>
              </a:rPr>
              <a:t>Displays population density using a color grad</a:t>
            </a:r>
            <a:r>
              <a:rPr lang="en-US" dirty="0">
                <a:solidFill>
                  <a:srgbClr val="FF0000"/>
                </a:solidFill>
              </a:rPr>
              <a:t>ient</a:t>
            </a:r>
            <a:r>
              <a:rPr lang="en-US" dirty="0" smtClean="0">
                <a:solidFill>
                  <a:srgbClr val="FF0000"/>
                </a:solidFill>
              </a:rPr>
              <a:t>.</a:t>
            </a:r>
            <a:r>
              <a:rPr lang="en-US" dirty="0"/>
              <a:t> The </a:t>
            </a:r>
            <a:r>
              <a:rPr lang="en-US" b="1" dirty="0"/>
              <a:t>color intensity</a:t>
            </a:r>
            <a:r>
              <a:rPr lang="en-US" dirty="0"/>
              <a:t> of the cell reflects the magnitude of the value:</a:t>
            </a:r>
          </a:p>
          <a:p>
            <a:r>
              <a:rPr lang="en-US" b="1" dirty="0"/>
              <a:t>Darker Red (</a:t>
            </a:r>
            <a:r>
              <a:rPr lang="en-US" b="1" dirty="0" err="1"/>
              <a:t>Coolwarm</a:t>
            </a:r>
            <a:r>
              <a:rPr lang="en-US" b="1" dirty="0"/>
              <a:t> Scale)</a:t>
            </a:r>
            <a:r>
              <a:rPr lang="en-US" dirty="0"/>
              <a:t> → Higher density</a:t>
            </a:r>
          </a:p>
          <a:p>
            <a:r>
              <a:rPr lang="en-US" b="1" dirty="0"/>
              <a:t>Darker Blue (</a:t>
            </a:r>
            <a:r>
              <a:rPr lang="en-US" b="1" dirty="0" err="1"/>
              <a:t>Coolwarm</a:t>
            </a:r>
            <a:r>
              <a:rPr lang="en-US" b="1" dirty="0"/>
              <a:t> Scale)</a:t>
            </a:r>
            <a:r>
              <a:rPr lang="en-US" dirty="0"/>
              <a:t> → Lower density</a:t>
            </a:r>
          </a:p>
          <a:p>
            <a:r>
              <a:rPr lang="en-US" b="1" dirty="0"/>
              <a:t>Numbers inside the cells</a:t>
            </a:r>
            <a:r>
              <a:rPr lang="en-US" dirty="0"/>
              <a:t> → Exact data values</a:t>
            </a:r>
          </a:p>
          <a:p>
            <a:endParaRPr lang="en-US" dirty="0">
              <a:solidFill>
                <a:srgbClr val="FF0000"/>
              </a:solidFill>
            </a:endParaRPr>
          </a:p>
        </p:txBody>
      </p:sp>
    </p:spTree>
    <p:extLst>
      <p:ext uri="{BB962C8B-B14F-4D97-AF65-F5344CB8AC3E}">
        <p14:creationId xmlns:p14="http://schemas.microsoft.com/office/powerpoint/2010/main" val="34074912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Coolwarm</a:t>
            </a:r>
            <a:r>
              <a:rPr lang="en-US" b="1" dirty="0"/>
              <a:t> scale</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a:t>
            </a:r>
            <a:r>
              <a:rPr lang="en-US" b="1" dirty="0" err="1"/>
              <a:t>Coolwarm</a:t>
            </a:r>
            <a:r>
              <a:rPr lang="en-US" b="1" dirty="0"/>
              <a:t> scale</a:t>
            </a:r>
            <a:r>
              <a:rPr lang="en-US" dirty="0"/>
              <a:t> is a </a:t>
            </a:r>
            <a:r>
              <a:rPr lang="en-US" b="1" dirty="0"/>
              <a:t>color gradient</a:t>
            </a:r>
            <a:r>
              <a:rPr lang="en-US" dirty="0"/>
              <a:t> used in data visualization to represent numerical values</a:t>
            </a:r>
            <a:r>
              <a:rPr lang="en-US" dirty="0" smtClean="0"/>
              <a:t>.</a:t>
            </a:r>
          </a:p>
          <a:p>
            <a:r>
              <a:rPr lang="en-US" dirty="0" smtClean="0"/>
              <a:t> </a:t>
            </a:r>
            <a:r>
              <a:rPr lang="en-US" dirty="0"/>
              <a:t>It transitions from </a:t>
            </a:r>
            <a:r>
              <a:rPr lang="en-US" b="1" dirty="0"/>
              <a:t>cool colors (blue)</a:t>
            </a:r>
            <a:r>
              <a:rPr lang="en-US" dirty="0"/>
              <a:t> to </a:t>
            </a:r>
            <a:r>
              <a:rPr lang="en-US" b="1" dirty="0"/>
              <a:t>warm colors (red)</a:t>
            </a:r>
            <a:r>
              <a:rPr lang="en-US" dirty="0"/>
              <a:t>, making it ideal for </a:t>
            </a:r>
            <a:r>
              <a:rPr lang="en-US" b="1" dirty="0"/>
              <a:t>heat maps and correlation matrices</a:t>
            </a:r>
            <a:r>
              <a:rPr lang="en-US" dirty="0" smtClean="0"/>
              <a:t>.</a:t>
            </a:r>
          </a:p>
          <a:p>
            <a:endParaRPr lang="en-US" dirty="0"/>
          </a:p>
          <a:p>
            <a:pPr marL="0" indent="0">
              <a:buNone/>
            </a:pPr>
            <a:r>
              <a:rPr lang="en-US" b="1" dirty="0"/>
              <a:t>How </a:t>
            </a:r>
            <a:r>
              <a:rPr lang="en-US" b="1" dirty="0" err="1"/>
              <a:t>Coolwarm</a:t>
            </a:r>
            <a:r>
              <a:rPr lang="en-US" b="1" dirty="0"/>
              <a:t> Works:</a:t>
            </a:r>
          </a:p>
          <a:p>
            <a:r>
              <a:rPr lang="en-US" b="1" dirty="0"/>
              <a:t>Blue (Cooler Colors)</a:t>
            </a:r>
            <a:r>
              <a:rPr lang="en-US" dirty="0"/>
              <a:t> → Represents lower values</a:t>
            </a:r>
          </a:p>
          <a:p>
            <a:r>
              <a:rPr lang="en-US" b="1" dirty="0"/>
              <a:t>White (Neutral Color)</a:t>
            </a:r>
            <a:r>
              <a:rPr lang="en-US" dirty="0"/>
              <a:t> → Represents mid-range values</a:t>
            </a:r>
          </a:p>
          <a:p>
            <a:r>
              <a:rPr lang="en-US" b="1" dirty="0"/>
              <a:t>Red (Warmer Colors)</a:t>
            </a:r>
            <a:r>
              <a:rPr lang="en-US" dirty="0"/>
              <a:t> → Represents higher values</a:t>
            </a:r>
          </a:p>
          <a:p>
            <a:endParaRPr lang="en-US" dirty="0"/>
          </a:p>
        </p:txBody>
      </p:sp>
    </p:spTree>
    <p:extLst>
      <p:ext uri="{BB962C8B-B14F-4D97-AF65-F5344CB8AC3E}">
        <p14:creationId xmlns:p14="http://schemas.microsoft.com/office/powerpoint/2010/main" val="5289982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Types of Data Visualization</a:t>
            </a:r>
            <a:r>
              <a:rPr lang="en-US" b="1" dirty="0" smtClean="0"/>
              <a:t/>
            </a:r>
            <a:br>
              <a:rPr lang="en-US" b="1" dirty="0" smtClean="0"/>
            </a:br>
            <a:endParaRPr lang="en-US" dirty="0"/>
          </a:p>
        </p:txBody>
      </p:sp>
      <p:sp>
        <p:nvSpPr>
          <p:cNvPr id="3" name="Content Placeholder 2"/>
          <p:cNvSpPr>
            <a:spLocks noGrp="1"/>
          </p:cNvSpPr>
          <p:nvPr>
            <p:ph idx="1"/>
          </p:nvPr>
        </p:nvSpPr>
        <p:spPr>
          <a:xfrm>
            <a:off x="457200" y="1600200"/>
            <a:ext cx="8458200" cy="4525963"/>
          </a:xfrm>
        </p:spPr>
        <p:txBody>
          <a:bodyPr/>
          <a:lstStyle/>
          <a:p>
            <a:pPr marL="0" indent="0" algn="just">
              <a:buNone/>
            </a:pPr>
            <a:r>
              <a:rPr lang="en-US" b="1" dirty="0" smtClean="0">
                <a:solidFill>
                  <a:schemeClr val="tx2"/>
                </a:solidFill>
              </a:rPr>
              <a:t>1</a:t>
            </a:r>
            <a:r>
              <a:rPr lang="en-US" b="1" dirty="0">
                <a:solidFill>
                  <a:schemeClr val="tx2"/>
                </a:solidFill>
              </a:rPr>
              <a:t>. Charts</a:t>
            </a:r>
            <a:endParaRPr lang="en-US" dirty="0">
              <a:solidFill>
                <a:schemeClr val="tx2"/>
              </a:solidFill>
            </a:endParaRPr>
          </a:p>
          <a:p>
            <a:pPr algn="just"/>
            <a:r>
              <a:rPr lang="en-US" b="1" dirty="0"/>
              <a:t>Line Charts:</a:t>
            </a:r>
            <a:r>
              <a:rPr lang="en-US" dirty="0"/>
              <a:t> Ideal for tracking </a:t>
            </a:r>
            <a:r>
              <a:rPr lang="en-US" dirty="0">
                <a:solidFill>
                  <a:srgbClr val="7030A0"/>
                </a:solidFill>
              </a:rPr>
              <a:t>trends over time</a:t>
            </a:r>
            <a:r>
              <a:rPr lang="en-US" dirty="0"/>
              <a:t>, like </a:t>
            </a:r>
            <a:r>
              <a:rPr lang="en-US" dirty="0">
                <a:solidFill>
                  <a:srgbClr val="FF0000"/>
                </a:solidFill>
              </a:rPr>
              <a:t>stock prices or website traffic</a:t>
            </a:r>
            <a:r>
              <a:rPr lang="en-US" dirty="0"/>
              <a:t>.</a:t>
            </a:r>
          </a:p>
          <a:p>
            <a:pPr algn="just"/>
            <a:r>
              <a:rPr lang="en-US" b="1" dirty="0"/>
              <a:t>Bar Charts:</a:t>
            </a:r>
            <a:r>
              <a:rPr lang="en-US" dirty="0"/>
              <a:t> Perfect for </a:t>
            </a:r>
            <a:r>
              <a:rPr lang="en-US" dirty="0">
                <a:solidFill>
                  <a:srgbClr val="7030A0"/>
                </a:solidFill>
              </a:rPr>
              <a:t>comparing quantities across categories</a:t>
            </a:r>
            <a:r>
              <a:rPr lang="en-US" dirty="0"/>
              <a:t>, such as </a:t>
            </a:r>
            <a:r>
              <a:rPr lang="en-US" dirty="0">
                <a:solidFill>
                  <a:srgbClr val="FF0000"/>
                </a:solidFill>
              </a:rPr>
              <a:t>revenue per region</a:t>
            </a:r>
            <a:r>
              <a:rPr lang="en-US" dirty="0"/>
              <a:t>.</a:t>
            </a:r>
          </a:p>
          <a:p>
            <a:pPr algn="just"/>
            <a:r>
              <a:rPr lang="en-US" b="1" dirty="0"/>
              <a:t>Pie Charts:</a:t>
            </a:r>
            <a:r>
              <a:rPr lang="en-US" dirty="0"/>
              <a:t> Best for showing </a:t>
            </a:r>
            <a:r>
              <a:rPr lang="en-US" dirty="0">
                <a:solidFill>
                  <a:srgbClr val="FF0000"/>
                </a:solidFill>
              </a:rPr>
              <a:t>proportions in a datase</a:t>
            </a:r>
            <a:r>
              <a:rPr lang="en-US" dirty="0"/>
              <a:t>t (e.g., market share distribution).</a:t>
            </a:r>
          </a:p>
          <a:p>
            <a:pPr algn="just"/>
            <a:endParaRPr lang="en-US" dirty="0"/>
          </a:p>
        </p:txBody>
      </p:sp>
    </p:spTree>
    <p:extLst>
      <p:ext uri="{BB962C8B-B14F-4D97-AF65-F5344CB8AC3E}">
        <p14:creationId xmlns:p14="http://schemas.microsoft.com/office/powerpoint/2010/main" val="37049169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solidFill>
                  <a:schemeClr val="tx2"/>
                </a:solidFill>
              </a:rPr>
              <a:t>2. Graphs</a:t>
            </a:r>
          </a:p>
          <a:p>
            <a:pPr algn="just"/>
            <a:r>
              <a:rPr lang="en-US" b="1" dirty="0"/>
              <a:t>Scatter Plots:</a:t>
            </a:r>
            <a:r>
              <a:rPr lang="en-US" dirty="0"/>
              <a:t> Showcase </a:t>
            </a:r>
            <a:r>
              <a:rPr lang="en-US" dirty="0">
                <a:solidFill>
                  <a:srgbClr val="FF0000"/>
                </a:solidFill>
              </a:rPr>
              <a:t>relationships or correlations between variables</a:t>
            </a:r>
            <a:r>
              <a:rPr lang="en-US" dirty="0"/>
              <a:t>.</a:t>
            </a:r>
          </a:p>
          <a:p>
            <a:pPr algn="just"/>
            <a:r>
              <a:rPr lang="en-US" b="1" dirty="0"/>
              <a:t>Network Graphs:</a:t>
            </a:r>
            <a:r>
              <a:rPr lang="en-US" dirty="0"/>
              <a:t> Useful for </a:t>
            </a:r>
            <a:r>
              <a:rPr lang="en-US" dirty="0">
                <a:solidFill>
                  <a:srgbClr val="FF0000"/>
                </a:solidFill>
              </a:rPr>
              <a:t>visualizing connections, such as social media networks</a:t>
            </a:r>
            <a:r>
              <a:rPr lang="en-US" dirty="0"/>
              <a:t>.</a:t>
            </a:r>
          </a:p>
          <a:p>
            <a:pPr marL="0" indent="0" algn="just">
              <a:buNone/>
            </a:pPr>
            <a:r>
              <a:rPr lang="en-US" b="1" dirty="0">
                <a:solidFill>
                  <a:schemeClr val="tx2"/>
                </a:solidFill>
              </a:rPr>
              <a:t>3. Maps</a:t>
            </a:r>
            <a:endParaRPr lang="en-US" dirty="0">
              <a:solidFill>
                <a:schemeClr val="tx2"/>
              </a:solidFill>
            </a:endParaRPr>
          </a:p>
          <a:p>
            <a:pPr algn="just"/>
            <a:r>
              <a:rPr lang="en-US" b="1" dirty="0"/>
              <a:t>Heat Maps:</a:t>
            </a:r>
            <a:r>
              <a:rPr lang="en-US" dirty="0"/>
              <a:t> Display data density or </a:t>
            </a:r>
            <a:r>
              <a:rPr lang="en-US" dirty="0">
                <a:solidFill>
                  <a:srgbClr val="FF0000"/>
                </a:solidFill>
              </a:rPr>
              <a:t>intensity over a geographical area.</a:t>
            </a:r>
          </a:p>
          <a:p>
            <a:pPr algn="just"/>
            <a:r>
              <a:rPr lang="en-US" b="1" dirty="0" err="1"/>
              <a:t>Choropleth</a:t>
            </a:r>
            <a:r>
              <a:rPr lang="en-US" b="1" dirty="0"/>
              <a:t> Maps:</a:t>
            </a:r>
            <a:r>
              <a:rPr lang="en-US" dirty="0"/>
              <a:t> Visualize </a:t>
            </a:r>
            <a:r>
              <a:rPr lang="en-US" dirty="0">
                <a:solidFill>
                  <a:srgbClr val="FF0000"/>
                </a:solidFill>
              </a:rPr>
              <a:t>region-specific data, such as population or election results.</a:t>
            </a:r>
          </a:p>
          <a:p>
            <a:pPr algn="just"/>
            <a:endParaRPr lang="en-US" dirty="0"/>
          </a:p>
        </p:txBody>
      </p:sp>
    </p:spTree>
    <p:extLst>
      <p:ext uri="{BB962C8B-B14F-4D97-AF65-F5344CB8AC3E}">
        <p14:creationId xmlns:p14="http://schemas.microsoft.com/office/powerpoint/2010/main" val="32033985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304800" y="1371600"/>
            <a:ext cx="8610600" cy="4953000"/>
          </a:xfrm>
        </p:spPr>
        <p:txBody>
          <a:bodyPr>
            <a:normAutofit fontScale="92500" lnSpcReduction="20000"/>
          </a:bodyPr>
          <a:lstStyle/>
          <a:p>
            <a:pPr marL="0" indent="0" algn="just">
              <a:buNone/>
            </a:pPr>
            <a:r>
              <a:rPr lang="en-US" b="1" dirty="0">
                <a:solidFill>
                  <a:schemeClr val="tx2"/>
                </a:solidFill>
              </a:rPr>
              <a:t>4. Tables</a:t>
            </a:r>
          </a:p>
          <a:p>
            <a:pPr algn="just"/>
            <a:r>
              <a:rPr lang="en-US" dirty="0"/>
              <a:t>Provide </a:t>
            </a:r>
            <a:r>
              <a:rPr lang="en-US" dirty="0">
                <a:solidFill>
                  <a:srgbClr val="FF0000"/>
                </a:solidFill>
              </a:rPr>
              <a:t>precise numerical data in a structured format</a:t>
            </a:r>
            <a:r>
              <a:rPr lang="en-US" dirty="0"/>
              <a:t>, great for detailed analysis.</a:t>
            </a:r>
          </a:p>
          <a:p>
            <a:pPr marL="0" indent="0" algn="just">
              <a:buNone/>
            </a:pPr>
            <a:r>
              <a:rPr lang="en-US" b="1" dirty="0">
                <a:solidFill>
                  <a:schemeClr val="tx2"/>
                </a:solidFill>
              </a:rPr>
              <a:t>5. </a:t>
            </a:r>
            <a:r>
              <a:rPr lang="en-US" b="1" dirty="0" err="1">
                <a:solidFill>
                  <a:schemeClr val="tx2"/>
                </a:solidFill>
              </a:rPr>
              <a:t>Infographics</a:t>
            </a:r>
            <a:endParaRPr lang="en-US" dirty="0">
              <a:solidFill>
                <a:schemeClr val="tx2"/>
              </a:solidFill>
            </a:endParaRPr>
          </a:p>
          <a:p>
            <a:pPr algn="just"/>
            <a:r>
              <a:rPr lang="en-US" dirty="0"/>
              <a:t>Combine </a:t>
            </a:r>
            <a:r>
              <a:rPr lang="en-US" dirty="0">
                <a:solidFill>
                  <a:srgbClr val="FF0000"/>
                </a:solidFill>
              </a:rPr>
              <a:t>multiple types of visualizations into a single, narrative-driven image </a:t>
            </a:r>
            <a:r>
              <a:rPr lang="en-US" dirty="0"/>
              <a:t>to engage and inform audiences.</a:t>
            </a:r>
          </a:p>
          <a:p>
            <a:pPr marL="0" indent="0" algn="just">
              <a:buNone/>
            </a:pPr>
            <a:r>
              <a:rPr lang="en-US" b="1" dirty="0">
                <a:solidFill>
                  <a:schemeClr val="tx2"/>
                </a:solidFill>
              </a:rPr>
              <a:t>6. Dashboards</a:t>
            </a:r>
            <a:endParaRPr lang="en-US" dirty="0">
              <a:solidFill>
                <a:schemeClr val="tx2"/>
              </a:solidFill>
            </a:endParaRPr>
          </a:p>
          <a:p>
            <a:pPr algn="just"/>
            <a:r>
              <a:rPr lang="en-US" dirty="0"/>
              <a:t>Interactive tools that </a:t>
            </a:r>
            <a:r>
              <a:rPr lang="en-US" dirty="0">
                <a:solidFill>
                  <a:srgbClr val="FF0000"/>
                </a:solidFill>
              </a:rPr>
              <a:t>integrate various visualizations to provide real-time insights</a:t>
            </a:r>
            <a:r>
              <a:rPr lang="en-US" dirty="0"/>
              <a:t>, commonly used in business analytics.</a:t>
            </a:r>
          </a:p>
          <a:p>
            <a:endParaRPr lang="en-US" dirty="0"/>
          </a:p>
        </p:txBody>
      </p:sp>
    </p:spTree>
    <p:extLst>
      <p:ext uri="{BB962C8B-B14F-4D97-AF65-F5344CB8AC3E}">
        <p14:creationId xmlns:p14="http://schemas.microsoft.com/office/powerpoint/2010/main" val="102585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Choosing the Right Visualization</a:t>
            </a:r>
            <a:r>
              <a:rPr lang="en-US" b="1" dirty="0" smtClean="0"/>
              <a:t/>
            </a:r>
            <a:br>
              <a:rPr lang="en-US" b="1" dirty="0" smtClean="0"/>
            </a:br>
            <a:endParaRPr lang="en-US" dirty="0"/>
          </a:p>
        </p:txBody>
      </p:sp>
      <p:sp>
        <p:nvSpPr>
          <p:cNvPr id="3" name="Content Placeholder 2"/>
          <p:cNvSpPr>
            <a:spLocks noGrp="1"/>
          </p:cNvSpPr>
          <p:nvPr>
            <p:ph idx="1"/>
          </p:nvPr>
        </p:nvSpPr>
        <p:spPr>
          <a:xfrm>
            <a:off x="457200" y="1219200"/>
            <a:ext cx="8229600" cy="4906963"/>
          </a:xfrm>
        </p:spPr>
        <p:txBody>
          <a:bodyPr/>
          <a:lstStyle/>
          <a:p>
            <a:pPr algn="just"/>
            <a:r>
              <a:rPr lang="en-US" dirty="0" smtClean="0"/>
              <a:t>The </a:t>
            </a:r>
            <a:r>
              <a:rPr lang="en-US" dirty="0"/>
              <a:t>effectiveness of your visualization depends on the </a:t>
            </a:r>
            <a:r>
              <a:rPr lang="en-US" b="1" dirty="0">
                <a:solidFill>
                  <a:srgbClr val="FF0000"/>
                </a:solidFill>
              </a:rPr>
              <a:t>type of data and the message </a:t>
            </a:r>
            <a:r>
              <a:rPr lang="en-US" dirty="0"/>
              <a:t>you want to convey.</a:t>
            </a:r>
          </a:p>
          <a:p>
            <a:pPr algn="just"/>
            <a:r>
              <a:rPr lang="en-US" b="1" dirty="0"/>
              <a:t>Comparative Analysis:</a:t>
            </a:r>
            <a:r>
              <a:rPr lang="en-US" dirty="0"/>
              <a:t> Bar or line charts.</a:t>
            </a:r>
          </a:p>
          <a:p>
            <a:pPr algn="just"/>
            <a:r>
              <a:rPr lang="en-US" b="1" dirty="0"/>
              <a:t>Relationship Analysis:</a:t>
            </a:r>
            <a:r>
              <a:rPr lang="en-US" dirty="0"/>
              <a:t> Scatter plots or bubble charts.</a:t>
            </a:r>
          </a:p>
          <a:p>
            <a:pPr algn="just"/>
            <a:r>
              <a:rPr lang="en-US" b="1" dirty="0"/>
              <a:t>Spatial Analysis:</a:t>
            </a:r>
            <a:r>
              <a:rPr lang="en-US" dirty="0"/>
              <a:t> Maps (heat or </a:t>
            </a:r>
            <a:r>
              <a:rPr lang="en-US" dirty="0" err="1"/>
              <a:t>choropleth</a:t>
            </a:r>
            <a:r>
              <a:rPr lang="en-US" dirty="0"/>
              <a:t>)</a:t>
            </a:r>
          </a:p>
          <a:p>
            <a:pPr algn="just"/>
            <a:endParaRPr lang="en-US" dirty="0"/>
          </a:p>
        </p:txBody>
      </p:sp>
    </p:spTree>
    <p:extLst>
      <p:ext uri="{BB962C8B-B14F-4D97-AF65-F5344CB8AC3E}">
        <p14:creationId xmlns:p14="http://schemas.microsoft.com/office/powerpoint/2010/main" val="28063873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Best Practices for Data Visualization</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304800" y="990600"/>
            <a:ext cx="8382000" cy="5486400"/>
          </a:xfrm>
        </p:spPr>
        <p:txBody>
          <a:bodyPr>
            <a:normAutofit/>
          </a:bodyPr>
          <a:lstStyle/>
          <a:p>
            <a:pPr algn="just"/>
            <a:r>
              <a:rPr lang="en-US" b="1" dirty="0" smtClean="0"/>
              <a:t>Know </a:t>
            </a:r>
            <a:r>
              <a:rPr lang="en-US" b="1" dirty="0"/>
              <a:t>your audience:</a:t>
            </a:r>
            <a:r>
              <a:rPr lang="en-US" dirty="0"/>
              <a:t> Tailor the visualization to their level of expertise.</a:t>
            </a:r>
          </a:p>
          <a:p>
            <a:pPr algn="just"/>
            <a:r>
              <a:rPr lang="en-US" b="1" dirty="0"/>
              <a:t>Keep it simple:</a:t>
            </a:r>
            <a:r>
              <a:rPr lang="en-US" dirty="0"/>
              <a:t> Avoid clutter; focus on key data points.</a:t>
            </a:r>
          </a:p>
          <a:p>
            <a:pPr algn="just"/>
            <a:r>
              <a:rPr lang="en-US" b="1" dirty="0"/>
              <a:t>Use appropriate scales:</a:t>
            </a:r>
            <a:r>
              <a:rPr lang="en-US" dirty="0"/>
              <a:t> Ensure axis scales accurately represent the data.</a:t>
            </a:r>
          </a:p>
          <a:p>
            <a:pPr algn="just"/>
            <a:r>
              <a:rPr lang="en-US" b="1" dirty="0"/>
              <a:t>Leverage colors effectively:</a:t>
            </a:r>
            <a:r>
              <a:rPr lang="en-US" dirty="0"/>
              <a:t> Use contrasting colors to highlight important insights.</a:t>
            </a:r>
          </a:p>
          <a:p>
            <a:endParaRPr lang="en-US" dirty="0"/>
          </a:p>
        </p:txBody>
      </p:sp>
    </p:spTree>
    <p:extLst>
      <p:ext uri="{BB962C8B-B14F-4D97-AF65-F5344CB8AC3E}">
        <p14:creationId xmlns:p14="http://schemas.microsoft.com/office/powerpoint/2010/main" val="13104716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Common Tools for Data Visualization</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lstStyle/>
          <a:p>
            <a:r>
              <a:rPr lang="en-US" b="1" dirty="0" smtClean="0"/>
              <a:t>Tableau</a:t>
            </a:r>
            <a:r>
              <a:rPr lang="en-US" b="1" dirty="0"/>
              <a:t>:</a:t>
            </a:r>
            <a:r>
              <a:rPr lang="en-US" dirty="0"/>
              <a:t> Great for interactive dashboards.</a:t>
            </a:r>
          </a:p>
          <a:p>
            <a:r>
              <a:rPr lang="en-US" b="1" dirty="0"/>
              <a:t>Power BI:</a:t>
            </a:r>
            <a:r>
              <a:rPr lang="en-US" dirty="0"/>
              <a:t> Ideal for integrating business analytics.</a:t>
            </a:r>
          </a:p>
          <a:p>
            <a:r>
              <a:rPr lang="en-US" b="1" dirty="0"/>
              <a:t>Google Data Studio:</a:t>
            </a:r>
            <a:r>
              <a:rPr lang="en-US" dirty="0"/>
              <a:t> Free and easy-to-use.</a:t>
            </a:r>
          </a:p>
          <a:p>
            <a:r>
              <a:rPr lang="en-US" b="1" dirty="0"/>
              <a:t>Excel:</a:t>
            </a:r>
            <a:r>
              <a:rPr lang="en-US" dirty="0"/>
              <a:t> Suitable for basic visualizations.</a:t>
            </a:r>
          </a:p>
        </p:txBody>
      </p:sp>
    </p:spTree>
    <p:extLst>
      <p:ext uri="{BB962C8B-B14F-4D97-AF65-F5344CB8AC3E}">
        <p14:creationId xmlns:p14="http://schemas.microsoft.com/office/powerpoint/2010/main" val="36725509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Emerging Trends in Data Visualization</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lgn="just"/>
            <a:r>
              <a:rPr lang="en-US" b="1" dirty="0" smtClean="0"/>
              <a:t>Interactive </a:t>
            </a:r>
            <a:r>
              <a:rPr lang="en-US" b="1" dirty="0"/>
              <a:t>Dashboards:</a:t>
            </a:r>
            <a:r>
              <a:rPr lang="en-US" dirty="0"/>
              <a:t> Allow real-time filtering and customization.</a:t>
            </a:r>
          </a:p>
          <a:p>
            <a:pPr algn="just"/>
            <a:r>
              <a:rPr lang="en-US" b="1" dirty="0"/>
              <a:t>AI-Driven Insights:</a:t>
            </a:r>
            <a:r>
              <a:rPr lang="en-US" dirty="0"/>
              <a:t> Automates pattern recognition.</a:t>
            </a:r>
          </a:p>
          <a:p>
            <a:pPr algn="just"/>
            <a:r>
              <a:rPr lang="en-US" b="1" dirty="0"/>
              <a:t>Augmented Reality (AR):</a:t>
            </a:r>
            <a:r>
              <a:rPr lang="en-US" dirty="0"/>
              <a:t> Offers immersive data visualization experiences.</a:t>
            </a:r>
          </a:p>
          <a:p>
            <a:pPr algn="just"/>
            <a:endParaRPr lang="en-US" dirty="0"/>
          </a:p>
        </p:txBody>
      </p:sp>
    </p:spTree>
    <p:extLst>
      <p:ext uri="{BB962C8B-B14F-4D97-AF65-F5344CB8AC3E}">
        <p14:creationId xmlns:p14="http://schemas.microsoft.com/office/powerpoint/2010/main" val="35340517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Types</a:t>
            </a:r>
            <a:endParaRPr lang="en-US" dirty="0"/>
          </a:p>
        </p:txBody>
      </p:sp>
      <p:sp>
        <p:nvSpPr>
          <p:cNvPr id="3" name="Content Placeholder 2"/>
          <p:cNvSpPr>
            <a:spLocks noGrp="1"/>
          </p:cNvSpPr>
          <p:nvPr>
            <p:ph idx="1"/>
          </p:nvPr>
        </p:nvSpPr>
        <p:spPr/>
        <p:txBody>
          <a:bodyPr>
            <a:normAutofit lnSpcReduction="10000"/>
          </a:bodyPr>
          <a:lstStyle/>
          <a:p>
            <a:pPr algn="just"/>
            <a:r>
              <a:rPr lang="en-US" b="1" dirty="0"/>
              <a:t>What are Data Types?</a:t>
            </a:r>
          </a:p>
          <a:p>
            <a:pPr algn="just"/>
            <a:r>
              <a:rPr lang="en-US" dirty="0"/>
              <a:t>The data type is a classification for data that determines </a:t>
            </a:r>
            <a:r>
              <a:rPr lang="en-US" dirty="0">
                <a:solidFill>
                  <a:srgbClr val="002060"/>
                </a:solidFill>
              </a:rPr>
              <a:t>how data can be used by programming languages and data analysis software. </a:t>
            </a:r>
            <a:endParaRPr lang="en-US" dirty="0" smtClean="0">
              <a:solidFill>
                <a:srgbClr val="002060"/>
              </a:solidFill>
            </a:endParaRPr>
          </a:p>
          <a:p>
            <a:pPr algn="just"/>
            <a:r>
              <a:rPr lang="en-US" dirty="0" smtClean="0"/>
              <a:t>Knowledge </a:t>
            </a:r>
            <a:r>
              <a:rPr lang="en-US" dirty="0"/>
              <a:t>of data types is </a:t>
            </a:r>
            <a:r>
              <a:rPr lang="en-US" dirty="0">
                <a:solidFill>
                  <a:srgbClr val="FF0000"/>
                </a:solidFill>
              </a:rPr>
              <a:t>fundamental to </a:t>
            </a:r>
            <a:r>
              <a:rPr lang="en-US" b="1" dirty="0">
                <a:solidFill>
                  <a:srgbClr val="FF0000"/>
                </a:solidFill>
              </a:rPr>
              <a:t>visualizing data</a:t>
            </a:r>
            <a:r>
              <a:rPr lang="en-US" b="1" dirty="0"/>
              <a:t> as the </a:t>
            </a:r>
            <a:r>
              <a:rPr lang="en-US" b="1" dirty="0">
                <a:solidFill>
                  <a:srgbClr val="00B050"/>
                </a:solidFill>
              </a:rPr>
              <a:t>type of data will affect the possible visualizations </a:t>
            </a:r>
            <a:r>
              <a:rPr lang="en-US" b="1" dirty="0"/>
              <a:t>which may be generated from that data</a:t>
            </a:r>
            <a:r>
              <a:rPr lang="en-US" dirty="0"/>
              <a:t>.</a:t>
            </a:r>
          </a:p>
          <a:p>
            <a:endParaRPr lang="en-US" dirty="0"/>
          </a:p>
        </p:txBody>
      </p:sp>
    </p:spTree>
    <p:extLst>
      <p:ext uri="{BB962C8B-B14F-4D97-AF65-F5344CB8AC3E}">
        <p14:creationId xmlns:p14="http://schemas.microsoft.com/office/powerpoint/2010/main" val="410928046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2296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73913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a:t>
            </a:r>
          </a:p>
        </p:txBody>
      </p:sp>
      <p:sp>
        <p:nvSpPr>
          <p:cNvPr id="3" name="Content Placeholder 2"/>
          <p:cNvSpPr>
            <a:spLocks noGrp="1"/>
          </p:cNvSpPr>
          <p:nvPr>
            <p:ph idx="1"/>
          </p:nvPr>
        </p:nvSpPr>
        <p:spPr>
          <a:xfrm>
            <a:off x="457200" y="1447800"/>
            <a:ext cx="8305800" cy="5105400"/>
          </a:xfrm>
        </p:spPr>
        <p:txBody>
          <a:bodyPr>
            <a:normAutofit fontScale="77500" lnSpcReduction="20000"/>
          </a:bodyPr>
          <a:lstStyle/>
          <a:p>
            <a:pPr algn="just"/>
            <a:r>
              <a:rPr lang="en-US" b="1" dirty="0" smtClean="0">
                <a:solidFill>
                  <a:srgbClr val="FF0000"/>
                </a:solidFill>
              </a:rPr>
              <a:t>i</a:t>
            </a:r>
            <a:r>
              <a:rPr lang="en-US" b="1" dirty="0">
                <a:solidFill>
                  <a:srgbClr val="FF0000"/>
                </a:solidFill>
              </a:rPr>
              <a:t>. CATEGORICAL DATA: </a:t>
            </a:r>
            <a:r>
              <a:rPr lang="en-US" dirty="0"/>
              <a:t>Categorical data represents characteristics. Therefore it can represent things like a person’s gender, language etc. Categorical data can also take on numerical values (Example: 1 for female and 0 for male). </a:t>
            </a:r>
            <a:endParaRPr lang="en-US" dirty="0" smtClean="0"/>
          </a:p>
          <a:p>
            <a:pPr algn="just"/>
            <a:endParaRPr lang="en-US" dirty="0" smtClean="0"/>
          </a:p>
          <a:p>
            <a:pPr algn="just"/>
            <a:r>
              <a:rPr lang="en-US" b="1" dirty="0" smtClean="0">
                <a:solidFill>
                  <a:srgbClr val="FF0000"/>
                </a:solidFill>
              </a:rPr>
              <a:t>ii</a:t>
            </a:r>
            <a:r>
              <a:rPr lang="en-US" b="1" dirty="0">
                <a:solidFill>
                  <a:srgbClr val="FF0000"/>
                </a:solidFill>
              </a:rPr>
              <a:t>. NOMINAL DATA</a:t>
            </a:r>
            <a:r>
              <a:rPr lang="en-US" dirty="0"/>
              <a:t>: </a:t>
            </a:r>
            <a:r>
              <a:rPr lang="en-US" dirty="0">
                <a:solidFill>
                  <a:srgbClr val="002060"/>
                </a:solidFill>
              </a:rPr>
              <a:t>Nominal values represent discrete units and are used to label variables, that have no quantitative value.</a:t>
            </a:r>
            <a:r>
              <a:rPr lang="en-US" dirty="0"/>
              <a:t> Nominal data that has no order. Therefore if you would change the order of its values, the meaning would not change. Example: Gender – Male/Female. To visualize nominal data you can use a pie chart or a bar chart. </a:t>
            </a:r>
            <a:endParaRPr lang="en-US" dirty="0" smtClean="0"/>
          </a:p>
          <a:p>
            <a:pPr algn="just"/>
            <a:endParaRPr lang="en-US" dirty="0" smtClean="0"/>
          </a:p>
          <a:p>
            <a:pPr algn="just"/>
            <a:r>
              <a:rPr lang="en-US" b="1" dirty="0" smtClean="0">
                <a:solidFill>
                  <a:srgbClr val="FF0000"/>
                </a:solidFill>
              </a:rPr>
              <a:t>iii</a:t>
            </a:r>
            <a:r>
              <a:rPr lang="en-US" b="1" dirty="0">
                <a:solidFill>
                  <a:srgbClr val="FF0000"/>
                </a:solidFill>
              </a:rPr>
              <a:t>. ORDINAL DATA</a:t>
            </a:r>
            <a:r>
              <a:rPr lang="en-US" dirty="0"/>
              <a:t>: </a:t>
            </a:r>
            <a:r>
              <a:rPr lang="en-US" dirty="0">
                <a:solidFill>
                  <a:srgbClr val="002060"/>
                </a:solidFill>
              </a:rPr>
              <a:t>Ordinal values represent discrete and ordered units.</a:t>
            </a:r>
            <a:r>
              <a:rPr lang="en-US" dirty="0"/>
              <a:t> It is therefore nearly the same as nominal data, except that it’s ordering matters.</a:t>
            </a:r>
          </a:p>
        </p:txBody>
      </p:sp>
    </p:spTree>
    <p:extLst>
      <p:ext uri="{BB962C8B-B14F-4D97-AF65-F5344CB8AC3E}">
        <p14:creationId xmlns:p14="http://schemas.microsoft.com/office/powerpoint/2010/main" val="16540671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457200" y="1524000"/>
            <a:ext cx="8229600" cy="4953000"/>
          </a:xfrm>
        </p:spPr>
        <p:txBody>
          <a:bodyPr>
            <a:normAutofit lnSpcReduction="10000"/>
          </a:bodyPr>
          <a:lstStyle/>
          <a:p>
            <a:pPr algn="just"/>
            <a:r>
              <a:rPr lang="en-US" dirty="0"/>
              <a:t>This is the main </a:t>
            </a:r>
            <a:r>
              <a:rPr lang="en-US" dirty="0" smtClean="0"/>
              <a:t>limitation </a:t>
            </a:r>
            <a:r>
              <a:rPr lang="en-US" dirty="0"/>
              <a:t>of </a:t>
            </a:r>
            <a:r>
              <a:rPr lang="en-US" dirty="0">
                <a:solidFill>
                  <a:srgbClr val="00B050"/>
                </a:solidFill>
              </a:rPr>
              <a:t>ordinal data, the differences between the values is not really known</a:t>
            </a:r>
            <a:r>
              <a:rPr lang="en-US" dirty="0"/>
              <a:t>. Because of that, ordinal scales are usually used to measure</a:t>
            </a:r>
            <a:r>
              <a:rPr lang="en-US" dirty="0">
                <a:solidFill>
                  <a:srgbClr val="00B050"/>
                </a:solidFill>
              </a:rPr>
              <a:t> non-numeric features </a:t>
            </a:r>
            <a:r>
              <a:rPr lang="en-US" dirty="0"/>
              <a:t>like happiness, customer satisfaction and so on. </a:t>
            </a:r>
            <a:endParaRPr lang="en-US" dirty="0" smtClean="0"/>
          </a:p>
          <a:p>
            <a:pPr algn="just"/>
            <a:r>
              <a:rPr lang="en-US" dirty="0" smtClean="0"/>
              <a:t>Example</a:t>
            </a:r>
            <a:r>
              <a:rPr lang="en-US" dirty="0"/>
              <a:t>: Educational Background – 1. Elementary 2. High School 3. Undergraduate 4. Postgraduate. Ordinal data can be visualized with pie and bar charts.</a:t>
            </a:r>
          </a:p>
        </p:txBody>
      </p:sp>
    </p:spTree>
    <p:extLst>
      <p:ext uri="{BB962C8B-B14F-4D97-AF65-F5344CB8AC3E}">
        <p14:creationId xmlns:p14="http://schemas.microsoft.com/office/powerpoint/2010/main" val="9695027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00200"/>
            <a:ext cx="8382000" cy="5257800"/>
          </a:xfrm>
        </p:spPr>
        <p:txBody>
          <a:bodyPr>
            <a:normAutofit fontScale="85000" lnSpcReduction="20000"/>
          </a:bodyPr>
          <a:lstStyle/>
          <a:p>
            <a:pPr marL="0" indent="0" algn="just">
              <a:buNone/>
            </a:pPr>
            <a:r>
              <a:rPr lang="en-US" b="1" dirty="0">
                <a:solidFill>
                  <a:srgbClr val="FF0000"/>
                </a:solidFill>
              </a:rPr>
              <a:t>iv. NUMERICAL DATA</a:t>
            </a:r>
            <a:r>
              <a:rPr lang="en-US" b="1" dirty="0" smtClean="0">
                <a:solidFill>
                  <a:srgbClr val="FF0000"/>
                </a:solidFill>
              </a:rPr>
              <a:t>:</a:t>
            </a:r>
          </a:p>
          <a:p>
            <a:pPr algn="just"/>
            <a:endParaRPr lang="en-US" dirty="0"/>
          </a:p>
          <a:p>
            <a:pPr algn="just"/>
            <a:r>
              <a:rPr lang="en-US" dirty="0" smtClean="0"/>
              <a:t> </a:t>
            </a:r>
            <a:r>
              <a:rPr lang="en-US" b="1" dirty="0" smtClean="0">
                <a:solidFill>
                  <a:srgbClr val="FF0000"/>
                </a:solidFill>
              </a:rPr>
              <a:t>DISCRETE </a:t>
            </a:r>
            <a:r>
              <a:rPr lang="en-US" b="1" dirty="0">
                <a:solidFill>
                  <a:srgbClr val="FF0000"/>
                </a:solidFill>
              </a:rPr>
              <a:t>DATA </a:t>
            </a:r>
            <a:r>
              <a:rPr lang="en-US" dirty="0"/>
              <a:t>- Discrete data means its values are distinct and separate. In other words, discrete data can only take on certain values. This type of data can’t be measured but it can be counted. </a:t>
            </a:r>
            <a:endParaRPr lang="en-US" dirty="0" smtClean="0"/>
          </a:p>
          <a:p>
            <a:pPr algn="just"/>
            <a:r>
              <a:rPr lang="en-US" dirty="0" smtClean="0"/>
              <a:t>Example</a:t>
            </a:r>
            <a:r>
              <a:rPr lang="en-US" dirty="0"/>
              <a:t>: </a:t>
            </a:r>
            <a:r>
              <a:rPr lang="en-US" dirty="0">
                <a:solidFill>
                  <a:srgbClr val="00B050"/>
                </a:solidFill>
              </a:rPr>
              <a:t>Number of heads in 100 coin flip</a:t>
            </a:r>
            <a:r>
              <a:rPr lang="en-US" dirty="0"/>
              <a:t>s</a:t>
            </a:r>
            <a:r>
              <a:rPr lang="en-US" dirty="0" smtClean="0"/>
              <a:t>.</a:t>
            </a:r>
          </a:p>
          <a:p>
            <a:pPr algn="just"/>
            <a:endParaRPr lang="en-US" dirty="0"/>
          </a:p>
          <a:p>
            <a:pPr algn="just"/>
            <a:r>
              <a:rPr lang="en-US" dirty="0" smtClean="0"/>
              <a:t> </a:t>
            </a:r>
            <a:r>
              <a:rPr lang="en-US" b="1" dirty="0" smtClean="0">
                <a:solidFill>
                  <a:srgbClr val="FF0000"/>
                </a:solidFill>
              </a:rPr>
              <a:t>CONTINUOUS </a:t>
            </a:r>
            <a:r>
              <a:rPr lang="en-US" b="1" dirty="0">
                <a:solidFill>
                  <a:srgbClr val="FF0000"/>
                </a:solidFill>
              </a:rPr>
              <a:t>DATA </a:t>
            </a:r>
            <a:r>
              <a:rPr lang="en-US" dirty="0"/>
              <a:t>- Continuous Data represents measurements and therefore their values can’t be counted but they can be measured</a:t>
            </a:r>
            <a:r>
              <a:rPr lang="en-US" dirty="0" smtClean="0"/>
              <a:t>.</a:t>
            </a:r>
          </a:p>
          <a:p>
            <a:pPr algn="just"/>
            <a:r>
              <a:rPr lang="en-US" dirty="0" smtClean="0"/>
              <a:t> </a:t>
            </a:r>
            <a:r>
              <a:rPr lang="en-US" dirty="0"/>
              <a:t>Example: </a:t>
            </a:r>
            <a:r>
              <a:rPr lang="en-US" dirty="0">
                <a:solidFill>
                  <a:srgbClr val="00B050"/>
                </a:solidFill>
              </a:rPr>
              <a:t>Height of a person</a:t>
            </a:r>
            <a:r>
              <a:rPr lang="en-US" dirty="0"/>
              <a:t>, which can be described by using intervals on the real number line. To visualize continuous data, you can use a histogram or a box-plot</a:t>
            </a:r>
          </a:p>
        </p:txBody>
      </p:sp>
    </p:spTree>
    <p:extLst>
      <p:ext uri="{BB962C8B-B14F-4D97-AF65-F5344CB8AC3E}">
        <p14:creationId xmlns:p14="http://schemas.microsoft.com/office/powerpoint/2010/main" val="38933068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Cont..</a:t>
            </a:r>
            <a:endParaRPr lang="en-US" dirty="0"/>
          </a:p>
        </p:txBody>
      </p:sp>
      <p:sp>
        <p:nvSpPr>
          <p:cNvPr id="3" name="Content Placeholder 2"/>
          <p:cNvSpPr>
            <a:spLocks noGrp="1"/>
          </p:cNvSpPr>
          <p:nvPr>
            <p:ph idx="1"/>
          </p:nvPr>
        </p:nvSpPr>
        <p:spPr>
          <a:xfrm>
            <a:off x="457200" y="1295400"/>
            <a:ext cx="8229600" cy="5562600"/>
          </a:xfrm>
        </p:spPr>
        <p:txBody>
          <a:bodyPr>
            <a:normAutofit fontScale="92500" lnSpcReduction="20000"/>
          </a:bodyPr>
          <a:lstStyle/>
          <a:p>
            <a:pPr algn="just"/>
            <a:r>
              <a:rPr lang="en-US" b="1" dirty="0">
                <a:solidFill>
                  <a:srgbClr val="FF0000"/>
                </a:solidFill>
              </a:rPr>
              <a:t>INTERVAL DATA </a:t>
            </a:r>
            <a:r>
              <a:rPr lang="en-US" dirty="0"/>
              <a:t>- Interval values represent ordered units that have the same difference. Therefore Interval data is used when we have a variable that contains numeric values that are ordered and where we know the exact differences between the values. </a:t>
            </a:r>
            <a:endParaRPr lang="en-US" dirty="0" smtClean="0"/>
          </a:p>
          <a:p>
            <a:pPr marL="0" indent="0" algn="just">
              <a:buNone/>
            </a:pPr>
            <a:r>
              <a:rPr lang="en-US" dirty="0" smtClean="0"/>
              <a:t>Example</a:t>
            </a:r>
            <a:r>
              <a:rPr lang="en-US" dirty="0"/>
              <a:t>: Temperature of a given place. </a:t>
            </a:r>
            <a:endParaRPr lang="en-US" dirty="0" smtClean="0"/>
          </a:p>
          <a:p>
            <a:pPr marL="0" indent="0" algn="just">
              <a:buNone/>
            </a:pPr>
            <a:endParaRPr lang="en-US" dirty="0" smtClean="0"/>
          </a:p>
          <a:p>
            <a:pPr algn="just"/>
            <a:r>
              <a:rPr lang="en-US" b="1" dirty="0" smtClean="0">
                <a:solidFill>
                  <a:srgbClr val="FF0000"/>
                </a:solidFill>
              </a:rPr>
              <a:t>RATIO </a:t>
            </a:r>
            <a:r>
              <a:rPr lang="en-US" b="1" dirty="0">
                <a:solidFill>
                  <a:srgbClr val="FF0000"/>
                </a:solidFill>
              </a:rPr>
              <a:t>DATA </a:t>
            </a:r>
            <a:r>
              <a:rPr lang="en-US" dirty="0"/>
              <a:t>- Ratio values are also ordered units that have the same difference. Ratio values are the same as interval values, with the difference that they do have an absolute zero. </a:t>
            </a:r>
            <a:endParaRPr lang="en-US" dirty="0" smtClean="0"/>
          </a:p>
          <a:p>
            <a:pPr marL="0" indent="0" algn="just">
              <a:buNone/>
            </a:pPr>
            <a:r>
              <a:rPr lang="en-US" dirty="0" smtClean="0"/>
              <a:t>Examples</a:t>
            </a:r>
            <a:r>
              <a:rPr lang="en-US" dirty="0"/>
              <a:t>: height, weight, length.</a:t>
            </a:r>
          </a:p>
        </p:txBody>
      </p:sp>
    </p:spTree>
    <p:extLst>
      <p:ext uri="{BB962C8B-B14F-4D97-AF65-F5344CB8AC3E}">
        <p14:creationId xmlns:p14="http://schemas.microsoft.com/office/powerpoint/2010/main" val="10229480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ENCODING</a:t>
            </a:r>
          </a:p>
        </p:txBody>
      </p:sp>
      <p:sp>
        <p:nvSpPr>
          <p:cNvPr id="3" name="Content Placeholder 2"/>
          <p:cNvSpPr>
            <a:spLocks noGrp="1"/>
          </p:cNvSpPr>
          <p:nvPr>
            <p:ph idx="1"/>
          </p:nvPr>
        </p:nvSpPr>
        <p:spPr>
          <a:xfrm>
            <a:off x="457200" y="1295400"/>
            <a:ext cx="8229600" cy="4830763"/>
          </a:xfrm>
        </p:spPr>
        <p:txBody>
          <a:bodyPr>
            <a:normAutofit/>
          </a:bodyPr>
          <a:lstStyle/>
          <a:p>
            <a:pPr algn="just"/>
            <a:r>
              <a:rPr lang="en-US" dirty="0" smtClean="0">
                <a:solidFill>
                  <a:srgbClr val="FF0000"/>
                </a:solidFill>
              </a:rPr>
              <a:t>Encoding </a:t>
            </a:r>
            <a:r>
              <a:rPr lang="en-US" dirty="0">
                <a:solidFill>
                  <a:srgbClr val="FF0000"/>
                </a:solidFill>
              </a:rPr>
              <a:t>in data visualization means translating the data into a visual element on a chart or map through </a:t>
            </a:r>
            <a:r>
              <a:rPr lang="en-US" dirty="0">
                <a:solidFill>
                  <a:srgbClr val="0070C0"/>
                </a:solidFill>
              </a:rPr>
              <a:t>position, shape, size, symbols and color. </a:t>
            </a:r>
            <a:endParaRPr lang="en-US" dirty="0" smtClean="0">
              <a:solidFill>
                <a:srgbClr val="0070C0"/>
              </a:solidFill>
            </a:endParaRPr>
          </a:p>
          <a:p>
            <a:pPr algn="just"/>
            <a:r>
              <a:rPr lang="en-US" dirty="0" smtClean="0"/>
              <a:t>Encoding </a:t>
            </a:r>
            <a:r>
              <a:rPr lang="en-US" dirty="0"/>
              <a:t>must be done correctly because only then users can understand what is shown in the map or chart. </a:t>
            </a:r>
            <a:endParaRPr lang="en-US" dirty="0" smtClean="0"/>
          </a:p>
          <a:p>
            <a:pPr algn="just"/>
            <a:r>
              <a:rPr lang="en-US" dirty="0" smtClean="0"/>
              <a:t>Most </a:t>
            </a:r>
            <a:r>
              <a:rPr lang="en-US" dirty="0"/>
              <a:t>visual relationships can be visually expressed with points, lines and bars.</a:t>
            </a:r>
          </a:p>
        </p:txBody>
      </p:sp>
    </p:spTree>
    <p:extLst>
      <p:ext uri="{BB962C8B-B14F-4D97-AF65-F5344CB8AC3E}">
        <p14:creationId xmlns:p14="http://schemas.microsoft.com/office/powerpoint/2010/main" val="296258875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457200" y="838200"/>
            <a:ext cx="8534400" cy="5791200"/>
          </a:xfrm>
        </p:spPr>
        <p:txBody>
          <a:bodyPr>
            <a:normAutofit fontScale="77500" lnSpcReduction="20000"/>
          </a:bodyPr>
          <a:lstStyle/>
          <a:p>
            <a:r>
              <a:rPr lang="en-US" dirty="0">
                <a:solidFill>
                  <a:srgbClr val="FF0000"/>
                </a:solidFill>
              </a:rPr>
              <a:t>Use of visual elements to represent data in a way that can be </a:t>
            </a:r>
            <a:r>
              <a:rPr lang="en-US" b="1" dirty="0">
                <a:solidFill>
                  <a:srgbClr val="00B050"/>
                </a:solidFill>
              </a:rPr>
              <a:t>easily understood and interpreted by the human eye</a:t>
            </a:r>
            <a:r>
              <a:rPr lang="en-US" dirty="0" smtClean="0"/>
              <a:t>.</a:t>
            </a:r>
          </a:p>
          <a:p>
            <a:r>
              <a:rPr lang="en-US" dirty="0" smtClean="0"/>
              <a:t>It </a:t>
            </a:r>
            <a:r>
              <a:rPr lang="en-US" dirty="0"/>
              <a:t>involves </a:t>
            </a:r>
            <a:r>
              <a:rPr lang="en-US" b="1" dirty="0">
                <a:solidFill>
                  <a:srgbClr val="FF0000"/>
                </a:solidFill>
              </a:rPr>
              <a:t>translating data values into visual properties</a:t>
            </a:r>
            <a:r>
              <a:rPr lang="en-US" dirty="0">
                <a:solidFill>
                  <a:srgbClr val="FF0000"/>
                </a:solidFill>
              </a:rPr>
              <a:t> </a:t>
            </a:r>
            <a:r>
              <a:rPr lang="en-US" dirty="0"/>
              <a:t>such as:</a:t>
            </a:r>
          </a:p>
          <a:p>
            <a:pPr>
              <a:buFont typeface="Wingdings" pitchFamily="2" charset="2"/>
              <a:buChar char="ü"/>
            </a:pPr>
            <a:r>
              <a:rPr lang="en-US" dirty="0"/>
              <a:t>Position (X, Y-axis)</a:t>
            </a:r>
          </a:p>
          <a:p>
            <a:pPr>
              <a:buFont typeface="Wingdings" pitchFamily="2" charset="2"/>
              <a:buChar char="ü"/>
            </a:pPr>
            <a:r>
              <a:rPr lang="en-US" dirty="0"/>
              <a:t>Size</a:t>
            </a:r>
          </a:p>
          <a:p>
            <a:pPr>
              <a:buFont typeface="Wingdings" pitchFamily="2" charset="2"/>
              <a:buChar char="ü"/>
            </a:pPr>
            <a:r>
              <a:rPr lang="en-US" dirty="0"/>
              <a:t>Color</a:t>
            </a:r>
          </a:p>
          <a:p>
            <a:pPr>
              <a:buFont typeface="Wingdings" pitchFamily="2" charset="2"/>
              <a:buChar char="ü"/>
            </a:pPr>
            <a:r>
              <a:rPr lang="en-US" dirty="0"/>
              <a:t>Shape</a:t>
            </a:r>
          </a:p>
          <a:p>
            <a:pPr>
              <a:buFont typeface="Wingdings" pitchFamily="2" charset="2"/>
              <a:buChar char="ü"/>
            </a:pPr>
            <a:r>
              <a:rPr lang="en-US" dirty="0"/>
              <a:t>Angle</a:t>
            </a:r>
          </a:p>
          <a:p>
            <a:pPr>
              <a:buFont typeface="Wingdings" pitchFamily="2" charset="2"/>
              <a:buChar char="ü"/>
            </a:pPr>
            <a:r>
              <a:rPr lang="en-US" dirty="0"/>
              <a:t>Length</a:t>
            </a:r>
          </a:p>
          <a:p>
            <a:pPr>
              <a:buFont typeface="Wingdings" pitchFamily="2" charset="2"/>
              <a:buChar char="ü"/>
            </a:pPr>
            <a:r>
              <a:rPr lang="en-US" sz="3100" dirty="0"/>
              <a:t>Orientation</a:t>
            </a:r>
          </a:p>
          <a:p>
            <a:pPr marL="571500" indent="-571500">
              <a:buFont typeface="+mj-lt"/>
              <a:buAutoNum type="romanLcPeriod"/>
            </a:pPr>
            <a:endParaRPr lang="en-US" dirty="0" smtClean="0"/>
          </a:p>
          <a:p>
            <a:r>
              <a:rPr lang="en-US" b="1" dirty="0"/>
              <a:t>Choosing Visual Encoding</a:t>
            </a:r>
          </a:p>
          <a:p>
            <a:r>
              <a:rPr lang="en-US" dirty="0"/>
              <a:t>The choice of visual encoding depends on:</a:t>
            </a:r>
            <a:br>
              <a:rPr lang="en-US" dirty="0"/>
            </a:br>
            <a:r>
              <a:rPr lang="en-US" dirty="0"/>
              <a:t>✅ The </a:t>
            </a:r>
            <a:r>
              <a:rPr lang="en-US" b="1" dirty="0"/>
              <a:t>type of data</a:t>
            </a:r>
            <a:r>
              <a:rPr lang="en-US" dirty="0"/>
              <a:t/>
            </a:r>
            <a:br>
              <a:rPr lang="en-US" dirty="0"/>
            </a:br>
            <a:r>
              <a:rPr lang="en-US" dirty="0"/>
              <a:t>✅ The </a:t>
            </a:r>
            <a:r>
              <a:rPr lang="en-US" b="1" dirty="0"/>
              <a:t>intended message</a:t>
            </a:r>
            <a:endParaRPr lang="en-US" dirty="0"/>
          </a:p>
          <a:p>
            <a:pPr marL="571500" indent="-571500">
              <a:buFont typeface="+mj-lt"/>
              <a:buAutoNum type="romanLcPeriod"/>
            </a:pPr>
            <a:endParaRPr lang="en-US" dirty="0"/>
          </a:p>
          <a:p>
            <a:endParaRPr lang="en-US" dirty="0"/>
          </a:p>
        </p:txBody>
      </p:sp>
    </p:spTree>
    <p:extLst>
      <p:ext uri="{BB962C8B-B14F-4D97-AF65-F5344CB8AC3E}">
        <p14:creationId xmlns:p14="http://schemas.microsoft.com/office/powerpoint/2010/main" val="5524657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rgbClr val="FF0000"/>
                </a:solidFill>
              </a:rPr>
              <a:t>Types of Data &amp; Recommended Encodings</a:t>
            </a:r>
            <a:r>
              <a:rPr lang="en-US" b="1" dirty="0"/>
              <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b="1" dirty="0" smtClean="0"/>
              <a:t>Quantitative </a:t>
            </a:r>
            <a:r>
              <a:rPr lang="en-US" b="1" dirty="0"/>
              <a:t>Data</a:t>
            </a:r>
            <a:endParaRPr lang="en-US" dirty="0"/>
          </a:p>
          <a:p>
            <a:pPr lvl="1"/>
            <a:r>
              <a:rPr lang="en-US" dirty="0"/>
              <a:t>Best encodings: </a:t>
            </a:r>
            <a:r>
              <a:rPr lang="en-US" b="1" dirty="0"/>
              <a:t>Position, Length, Angle, Area</a:t>
            </a:r>
            <a:endParaRPr lang="en-US" dirty="0"/>
          </a:p>
          <a:p>
            <a:r>
              <a:rPr lang="en-US" b="1" dirty="0"/>
              <a:t>Categorical Data</a:t>
            </a:r>
            <a:endParaRPr lang="en-US" dirty="0"/>
          </a:p>
          <a:p>
            <a:pPr lvl="1"/>
            <a:r>
              <a:rPr lang="en-US" dirty="0"/>
              <a:t>Best encodings: </a:t>
            </a:r>
            <a:r>
              <a:rPr lang="en-US" b="1" dirty="0"/>
              <a:t>Color (hue), Texture, Shape, Orientation</a:t>
            </a:r>
            <a:endParaRPr lang="en-US" dirty="0"/>
          </a:p>
          <a:p>
            <a:r>
              <a:rPr lang="en-US" b="1" dirty="0"/>
              <a:t>Highlighting</a:t>
            </a:r>
            <a:endParaRPr lang="en-US" dirty="0"/>
          </a:p>
          <a:p>
            <a:pPr lvl="1"/>
            <a:r>
              <a:rPr lang="en-US" dirty="0"/>
              <a:t>Use variations in:</a:t>
            </a:r>
          </a:p>
          <a:p>
            <a:pPr lvl="2"/>
            <a:r>
              <a:rPr lang="en-US" b="1" dirty="0" err="1"/>
              <a:t>Colour</a:t>
            </a:r>
            <a:r>
              <a:rPr lang="en-US" dirty="0"/>
              <a:t> (</a:t>
            </a:r>
            <a:r>
              <a:rPr lang="en-US" dirty="0" smtClean="0"/>
              <a:t>Saturation(completely filled) </a:t>
            </a:r>
            <a:r>
              <a:rPr lang="en-US" dirty="0"/>
              <a:t>and Lightness)</a:t>
            </a:r>
          </a:p>
          <a:p>
            <a:pPr lvl="2"/>
            <a:r>
              <a:rPr lang="en-US" b="1" dirty="0"/>
              <a:t>Size</a:t>
            </a:r>
            <a:endParaRPr lang="en-US" dirty="0"/>
          </a:p>
          <a:p>
            <a:endParaRPr lang="en-US" dirty="0"/>
          </a:p>
        </p:txBody>
      </p:sp>
    </p:spTree>
    <p:extLst>
      <p:ext uri="{BB962C8B-B14F-4D97-AF65-F5344CB8AC3E}">
        <p14:creationId xmlns:p14="http://schemas.microsoft.com/office/powerpoint/2010/main" val="40338437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Encoding</a:t>
            </a:r>
          </a:p>
        </p:txBody>
      </p:sp>
      <p:sp>
        <p:nvSpPr>
          <p:cNvPr id="3" name="Content Placeholder 2"/>
          <p:cNvSpPr>
            <a:spLocks noGrp="1"/>
          </p:cNvSpPr>
          <p:nvPr>
            <p:ph idx="1"/>
          </p:nvPr>
        </p:nvSpPr>
        <p:spPr>
          <a:xfrm>
            <a:off x="457200" y="1219200"/>
            <a:ext cx="8458200" cy="5257800"/>
          </a:xfrm>
        </p:spPr>
        <p:txBody>
          <a:bodyPr>
            <a:normAutofit fontScale="92500" lnSpcReduction="20000"/>
          </a:bodyPr>
          <a:lstStyle/>
          <a:p>
            <a:r>
              <a:rPr lang="en-US" b="1" dirty="0"/>
              <a:t>Data encoding</a:t>
            </a:r>
            <a:r>
              <a:rPr lang="en-US" dirty="0"/>
              <a:t> is the process of converting </a:t>
            </a:r>
            <a:r>
              <a:rPr lang="en-US" dirty="0">
                <a:solidFill>
                  <a:srgbClr val="FF0000"/>
                </a:solidFill>
              </a:rPr>
              <a:t>raw data into a visual format</a:t>
            </a:r>
            <a:r>
              <a:rPr lang="en-US" dirty="0"/>
              <a:t>. </a:t>
            </a:r>
            <a:endParaRPr lang="en-US" dirty="0" smtClean="0"/>
          </a:p>
          <a:p>
            <a:r>
              <a:rPr lang="en-US" dirty="0" smtClean="0"/>
              <a:t>It </a:t>
            </a:r>
            <a:r>
              <a:rPr lang="en-US" dirty="0"/>
              <a:t>helps in understanding patterns, trends, and relationships in the data</a:t>
            </a:r>
            <a:r>
              <a:rPr lang="en-US" dirty="0" smtClean="0"/>
              <a:t>.</a:t>
            </a:r>
          </a:p>
          <a:p>
            <a:r>
              <a:rPr lang="en-US" dirty="0"/>
              <a:t>We take </a:t>
            </a:r>
            <a:r>
              <a:rPr lang="en-US" b="1" dirty="0"/>
              <a:t>raw data</a:t>
            </a:r>
            <a:r>
              <a:rPr lang="en-US" dirty="0"/>
              <a:t> and map it to </a:t>
            </a:r>
            <a:r>
              <a:rPr lang="en-US" b="1" dirty="0"/>
              <a:t>visual properties</a:t>
            </a:r>
            <a:r>
              <a:rPr lang="en-US" dirty="0"/>
              <a:t> such as:</a:t>
            </a:r>
          </a:p>
          <a:p>
            <a:pPr>
              <a:buFont typeface="Wingdings" pitchFamily="2" charset="2"/>
              <a:buChar char="ü"/>
            </a:pPr>
            <a:r>
              <a:rPr lang="en-US" dirty="0">
                <a:solidFill>
                  <a:srgbClr val="FF0000"/>
                </a:solidFill>
              </a:rPr>
              <a:t>Position (X, Y-axis)</a:t>
            </a:r>
          </a:p>
          <a:p>
            <a:pPr>
              <a:buFont typeface="Wingdings" pitchFamily="2" charset="2"/>
              <a:buChar char="ü"/>
            </a:pPr>
            <a:r>
              <a:rPr lang="en-US" dirty="0">
                <a:solidFill>
                  <a:srgbClr val="FF0000"/>
                </a:solidFill>
              </a:rPr>
              <a:t>Size</a:t>
            </a:r>
          </a:p>
          <a:p>
            <a:pPr>
              <a:buFont typeface="Wingdings" pitchFamily="2" charset="2"/>
              <a:buChar char="ü"/>
            </a:pPr>
            <a:r>
              <a:rPr lang="en-US" dirty="0">
                <a:solidFill>
                  <a:srgbClr val="FF0000"/>
                </a:solidFill>
              </a:rPr>
              <a:t>Color</a:t>
            </a:r>
          </a:p>
          <a:p>
            <a:pPr>
              <a:buFont typeface="Wingdings" pitchFamily="2" charset="2"/>
              <a:buChar char="ü"/>
            </a:pPr>
            <a:r>
              <a:rPr lang="en-US" dirty="0">
                <a:solidFill>
                  <a:srgbClr val="FF0000"/>
                </a:solidFill>
              </a:rPr>
              <a:t>Shape</a:t>
            </a:r>
          </a:p>
          <a:p>
            <a:pPr>
              <a:buFont typeface="Wingdings" pitchFamily="2" charset="2"/>
              <a:buChar char="ü"/>
            </a:pPr>
            <a:r>
              <a:rPr lang="en-US" dirty="0">
                <a:solidFill>
                  <a:srgbClr val="FF0000"/>
                </a:solidFill>
              </a:rPr>
              <a:t>Angle</a:t>
            </a:r>
          </a:p>
          <a:p>
            <a:pPr>
              <a:buFont typeface="Wingdings" pitchFamily="2" charset="2"/>
              <a:buChar char="ü"/>
            </a:pPr>
            <a:r>
              <a:rPr lang="en-US" dirty="0">
                <a:solidFill>
                  <a:srgbClr val="FF0000"/>
                </a:solidFill>
              </a:rPr>
              <a:t>Length</a:t>
            </a:r>
          </a:p>
          <a:p>
            <a:endParaRPr lang="en-US" dirty="0"/>
          </a:p>
        </p:txBody>
      </p:sp>
    </p:spTree>
    <p:extLst>
      <p:ext uri="{BB962C8B-B14F-4D97-AF65-F5344CB8AC3E}">
        <p14:creationId xmlns:p14="http://schemas.microsoft.com/office/powerpoint/2010/main" val="3639515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a:solidFill>
                  <a:srgbClr val="FF0000"/>
                </a:solidFill>
              </a:rPr>
              <a:t>Visual encoding is the process of representing data visually using graphical elements such as position, size, shape, color, and texture. </a:t>
            </a:r>
            <a:endParaRPr lang="en-US" dirty="0" smtClean="0">
              <a:solidFill>
                <a:srgbClr val="FF0000"/>
              </a:solidFill>
            </a:endParaRPr>
          </a:p>
          <a:p>
            <a:r>
              <a:rPr lang="en-US" dirty="0" smtClean="0"/>
              <a:t>It </a:t>
            </a:r>
            <a:r>
              <a:rPr lang="en-US" dirty="0"/>
              <a:t>is a fundamental principle in data visualization, allowing complex information to be translated into visual formats that are easier to understand, compare, and analyze.</a:t>
            </a:r>
          </a:p>
        </p:txBody>
      </p:sp>
    </p:spTree>
    <p:extLst>
      <p:ext uri="{BB962C8B-B14F-4D97-AF65-F5344CB8AC3E}">
        <p14:creationId xmlns:p14="http://schemas.microsoft.com/office/powerpoint/2010/main" val="870520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fontScale="90000"/>
          </a:bodyPr>
          <a:lstStyle/>
          <a:p>
            <a:r>
              <a:rPr lang="en-US" dirty="0" smtClean="0"/>
              <a:t/>
            </a:r>
            <a:br>
              <a:rPr lang="en-US" dirty="0" smtClean="0"/>
            </a:br>
            <a:r>
              <a:rPr lang="en-US" dirty="0" smtClean="0">
                <a:solidFill>
                  <a:srgbClr val="FF0000"/>
                </a:solidFill>
              </a:rPr>
              <a:t>Key </a:t>
            </a:r>
            <a:r>
              <a:rPr lang="en-US" dirty="0">
                <a:solidFill>
                  <a:srgbClr val="FF0000"/>
                </a:solidFill>
              </a:rPr>
              <a:t>components of visual </a:t>
            </a:r>
            <a:r>
              <a:rPr lang="en-US" dirty="0" smtClean="0">
                <a:solidFill>
                  <a:srgbClr val="FF0000"/>
                </a:solidFill>
              </a:rPr>
              <a:t>encoding</a:t>
            </a:r>
            <a:r>
              <a:rPr lang="en-US" dirty="0"/>
              <a:t/>
            </a:r>
            <a:br>
              <a:rPr lang="en-US" dirty="0"/>
            </a:br>
            <a:endParaRPr lang="en-US" dirty="0"/>
          </a:p>
        </p:txBody>
      </p:sp>
      <p:sp>
        <p:nvSpPr>
          <p:cNvPr id="3" name="Content Placeholder 2"/>
          <p:cNvSpPr>
            <a:spLocks noGrp="1"/>
          </p:cNvSpPr>
          <p:nvPr>
            <p:ph idx="1"/>
          </p:nvPr>
        </p:nvSpPr>
        <p:spPr>
          <a:xfrm>
            <a:off x="457200" y="1371600"/>
            <a:ext cx="8458200" cy="5334000"/>
          </a:xfrm>
        </p:spPr>
        <p:txBody>
          <a:bodyPr>
            <a:normAutofit fontScale="70000" lnSpcReduction="20000"/>
          </a:bodyPr>
          <a:lstStyle/>
          <a:p>
            <a:pPr marL="0" indent="0">
              <a:buNone/>
            </a:pPr>
            <a:r>
              <a:rPr lang="en-US" b="1" dirty="0" smtClean="0"/>
              <a:t>1</a:t>
            </a:r>
            <a:r>
              <a:rPr lang="en-US" b="1" dirty="0"/>
              <a:t>.</a:t>
            </a:r>
            <a:r>
              <a:rPr lang="en-US" dirty="0">
                <a:solidFill>
                  <a:srgbClr val="FF0000"/>
                </a:solidFill>
              </a:rPr>
              <a:t> </a:t>
            </a:r>
            <a:r>
              <a:rPr lang="en-US" b="1" dirty="0">
                <a:solidFill>
                  <a:srgbClr val="FF0000"/>
                </a:solidFill>
              </a:rPr>
              <a:t>Position</a:t>
            </a:r>
            <a:r>
              <a:rPr lang="en-US" b="1" dirty="0"/>
              <a:t>:</a:t>
            </a:r>
            <a:r>
              <a:rPr lang="en-US" dirty="0"/>
              <a:t> The placement of data points on an axis, commonly used in scatter plots and line charts.</a:t>
            </a:r>
            <a:br>
              <a:rPr lang="en-US" dirty="0"/>
            </a:br>
            <a:r>
              <a:rPr lang="en-US" dirty="0"/>
              <a:t/>
            </a:r>
            <a:br>
              <a:rPr lang="en-US" dirty="0"/>
            </a:br>
            <a:r>
              <a:rPr lang="en-US" b="1" dirty="0" smtClean="0"/>
              <a:t>2</a:t>
            </a:r>
            <a:r>
              <a:rPr lang="en-US" b="1" dirty="0"/>
              <a:t>. </a:t>
            </a:r>
            <a:r>
              <a:rPr lang="en-US" b="1" dirty="0">
                <a:solidFill>
                  <a:srgbClr val="FF0000"/>
                </a:solidFill>
              </a:rPr>
              <a:t>Length: T</a:t>
            </a:r>
            <a:r>
              <a:rPr lang="en-US" dirty="0"/>
              <a:t>he size of bars or lines to indicate magnitude in bar charts and line graphs.</a:t>
            </a:r>
            <a:br>
              <a:rPr lang="en-US" dirty="0"/>
            </a:br>
            <a:endParaRPr lang="en-US" dirty="0"/>
          </a:p>
          <a:p>
            <a:pPr marL="0" indent="0">
              <a:buNone/>
            </a:pPr>
            <a:r>
              <a:rPr lang="en-US" b="1" dirty="0" smtClean="0"/>
              <a:t>3</a:t>
            </a:r>
            <a:r>
              <a:rPr lang="en-US" b="1" dirty="0"/>
              <a:t>. </a:t>
            </a:r>
            <a:r>
              <a:rPr lang="en-US" b="1" dirty="0">
                <a:solidFill>
                  <a:srgbClr val="FF0000"/>
                </a:solidFill>
              </a:rPr>
              <a:t>Angle:</a:t>
            </a:r>
            <a:r>
              <a:rPr lang="en-US" dirty="0">
                <a:solidFill>
                  <a:srgbClr val="FF0000"/>
                </a:solidFill>
              </a:rPr>
              <a:t> </a:t>
            </a:r>
            <a:r>
              <a:rPr lang="en-US" dirty="0"/>
              <a:t>Used in pie charts to represent proportional data.</a:t>
            </a:r>
          </a:p>
          <a:p>
            <a:pPr marL="0" indent="0">
              <a:buNone/>
            </a:pPr>
            <a:r>
              <a:rPr lang="en-US" dirty="0"/>
              <a:t/>
            </a:r>
            <a:br>
              <a:rPr lang="en-US" dirty="0"/>
            </a:br>
            <a:r>
              <a:rPr lang="en-US" b="1" dirty="0" smtClean="0"/>
              <a:t>4</a:t>
            </a:r>
            <a:r>
              <a:rPr lang="en-US" b="1" dirty="0"/>
              <a:t>.</a:t>
            </a:r>
            <a:r>
              <a:rPr lang="en-US" b="1" dirty="0">
                <a:solidFill>
                  <a:srgbClr val="FF0000"/>
                </a:solidFill>
              </a:rPr>
              <a:t> Area:</a:t>
            </a:r>
            <a:r>
              <a:rPr lang="en-US" dirty="0"/>
              <a:t> The size of a shape, such as bubbles in a bubble chart, to indicate quantitative values.</a:t>
            </a:r>
            <a:br>
              <a:rPr lang="en-US" dirty="0"/>
            </a:br>
            <a:r>
              <a:rPr lang="en-US" dirty="0"/>
              <a:t/>
            </a:r>
            <a:br>
              <a:rPr lang="en-US" dirty="0"/>
            </a:br>
            <a:r>
              <a:rPr lang="en-US" b="1" dirty="0"/>
              <a:t>5. </a:t>
            </a:r>
            <a:r>
              <a:rPr lang="en-US" b="1" dirty="0">
                <a:solidFill>
                  <a:srgbClr val="FF0000"/>
                </a:solidFill>
              </a:rPr>
              <a:t>Color:</a:t>
            </a:r>
            <a:r>
              <a:rPr lang="en-US" dirty="0"/>
              <a:t> Variations in hue, saturation, and brightness to distinguish categories or highlight differences.</a:t>
            </a:r>
            <a:br>
              <a:rPr lang="en-US" dirty="0"/>
            </a:br>
            <a:r>
              <a:rPr lang="en-US" dirty="0"/>
              <a:t/>
            </a:r>
            <a:br>
              <a:rPr lang="en-US" dirty="0"/>
            </a:br>
            <a:r>
              <a:rPr lang="en-US" b="1" dirty="0"/>
              <a:t>6. </a:t>
            </a:r>
            <a:r>
              <a:rPr lang="en-US" b="1" dirty="0">
                <a:solidFill>
                  <a:srgbClr val="FF0000"/>
                </a:solidFill>
              </a:rPr>
              <a:t>Shape:</a:t>
            </a:r>
            <a:r>
              <a:rPr lang="en-US" dirty="0"/>
              <a:t> Different geometric forms to differentiate data categories in scatter plots.</a:t>
            </a:r>
            <a:br>
              <a:rPr lang="en-US" dirty="0"/>
            </a:br>
            <a:r>
              <a:rPr lang="en-US" b="1" dirty="0" smtClean="0"/>
              <a:t>7</a:t>
            </a:r>
            <a:r>
              <a:rPr lang="en-US" b="1" dirty="0"/>
              <a:t>. </a:t>
            </a:r>
            <a:r>
              <a:rPr lang="en-US" b="1" dirty="0">
                <a:solidFill>
                  <a:srgbClr val="FF0000"/>
                </a:solidFill>
              </a:rPr>
              <a:t>Texture &amp; Pattern:</a:t>
            </a:r>
            <a:r>
              <a:rPr lang="en-US" dirty="0"/>
              <a:t>  Used to distinguish data when color differentiation is not sufficient or accessible.</a:t>
            </a:r>
          </a:p>
          <a:p>
            <a:endParaRPr lang="en-US" dirty="0"/>
          </a:p>
        </p:txBody>
      </p:sp>
    </p:spTree>
    <p:extLst>
      <p:ext uri="{BB962C8B-B14F-4D97-AF65-F5344CB8AC3E}">
        <p14:creationId xmlns:p14="http://schemas.microsoft.com/office/powerpoint/2010/main" val="35409462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t>Types</a:t>
            </a:r>
            <a:br>
              <a:rPr lang="en-US" b="1" dirty="0"/>
            </a:br>
            <a:endParaRPr lang="en-US" dirty="0"/>
          </a:p>
        </p:txBody>
      </p:sp>
      <p:sp>
        <p:nvSpPr>
          <p:cNvPr id="3" name="Content Placeholder 2"/>
          <p:cNvSpPr>
            <a:spLocks noGrp="1"/>
          </p:cNvSpPr>
          <p:nvPr>
            <p:ph idx="1"/>
          </p:nvPr>
        </p:nvSpPr>
        <p:spPr>
          <a:xfrm>
            <a:off x="457200" y="990600"/>
            <a:ext cx="8534400" cy="6172200"/>
          </a:xfrm>
        </p:spPr>
        <p:txBody>
          <a:bodyPr>
            <a:normAutofit fontScale="77500" lnSpcReduction="20000"/>
          </a:bodyPr>
          <a:lstStyle/>
          <a:p>
            <a:pPr marL="0" indent="0">
              <a:buNone/>
            </a:pPr>
            <a:r>
              <a:rPr lang="en-US" dirty="0" smtClean="0"/>
              <a:t>There </a:t>
            </a:r>
            <a:r>
              <a:rPr lang="en-US" dirty="0"/>
              <a:t>are several types of visual encoding techniques, each serving different purposes depending on the type of data being represented</a:t>
            </a:r>
            <a:r>
              <a:rPr lang="en-US" dirty="0" smtClean="0"/>
              <a:t>:</a:t>
            </a:r>
          </a:p>
          <a:p>
            <a:pPr marL="0" indent="0">
              <a:buNone/>
            </a:pPr>
            <a:endParaRPr lang="en-US" dirty="0"/>
          </a:p>
          <a:p>
            <a:pPr marL="0" indent="0">
              <a:buNone/>
            </a:pPr>
            <a:r>
              <a:rPr lang="en-US" b="1" dirty="0"/>
              <a:t>1. </a:t>
            </a:r>
            <a:r>
              <a:rPr lang="en-US" b="1" dirty="0">
                <a:solidFill>
                  <a:srgbClr val="FF0000"/>
                </a:solidFill>
              </a:rPr>
              <a:t>Categorical Encoding:</a:t>
            </a:r>
            <a:r>
              <a:rPr lang="en-US" b="1" dirty="0"/>
              <a:t> </a:t>
            </a:r>
            <a:r>
              <a:rPr lang="en-US" dirty="0"/>
              <a:t>Used to differentiate between discrete groups or categories. </a:t>
            </a:r>
            <a:br>
              <a:rPr lang="en-US" dirty="0"/>
            </a:br>
            <a:r>
              <a:rPr lang="en-US" dirty="0"/>
              <a:t/>
            </a:r>
            <a:br>
              <a:rPr lang="en-US" dirty="0"/>
            </a:br>
            <a:r>
              <a:rPr lang="en-US" b="1" dirty="0" smtClean="0"/>
              <a:t>2</a:t>
            </a:r>
            <a:r>
              <a:rPr lang="en-US" b="1" dirty="0"/>
              <a:t>. </a:t>
            </a:r>
            <a:r>
              <a:rPr lang="en-US" b="1" dirty="0">
                <a:solidFill>
                  <a:srgbClr val="FF0000"/>
                </a:solidFill>
              </a:rPr>
              <a:t>Quantitative Encoding</a:t>
            </a:r>
            <a:r>
              <a:rPr lang="en-US" b="1" dirty="0"/>
              <a:t>:</a:t>
            </a:r>
            <a:r>
              <a:rPr lang="en-US" dirty="0"/>
              <a:t> Represents numerical values, making comparisons easier.</a:t>
            </a:r>
            <a:br>
              <a:rPr lang="en-US" dirty="0"/>
            </a:br>
            <a:r>
              <a:rPr lang="en-US" dirty="0"/>
              <a:t/>
            </a:r>
            <a:br>
              <a:rPr lang="en-US" dirty="0"/>
            </a:br>
            <a:r>
              <a:rPr lang="en-US" b="1" dirty="0" smtClean="0"/>
              <a:t>3</a:t>
            </a:r>
            <a:r>
              <a:rPr lang="en-US" b="1" dirty="0"/>
              <a:t>. </a:t>
            </a:r>
            <a:r>
              <a:rPr lang="en-US" b="1" dirty="0">
                <a:solidFill>
                  <a:srgbClr val="FF0000"/>
                </a:solidFill>
              </a:rPr>
              <a:t>Spatial Encoding</a:t>
            </a:r>
            <a:r>
              <a:rPr lang="en-US" b="1" dirty="0"/>
              <a:t>:</a:t>
            </a:r>
            <a:r>
              <a:rPr lang="en-US" dirty="0"/>
              <a:t> Uses position to represent relationships between data points</a:t>
            </a:r>
            <a:r>
              <a:rPr lang="en-US" dirty="0" smtClean="0"/>
              <a:t>.</a:t>
            </a:r>
          </a:p>
          <a:p>
            <a:pPr marL="0" indent="0">
              <a:buNone/>
            </a:pPr>
            <a:r>
              <a:rPr lang="en-US" dirty="0"/>
              <a:t> </a:t>
            </a:r>
          </a:p>
          <a:p>
            <a:pPr marL="0" indent="0">
              <a:buNone/>
            </a:pPr>
            <a:r>
              <a:rPr lang="en-US" b="1" dirty="0"/>
              <a:t>4. </a:t>
            </a:r>
            <a:r>
              <a:rPr lang="en-US" b="1" dirty="0">
                <a:solidFill>
                  <a:srgbClr val="FF0000"/>
                </a:solidFill>
              </a:rPr>
              <a:t>Temporal Encoding</a:t>
            </a:r>
            <a:r>
              <a:rPr lang="en-US" b="1" dirty="0"/>
              <a:t>:</a:t>
            </a:r>
            <a:r>
              <a:rPr lang="en-US" dirty="0"/>
              <a:t> Represents time-based changes and trends.</a:t>
            </a:r>
            <a:br>
              <a:rPr lang="en-US" dirty="0"/>
            </a:br>
            <a:endParaRPr lang="en-US" dirty="0"/>
          </a:p>
          <a:p>
            <a:pPr marL="0" indent="0">
              <a:buNone/>
            </a:pPr>
            <a:r>
              <a:rPr lang="en-US" b="1" dirty="0"/>
              <a:t>5. </a:t>
            </a:r>
            <a:r>
              <a:rPr lang="en-US" b="1" dirty="0">
                <a:solidFill>
                  <a:srgbClr val="FF0000"/>
                </a:solidFill>
              </a:rPr>
              <a:t>Hierarchical Encoding:</a:t>
            </a:r>
            <a:r>
              <a:rPr lang="en-US" dirty="0"/>
              <a:t> Organizes data into structured layers</a:t>
            </a:r>
          </a:p>
          <a:p>
            <a:pPr marL="0" indent="0">
              <a:buNone/>
            </a:pPr>
            <a:endParaRPr lang="en-US" dirty="0"/>
          </a:p>
        </p:txBody>
      </p:sp>
    </p:spTree>
    <p:extLst>
      <p:ext uri="{BB962C8B-B14F-4D97-AF65-F5344CB8AC3E}">
        <p14:creationId xmlns:p14="http://schemas.microsoft.com/office/powerpoint/2010/main" val="3026806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Examples of Visual Encoding</a:t>
            </a:r>
            <a:br>
              <a:rPr lang="en-US" b="1" dirty="0"/>
            </a:br>
            <a:endParaRPr lang="en-US" dirty="0"/>
          </a:p>
        </p:txBody>
      </p:sp>
      <p:sp>
        <p:nvSpPr>
          <p:cNvPr id="3" name="Content Placeholder 2"/>
          <p:cNvSpPr>
            <a:spLocks noGrp="1"/>
          </p:cNvSpPr>
          <p:nvPr>
            <p:ph idx="1"/>
          </p:nvPr>
        </p:nvSpPr>
        <p:spPr>
          <a:xfrm>
            <a:off x="457200" y="914400"/>
            <a:ext cx="8458200" cy="5943600"/>
          </a:xfrm>
        </p:spPr>
        <p:txBody>
          <a:bodyPr>
            <a:normAutofit fontScale="70000" lnSpcReduction="20000"/>
          </a:bodyPr>
          <a:lstStyle/>
          <a:p>
            <a:pPr marL="0" indent="0">
              <a:buNone/>
            </a:pPr>
            <a:r>
              <a:rPr lang="en-US" dirty="0" smtClean="0"/>
              <a:t>Visual </a:t>
            </a:r>
            <a:r>
              <a:rPr lang="en-US" dirty="0"/>
              <a:t>encoding is used across industries to make data more interpretable and actionable. Some notable examples include</a:t>
            </a:r>
            <a:r>
              <a:rPr lang="en-US" dirty="0" smtClean="0"/>
              <a:t>:</a:t>
            </a:r>
          </a:p>
          <a:p>
            <a:pPr marL="0" indent="0">
              <a:buNone/>
            </a:pPr>
            <a:endParaRPr lang="en-US" dirty="0"/>
          </a:p>
          <a:p>
            <a:pPr marL="0" indent="0">
              <a:buNone/>
            </a:pPr>
            <a:r>
              <a:rPr lang="en-US" b="1" dirty="0"/>
              <a:t>1. </a:t>
            </a:r>
            <a:r>
              <a:rPr lang="en-US" dirty="0">
                <a:solidFill>
                  <a:srgbClr val="FF0000"/>
                </a:solidFill>
              </a:rPr>
              <a:t>Stock Market Analysis</a:t>
            </a:r>
            <a:r>
              <a:rPr lang="en-US" b="1" dirty="0">
                <a:solidFill>
                  <a:srgbClr val="FF0000"/>
                </a:solidFill>
              </a:rPr>
              <a:t>:</a:t>
            </a:r>
            <a:r>
              <a:rPr lang="en-US" dirty="0"/>
              <a:t> Candlestick charts use color, position, and shape to indicate market trends and volatility.</a:t>
            </a:r>
            <a:br>
              <a:rPr lang="en-US" dirty="0"/>
            </a:br>
            <a:endParaRPr lang="en-US" dirty="0"/>
          </a:p>
          <a:p>
            <a:pPr marL="0" indent="0">
              <a:buNone/>
            </a:pPr>
            <a:r>
              <a:rPr lang="en-US" b="1" dirty="0" smtClean="0"/>
              <a:t>2</a:t>
            </a:r>
            <a:r>
              <a:rPr lang="en-US" b="1" dirty="0"/>
              <a:t>.</a:t>
            </a:r>
            <a:r>
              <a:rPr lang="en-US" dirty="0"/>
              <a:t> </a:t>
            </a:r>
            <a:r>
              <a:rPr lang="en-US" dirty="0">
                <a:solidFill>
                  <a:srgbClr val="FF0000"/>
                </a:solidFill>
              </a:rPr>
              <a:t>COVID-19 Heat Maps</a:t>
            </a:r>
            <a:r>
              <a:rPr lang="en-US" b="1" dirty="0">
                <a:solidFill>
                  <a:srgbClr val="FF0000"/>
                </a:solidFill>
              </a:rPr>
              <a:t>:</a:t>
            </a:r>
            <a:r>
              <a:rPr lang="en-US" dirty="0"/>
              <a:t> Color gradients represent infection rates across different regions, helping policymakers allocate resources.</a:t>
            </a:r>
            <a:br>
              <a:rPr lang="en-US" dirty="0"/>
            </a:br>
            <a:endParaRPr lang="en-US" dirty="0"/>
          </a:p>
          <a:p>
            <a:pPr marL="0" indent="0">
              <a:buNone/>
            </a:pPr>
            <a:r>
              <a:rPr lang="en-US" b="1" dirty="0"/>
              <a:t>3. </a:t>
            </a:r>
            <a:r>
              <a:rPr lang="en-US" dirty="0">
                <a:solidFill>
                  <a:srgbClr val="FF0000"/>
                </a:solidFill>
              </a:rPr>
              <a:t>Election Maps</a:t>
            </a:r>
            <a:r>
              <a:rPr lang="en-US" b="1" dirty="0">
                <a:solidFill>
                  <a:srgbClr val="FF0000"/>
                </a:solidFill>
              </a:rPr>
              <a:t>:</a:t>
            </a:r>
            <a:r>
              <a:rPr lang="en-US" dirty="0"/>
              <a:t> Political affiliations are encoded with colors, with intensity indicating voter margins.</a:t>
            </a:r>
          </a:p>
          <a:p>
            <a:pPr marL="0" indent="0">
              <a:buNone/>
            </a:pPr>
            <a:endParaRPr lang="en-US" dirty="0">
              <a:solidFill>
                <a:srgbClr val="FF0000"/>
              </a:solidFill>
            </a:endParaRPr>
          </a:p>
          <a:p>
            <a:pPr marL="0" indent="0">
              <a:buNone/>
            </a:pPr>
            <a:r>
              <a:rPr lang="en-US" dirty="0">
                <a:solidFill>
                  <a:srgbClr val="FF0000"/>
                </a:solidFill>
              </a:rPr>
              <a:t>4. Sports Performance Analysis:</a:t>
            </a:r>
            <a:r>
              <a:rPr lang="en-US" dirty="0"/>
              <a:t> Player statistics are visualized using radar charts, encoding multiple performance metrics.</a:t>
            </a:r>
          </a:p>
          <a:p>
            <a:pPr marL="0" indent="0">
              <a:buNone/>
            </a:pPr>
            <a:r>
              <a:rPr lang="en-US" dirty="0">
                <a:solidFill>
                  <a:srgbClr val="FF0000"/>
                </a:solidFill>
              </a:rPr>
              <a:t/>
            </a:r>
            <a:br>
              <a:rPr lang="en-US" dirty="0">
                <a:solidFill>
                  <a:srgbClr val="FF0000"/>
                </a:solidFill>
              </a:rPr>
            </a:br>
            <a:r>
              <a:rPr lang="en-US" b="1" dirty="0" smtClean="0">
                <a:solidFill>
                  <a:srgbClr val="FF0000"/>
                </a:solidFill>
              </a:rPr>
              <a:t>5</a:t>
            </a:r>
            <a:r>
              <a:rPr lang="en-US" b="1" dirty="0">
                <a:solidFill>
                  <a:srgbClr val="FF0000"/>
                </a:solidFill>
              </a:rPr>
              <a:t>. </a:t>
            </a:r>
            <a:r>
              <a:rPr lang="en-US" dirty="0">
                <a:solidFill>
                  <a:srgbClr val="FF0000"/>
                </a:solidFill>
              </a:rPr>
              <a:t>E-commerce &amp; Sales Dashboards</a:t>
            </a:r>
            <a:r>
              <a:rPr lang="en-US" b="1" dirty="0">
                <a:solidFill>
                  <a:srgbClr val="FF0000"/>
                </a:solidFill>
              </a:rPr>
              <a:t>:</a:t>
            </a:r>
            <a:r>
              <a:rPr lang="en-US" dirty="0"/>
              <a:t> Bar charts, heat maps, and trend lines help businesses analyze customer behavior and revenue trends.</a:t>
            </a:r>
            <a:br>
              <a:rPr lang="en-US" dirty="0"/>
            </a:br>
            <a:r>
              <a:rPr lang="en-US" dirty="0"/>
              <a:t/>
            </a:r>
            <a:br>
              <a:rPr lang="en-US" dirty="0"/>
            </a:br>
            <a:r>
              <a:rPr lang="en-US" b="1" dirty="0"/>
              <a:t>6. </a:t>
            </a:r>
            <a:r>
              <a:rPr lang="en-US" dirty="0">
                <a:solidFill>
                  <a:srgbClr val="FF0000"/>
                </a:solidFill>
              </a:rPr>
              <a:t>Air Traffic Control Systems</a:t>
            </a:r>
            <a:r>
              <a:rPr lang="en-US" b="1" dirty="0">
                <a:solidFill>
                  <a:srgbClr val="FF0000"/>
                </a:solidFill>
              </a:rPr>
              <a:t>:</a:t>
            </a:r>
            <a:r>
              <a:rPr lang="en-US" dirty="0"/>
              <a:t> Spatial encoding is used to track aircraft positions, ensuring safe navigation</a:t>
            </a:r>
            <a:r>
              <a:rPr lang="en-US" dirty="0" smtClean="0"/>
              <a:t>.</a:t>
            </a:r>
            <a:endParaRPr lang="en-US" dirty="0"/>
          </a:p>
        </p:txBody>
      </p:sp>
    </p:spTree>
    <p:extLst>
      <p:ext uri="{BB962C8B-B14F-4D97-AF65-F5344CB8AC3E}">
        <p14:creationId xmlns:p14="http://schemas.microsoft.com/office/powerpoint/2010/main" val="3325277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14988048"/>
              </p:ext>
            </p:extLst>
          </p:nvPr>
        </p:nvGraphicFramePr>
        <p:xfrm>
          <a:off x="304800" y="2118360"/>
          <a:ext cx="8229600" cy="1463040"/>
        </p:xfrm>
        <a:graphic>
          <a:graphicData uri="http://schemas.openxmlformats.org/drawingml/2006/table">
            <a:tbl>
              <a:tblPr/>
              <a:tblGrid>
                <a:gridCol w="4114800"/>
                <a:gridCol w="4114800"/>
              </a:tblGrid>
              <a:tr h="0">
                <a:tc>
                  <a:txBody>
                    <a:bodyPr/>
                    <a:lstStyle/>
                    <a:p>
                      <a:r>
                        <a:rPr lang="en-US" b="1" dirty="0"/>
                        <a:t>Product</a:t>
                      </a:r>
                    </a:p>
                  </a:txBody>
                  <a:tcPr anchor="ctr">
                    <a:lnL>
                      <a:noFill/>
                    </a:lnL>
                    <a:lnR>
                      <a:noFill/>
                    </a:lnR>
                    <a:lnT>
                      <a:noFill/>
                    </a:lnT>
                    <a:lnB>
                      <a:noFill/>
                    </a:lnB>
                    <a:solidFill>
                      <a:schemeClr val="accent2"/>
                    </a:solidFill>
                  </a:tcPr>
                </a:tc>
                <a:tc>
                  <a:txBody>
                    <a:bodyPr/>
                    <a:lstStyle/>
                    <a:p>
                      <a:r>
                        <a:rPr lang="en-US" b="1" dirty="0"/>
                        <a:t>Sales ($)</a:t>
                      </a:r>
                    </a:p>
                  </a:txBody>
                  <a:tcPr anchor="ctr">
                    <a:lnL>
                      <a:noFill/>
                    </a:lnL>
                    <a:lnR>
                      <a:noFill/>
                    </a:lnR>
                    <a:lnT>
                      <a:noFill/>
                    </a:lnT>
                    <a:lnB>
                      <a:noFill/>
                    </a:lnB>
                    <a:solidFill>
                      <a:schemeClr val="accent2"/>
                    </a:solidFill>
                  </a:tcPr>
                </a:tc>
              </a:tr>
              <a:tr h="0">
                <a:tc>
                  <a:txBody>
                    <a:bodyPr/>
                    <a:lstStyle/>
                    <a:p>
                      <a:r>
                        <a:rPr lang="en-US" dirty="0"/>
                        <a:t>Product A</a:t>
                      </a:r>
                    </a:p>
                  </a:txBody>
                  <a:tcPr anchor="ctr">
                    <a:lnL>
                      <a:noFill/>
                    </a:lnL>
                    <a:lnR>
                      <a:noFill/>
                    </a:lnR>
                    <a:lnT>
                      <a:noFill/>
                    </a:lnT>
                    <a:lnB>
                      <a:noFill/>
                    </a:lnB>
                    <a:solidFill>
                      <a:schemeClr val="accent2"/>
                    </a:solidFill>
                  </a:tcPr>
                </a:tc>
                <a:tc>
                  <a:txBody>
                    <a:bodyPr/>
                    <a:lstStyle/>
                    <a:p>
                      <a:r>
                        <a:rPr lang="en-US"/>
                        <a:t>50,000</a:t>
                      </a:r>
                    </a:p>
                  </a:txBody>
                  <a:tcPr anchor="ctr">
                    <a:lnL>
                      <a:noFill/>
                    </a:lnL>
                    <a:lnR>
                      <a:noFill/>
                    </a:lnR>
                    <a:lnT>
                      <a:noFill/>
                    </a:lnT>
                    <a:lnB>
                      <a:noFill/>
                    </a:lnB>
                    <a:solidFill>
                      <a:schemeClr val="accent2"/>
                    </a:solidFill>
                  </a:tcPr>
                </a:tc>
              </a:tr>
              <a:tr h="0">
                <a:tc>
                  <a:txBody>
                    <a:bodyPr/>
                    <a:lstStyle/>
                    <a:p>
                      <a:r>
                        <a:rPr lang="en-US" dirty="0"/>
                        <a:t>Product B</a:t>
                      </a:r>
                    </a:p>
                  </a:txBody>
                  <a:tcPr anchor="ctr">
                    <a:lnL>
                      <a:noFill/>
                    </a:lnL>
                    <a:lnR>
                      <a:noFill/>
                    </a:lnR>
                    <a:lnT>
                      <a:noFill/>
                    </a:lnT>
                    <a:lnB>
                      <a:noFill/>
                    </a:lnB>
                    <a:solidFill>
                      <a:schemeClr val="accent2"/>
                    </a:solidFill>
                  </a:tcPr>
                </a:tc>
                <a:tc>
                  <a:txBody>
                    <a:bodyPr/>
                    <a:lstStyle/>
                    <a:p>
                      <a:r>
                        <a:rPr lang="en-US"/>
                        <a:t>75,000</a:t>
                      </a:r>
                    </a:p>
                  </a:txBody>
                  <a:tcPr anchor="ctr">
                    <a:lnL>
                      <a:noFill/>
                    </a:lnL>
                    <a:lnR>
                      <a:noFill/>
                    </a:lnR>
                    <a:lnT>
                      <a:noFill/>
                    </a:lnT>
                    <a:lnB>
                      <a:noFill/>
                    </a:lnB>
                    <a:solidFill>
                      <a:schemeClr val="accent2"/>
                    </a:solidFill>
                  </a:tcPr>
                </a:tc>
              </a:tr>
              <a:tr h="357822">
                <a:tc>
                  <a:txBody>
                    <a:bodyPr/>
                    <a:lstStyle/>
                    <a:p>
                      <a:r>
                        <a:rPr lang="en-US" dirty="0"/>
                        <a:t>Product C</a:t>
                      </a:r>
                    </a:p>
                  </a:txBody>
                  <a:tcPr anchor="ctr">
                    <a:lnL>
                      <a:noFill/>
                    </a:lnL>
                    <a:lnR>
                      <a:noFill/>
                    </a:lnR>
                    <a:lnT>
                      <a:noFill/>
                    </a:lnT>
                    <a:lnB>
                      <a:noFill/>
                    </a:lnB>
                    <a:solidFill>
                      <a:schemeClr val="accent2"/>
                    </a:solidFill>
                  </a:tcPr>
                </a:tc>
                <a:tc>
                  <a:txBody>
                    <a:bodyPr/>
                    <a:lstStyle/>
                    <a:p>
                      <a:r>
                        <a:rPr lang="en-US" dirty="0"/>
                        <a:t>40,000</a:t>
                      </a:r>
                    </a:p>
                  </a:txBody>
                  <a:tcPr anchor="ctr">
                    <a:lnL>
                      <a:noFill/>
                    </a:lnL>
                    <a:lnR>
                      <a:noFill/>
                    </a:lnR>
                    <a:lnT>
                      <a:noFill/>
                    </a:lnT>
                    <a:lnB>
                      <a:noFill/>
                    </a:lnB>
                    <a:solidFill>
                      <a:schemeClr val="accent2"/>
                    </a:solidFill>
                  </a:tcPr>
                </a:tc>
              </a:tr>
            </a:tbl>
          </a:graphicData>
        </a:graphic>
      </p:graphicFrame>
      <p:sp>
        <p:nvSpPr>
          <p:cNvPr id="5" name="Rectangle 1"/>
          <p:cNvSpPr>
            <a:spLocks noChangeArrowheads="1"/>
          </p:cNvSpPr>
          <p:nvPr/>
        </p:nvSpPr>
        <p:spPr bwMode="auto">
          <a:xfrm>
            <a:off x="152400" y="1198602"/>
            <a:ext cx="5490606"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Example: Bar Chart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Consider sales data for three products: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graphicFrame>
        <p:nvGraphicFramePr>
          <p:cNvPr id="6" name="Chart 5"/>
          <p:cNvGraphicFramePr>
            <a:graphicFrameLocks/>
          </p:cNvGraphicFramePr>
          <p:nvPr>
            <p:extLst>
              <p:ext uri="{D42A27DB-BD31-4B8C-83A1-F6EECF244321}">
                <p14:modId xmlns:p14="http://schemas.microsoft.com/office/powerpoint/2010/main" val="1103841685"/>
              </p:ext>
            </p:extLst>
          </p:nvPr>
        </p:nvGraphicFramePr>
        <p:xfrm>
          <a:off x="228600" y="397713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p:cNvSpPr/>
          <p:nvPr/>
        </p:nvSpPr>
        <p:spPr>
          <a:xfrm>
            <a:off x="4724400" y="3687901"/>
            <a:ext cx="4267200" cy="3170099"/>
          </a:xfrm>
          <a:prstGeom prst="rect">
            <a:avLst/>
          </a:prstGeom>
        </p:spPr>
        <p:txBody>
          <a:bodyPr wrap="square">
            <a:spAutoFit/>
          </a:bodyPr>
          <a:lstStyle/>
          <a:p>
            <a:r>
              <a:rPr lang="en-US" sz="2000" b="1" dirty="0"/>
              <a:t>Encoded as a bar chart:</a:t>
            </a:r>
            <a:endParaRPr lang="en-US" sz="2000" dirty="0"/>
          </a:p>
          <a:p>
            <a:r>
              <a:rPr lang="en-US" sz="2000" b="1" dirty="0"/>
              <a:t>X-axis (Position):</a:t>
            </a:r>
            <a:r>
              <a:rPr lang="en-US" sz="2000" dirty="0"/>
              <a:t> Product names (A, B, C).</a:t>
            </a:r>
          </a:p>
          <a:p>
            <a:r>
              <a:rPr lang="en-US" sz="2000" b="1" dirty="0"/>
              <a:t>Y-axis (Position):</a:t>
            </a:r>
            <a:r>
              <a:rPr lang="en-US" sz="2000" dirty="0"/>
              <a:t> Sales amount ($).</a:t>
            </a:r>
          </a:p>
          <a:p>
            <a:r>
              <a:rPr lang="en-US" sz="2000" b="1" dirty="0"/>
              <a:t>Bar Length:</a:t>
            </a:r>
            <a:r>
              <a:rPr lang="en-US" sz="2000" dirty="0"/>
              <a:t> Represents sales value.</a:t>
            </a:r>
          </a:p>
          <a:p>
            <a:r>
              <a:rPr lang="en-US" sz="2000" b="1" dirty="0"/>
              <a:t>Color:</a:t>
            </a:r>
            <a:r>
              <a:rPr lang="en-US" sz="2000" dirty="0"/>
              <a:t> Used to differentiate </a:t>
            </a:r>
            <a:r>
              <a:rPr lang="en-US" sz="2000" dirty="0" smtClean="0"/>
              <a:t>products</a:t>
            </a:r>
          </a:p>
          <a:p>
            <a:endParaRPr lang="en-US" sz="2000" dirty="0"/>
          </a:p>
          <a:p>
            <a:r>
              <a:rPr lang="en-US" sz="2000" b="1" dirty="0" smtClean="0"/>
              <a:t>Visual </a:t>
            </a:r>
            <a:r>
              <a:rPr lang="en-US" sz="2000" b="1" dirty="0"/>
              <a:t>Representation:</a:t>
            </a:r>
            <a:r>
              <a:rPr lang="en-US" sz="2000" dirty="0"/>
              <a:t/>
            </a:r>
            <a:br>
              <a:rPr lang="en-US" sz="2000" dirty="0"/>
            </a:br>
            <a:r>
              <a:rPr lang="en-US" sz="2000" dirty="0"/>
              <a:t>Product B has the tallest bar → </a:t>
            </a:r>
            <a:r>
              <a:rPr lang="en-US" sz="2000" b="1" dirty="0"/>
              <a:t>highest sales</a:t>
            </a:r>
            <a:r>
              <a:rPr lang="en-US" sz="2000" dirty="0"/>
              <a:t>.</a:t>
            </a:r>
          </a:p>
        </p:txBody>
      </p:sp>
    </p:spTree>
    <p:extLst>
      <p:ext uri="{BB962C8B-B14F-4D97-AF65-F5344CB8AC3E}">
        <p14:creationId xmlns:p14="http://schemas.microsoft.com/office/powerpoint/2010/main" val="19247720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228600"/>
            <a:ext cx="8229600" cy="5059363"/>
          </a:xfrm>
        </p:spPr>
        <p:txBody>
          <a:bodyPr/>
          <a:lstStyle/>
          <a:p>
            <a:r>
              <a:rPr lang="en-US" dirty="0"/>
              <a:t>Example: Consider the standard column chart </a:t>
            </a:r>
            <a:r>
              <a:rPr lang="en-US" dirty="0" smtClean="0"/>
              <a:t>shown</a:t>
            </a:r>
            <a:r>
              <a:rPr lang="en-US" dirty="0"/>
              <a:t> </a:t>
            </a:r>
            <a:r>
              <a:rPr lang="en-US" dirty="0" smtClean="0"/>
              <a:t>                </a:t>
            </a:r>
            <a:r>
              <a:rPr lang="en-US" dirty="0" smtClean="0">
                <a:solidFill>
                  <a:srgbClr val="FF0000"/>
                </a:solidFill>
              </a:rPr>
              <a:t>Column </a:t>
            </a:r>
            <a:r>
              <a:rPr lang="en-US" dirty="0">
                <a:solidFill>
                  <a:srgbClr val="FF0000"/>
                </a:solidFill>
              </a:rPr>
              <a:t>Chart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30234"/>
            <a:ext cx="7315200" cy="3089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4787809"/>
            <a:ext cx="8763000" cy="1938992"/>
          </a:xfrm>
          <a:prstGeom prst="rect">
            <a:avLst/>
          </a:prstGeom>
        </p:spPr>
        <p:txBody>
          <a:bodyPr wrap="square">
            <a:spAutoFit/>
          </a:bodyPr>
          <a:lstStyle/>
          <a:p>
            <a:r>
              <a:rPr lang="en-US" dirty="0" smtClean="0"/>
              <a:t>. </a:t>
            </a:r>
            <a:r>
              <a:rPr lang="en-US" sz="2000" dirty="0" smtClean="0"/>
              <a:t>The </a:t>
            </a:r>
            <a:r>
              <a:rPr lang="en-US" sz="2000" dirty="0"/>
              <a:t>chart in </a:t>
            </a:r>
            <a:r>
              <a:rPr lang="en-US" sz="2000" dirty="0" smtClean="0"/>
              <a:t>Fig  is </a:t>
            </a:r>
            <a:r>
              <a:rPr lang="en-US" sz="2000" dirty="0"/>
              <a:t>encoded in the following ways: </a:t>
            </a:r>
            <a:endParaRPr lang="en-US" sz="2000" dirty="0" smtClean="0"/>
          </a:p>
          <a:p>
            <a:pPr marL="285750" indent="-285750">
              <a:buFont typeface="Arial" pitchFamily="34" charset="0"/>
              <a:buChar char="•"/>
            </a:pPr>
            <a:r>
              <a:rPr lang="en-US" sz="2000" b="1" dirty="0" err="1" smtClean="0"/>
              <a:t>Colour</a:t>
            </a:r>
            <a:r>
              <a:rPr lang="en-US" sz="2000" b="1" dirty="0"/>
              <a:t>: </a:t>
            </a:r>
            <a:r>
              <a:rPr lang="en-US" sz="2000" dirty="0" err="1"/>
              <a:t>colour</a:t>
            </a:r>
            <a:r>
              <a:rPr lang="en-US" sz="2000" dirty="0"/>
              <a:t> of bears, dolphins, whales </a:t>
            </a:r>
            <a:endParaRPr lang="en-US" sz="2000" dirty="0" smtClean="0"/>
          </a:p>
          <a:p>
            <a:pPr marL="285750" indent="-285750">
              <a:buFont typeface="Arial" pitchFamily="34" charset="0"/>
              <a:buChar char="•"/>
            </a:pPr>
            <a:r>
              <a:rPr lang="en-US" sz="2000" dirty="0" smtClean="0"/>
              <a:t> </a:t>
            </a:r>
            <a:r>
              <a:rPr lang="en-US" sz="2000" b="1" dirty="0"/>
              <a:t>Size: </a:t>
            </a:r>
            <a:r>
              <a:rPr lang="en-US" sz="2000" dirty="0"/>
              <a:t>every time animal count increases, the column height increases. </a:t>
            </a:r>
            <a:endParaRPr lang="en-US" sz="2000" dirty="0" smtClean="0"/>
          </a:p>
          <a:p>
            <a:pPr marL="285750" indent="-285750">
              <a:buFont typeface="Arial" pitchFamily="34" charset="0"/>
              <a:buChar char="•"/>
            </a:pPr>
            <a:r>
              <a:rPr lang="en-US" sz="2000" b="1" dirty="0" smtClean="0"/>
              <a:t>Grouping</a:t>
            </a:r>
            <a:r>
              <a:rPr lang="en-US" sz="2000" b="1" dirty="0"/>
              <a:t>: </a:t>
            </a:r>
            <a:r>
              <a:rPr lang="en-US" sz="2000" dirty="0"/>
              <a:t>Every time month changes, new cluster of columns must be created. </a:t>
            </a:r>
            <a:endParaRPr lang="en-US" sz="2000" dirty="0" smtClean="0"/>
          </a:p>
          <a:p>
            <a:pPr marL="285750" indent="-285750">
              <a:buFont typeface="Arial" pitchFamily="34" charset="0"/>
              <a:buChar char="•"/>
            </a:pPr>
            <a:r>
              <a:rPr lang="en-US" sz="2000" dirty="0" smtClean="0"/>
              <a:t>In </a:t>
            </a:r>
            <a:r>
              <a:rPr lang="en-US" sz="2000" dirty="0"/>
              <a:t>general, the different ways to encode data are: </a:t>
            </a:r>
            <a:r>
              <a:rPr lang="en-US" sz="2000" b="1" dirty="0"/>
              <a:t>Size, shape, </a:t>
            </a:r>
            <a:r>
              <a:rPr lang="en-US" sz="2000" b="1" dirty="0" err="1"/>
              <a:t>colour</a:t>
            </a:r>
            <a:r>
              <a:rPr lang="en-US" sz="2000" b="1" dirty="0"/>
              <a:t>, grouping, area, position, saturation, line pattern, line weight, angle, connections</a:t>
            </a:r>
          </a:p>
        </p:txBody>
      </p:sp>
    </p:spTree>
    <p:extLst>
      <p:ext uri="{BB962C8B-B14F-4D97-AF65-F5344CB8AC3E}">
        <p14:creationId xmlns:p14="http://schemas.microsoft.com/office/powerpoint/2010/main" val="3676302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Retinal variables</a:t>
            </a:r>
            <a:endParaRPr lang="en-US" dirty="0"/>
          </a:p>
        </p:txBody>
      </p:sp>
      <p:sp>
        <p:nvSpPr>
          <p:cNvPr id="3" name="Content Placeholder 2"/>
          <p:cNvSpPr>
            <a:spLocks noGrp="1"/>
          </p:cNvSpPr>
          <p:nvPr>
            <p:ph idx="1"/>
          </p:nvPr>
        </p:nvSpPr>
        <p:spPr>
          <a:xfrm>
            <a:off x="457200" y="1143000"/>
            <a:ext cx="8534400" cy="4983163"/>
          </a:xfrm>
        </p:spPr>
        <p:txBody>
          <a:bodyPr>
            <a:normAutofit fontScale="85000" lnSpcReduction="10000"/>
          </a:bodyPr>
          <a:lstStyle/>
          <a:p>
            <a:r>
              <a:rPr lang="en-US" b="1" dirty="0"/>
              <a:t>Retinal variables</a:t>
            </a:r>
            <a:r>
              <a:rPr lang="en-US" dirty="0"/>
              <a:t> are the visual properties (features) of objects that help us perceive </a:t>
            </a:r>
            <a:r>
              <a:rPr lang="en-US" dirty="0" smtClean="0"/>
              <a:t>differences in </a:t>
            </a:r>
            <a:r>
              <a:rPr lang="en-US" dirty="0"/>
              <a:t>data</a:t>
            </a:r>
            <a:r>
              <a:rPr lang="en-US" dirty="0" smtClean="0"/>
              <a:t>.</a:t>
            </a:r>
          </a:p>
          <a:p>
            <a:r>
              <a:rPr lang="en-US" dirty="0"/>
              <a:t>We use different </a:t>
            </a:r>
            <a:r>
              <a:rPr lang="en-US" b="1" dirty="0"/>
              <a:t>visual features</a:t>
            </a:r>
            <a:r>
              <a:rPr lang="en-US" dirty="0"/>
              <a:t> to represent data. These features are called </a:t>
            </a:r>
            <a:r>
              <a:rPr lang="en-US" b="1" dirty="0"/>
              <a:t>retinal variables</a:t>
            </a:r>
            <a:r>
              <a:rPr lang="en-US" dirty="0"/>
              <a:t> (or visual encodings</a:t>
            </a:r>
            <a:r>
              <a:rPr lang="en-US" dirty="0" smtClean="0"/>
              <a:t>).</a:t>
            </a:r>
          </a:p>
          <a:p>
            <a:endParaRPr lang="en-US" dirty="0" smtClean="0"/>
          </a:p>
          <a:p>
            <a:endParaRPr lang="en-US" b="1" dirty="0" smtClean="0"/>
          </a:p>
          <a:p>
            <a:pPr marL="0" indent="0">
              <a:buNone/>
            </a:pPr>
            <a:r>
              <a:rPr lang="en-US" b="1" dirty="0" smtClean="0">
                <a:solidFill>
                  <a:srgbClr val="FF0000"/>
                </a:solidFill>
              </a:rPr>
              <a:t>Note:</a:t>
            </a:r>
          </a:p>
          <a:p>
            <a:r>
              <a:rPr lang="en-US" b="1" dirty="0" smtClean="0"/>
              <a:t>Data </a:t>
            </a:r>
            <a:r>
              <a:rPr lang="en-US" b="1" dirty="0"/>
              <a:t>encoding</a:t>
            </a:r>
            <a:r>
              <a:rPr lang="en-US" dirty="0"/>
              <a:t> converts raw data into visuals using position, color, size, etc.</a:t>
            </a:r>
          </a:p>
          <a:p>
            <a:r>
              <a:rPr lang="en-US" b="1" dirty="0"/>
              <a:t>Retinal variables</a:t>
            </a:r>
            <a:r>
              <a:rPr lang="en-US" dirty="0"/>
              <a:t> (color, shape, orientation, texture, etc.) help differentiate data.</a:t>
            </a:r>
          </a:p>
          <a:p>
            <a:endParaRPr lang="en-US" dirty="0"/>
          </a:p>
        </p:txBody>
      </p:sp>
    </p:spTree>
    <p:extLst>
      <p:ext uri="{BB962C8B-B14F-4D97-AF65-F5344CB8AC3E}">
        <p14:creationId xmlns:p14="http://schemas.microsoft.com/office/powerpoint/2010/main" val="198629406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0772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4439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Retinal variables</a:t>
            </a:r>
            <a:endParaRPr lang="en-US" dirty="0"/>
          </a:p>
        </p:txBody>
      </p:sp>
      <p:sp>
        <p:nvSpPr>
          <p:cNvPr id="3" name="Content Placeholder 2"/>
          <p:cNvSpPr>
            <a:spLocks noGrp="1"/>
          </p:cNvSpPr>
          <p:nvPr>
            <p:ph idx="1"/>
          </p:nvPr>
        </p:nvSpPr>
        <p:spPr>
          <a:xfrm>
            <a:off x="228600" y="1219200"/>
            <a:ext cx="8763000" cy="6553200"/>
          </a:xfrm>
        </p:spPr>
        <p:txBody>
          <a:bodyPr/>
          <a:lstStyle/>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17626800"/>
              </p:ext>
            </p:extLst>
          </p:nvPr>
        </p:nvGraphicFramePr>
        <p:xfrm>
          <a:off x="609600" y="1403000"/>
          <a:ext cx="8153400" cy="4987438"/>
        </p:xfrm>
        <a:graphic>
          <a:graphicData uri="http://schemas.openxmlformats.org/drawingml/2006/table">
            <a:tbl>
              <a:tblPr firstRow="1" bandRow="1">
                <a:tableStyleId>{5C22544A-7EE6-4342-B048-85BDC9FD1C3A}</a:tableStyleId>
              </a:tblPr>
              <a:tblGrid>
                <a:gridCol w="2717800"/>
                <a:gridCol w="2717800"/>
                <a:gridCol w="2717800"/>
              </a:tblGrid>
              <a:tr h="240813">
                <a:tc>
                  <a:txBody>
                    <a:bodyPr/>
                    <a:lstStyle/>
                    <a:p>
                      <a:r>
                        <a:rPr lang="en-US" sz="1800" dirty="0"/>
                        <a:t>Retinal Variable</a:t>
                      </a:r>
                    </a:p>
                  </a:txBody>
                  <a:tcPr marL="90519" marR="90519" marT="45260" marB="45260" anchor="ctr"/>
                </a:tc>
                <a:tc>
                  <a:txBody>
                    <a:bodyPr/>
                    <a:lstStyle/>
                    <a:p>
                      <a:r>
                        <a:rPr lang="en-US" sz="1800" dirty="0"/>
                        <a:t>Definition</a:t>
                      </a:r>
                    </a:p>
                  </a:txBody>
                  <a:tcPr marL="90519" marR="90519" marT="45260" marB="45260" anchor="ctr"/>
                </a:tc>
                <a:tc>
                  <a:txBody>
                    <a:bodyPr/>
                    <a:lstStyle/>
                    <a:p>
                      <a:r>
                        <a:rPr lang="en-US" sz="1800"/>
                        <a:t>Example</a:t>
                      </a:r>
                    </a:p>
                  </a:txBody>
                  <a:tcPr marL="90519" marR="90519" marT="45260" marB="45260" anchor="ctr"/>
                </a:tc>
              </a:tr>
              <a:tr h="421878">
                <a:tc>
                  <a:txBody>
                    <a:bodyPr/>
                    <a:lstStyle/>
                    <a:p>
                      <a:r>
                        <a:rPr lang="en-US" sz="2000" b="1" dirty="0"/>
                        <a:t>Position</a:t>
                      </a:r>
                      <a:endParaRPr lang="en-US" sz="2000" dirty="0"/>
                    </a:p>
                  </a:txBody>
                  <a:tcPr marL="90519" marR="90519" marT="45260" marB="45260" anchor="ctr"/>
                </a:tc>
                <a:tc>
                  <a:txBody>
                    <a:bodyPr/>
                    <a:lstStyle/>
                    <a:p>
                      <a:r>
                        <a:rPr lang="en-US" sz="2000"/>
                        <a:t>Location of an object</a:t>
                      </a:r>
                    </a:p>
                  </a:txBody>
                  <a:tcPr marL="90519" marR="90519" marT="45260" marB="45260" anchor="ctr"/>
                </a:tc>
                <a:tc>
                  <a:txBody>
                    <a:bodyPr/>
                    <a:lstStyle/>
                    <a:p>
                      <a:r>
                        <a:rPr lang="en-US" sz="2000" dirty="0"/>
                        <a:t>Points in a scatter plot</a:t>
                      </a:r>
                    </a:p>
                  </a:txBody>
                  <a:tcPr marL="90519" marR="90519" marT="45260" marB="45260" anchor="ctr"/>
                </a:tc>
              </a:tr>
              <a:tr h="421878">
                <a:tc>
                  <a:txBody>
                    <a:bodyPr/>
                    <a:lstStyle/>
                    <a:p>
                      <a:r>
                        <a:rPr lang="en-US" sz="2000" b="1" dirty="0"/>
                        <a:t>Size</a:t>
                      </a:r>
                      <a:endParaRPr lang="en-US" sz="2000" dirty="0"/>
                    </a:p>
                  </a:txBody>
                  <a:tcPr marL="90519" marR="90519" marT="45260" marB="45260" anchor="ctr"/>
                </a:tc>
                <a:tc>
                  <a:txBody>
                    <a:bodyPr/>
                    <a:lstStyle/>
                    <a:p>
                      <a:r>
                        <a:rPr lang="en-US" sz="2000" dirty="0" smtClean="0"/>
                        <a:t>How </a:t>
                      </a:r>
                      <a:r>
                        <a:rPr lang="en-US" sz="2000" dirty="0"/>
                        <a:t>big an object is</a:t>
                      </a:r>
                    </a:p>
                  </a:txBody>
                  <a:tcPr marL="90519" marR="90519" marT="45260" marB="45260" anchor="ctr"/>
                </a:tc>
                <a:tc>
                  <a:txBody>
                    <a:bodyPr/>
                    <a:lstStyle/>
                    <a:p>
                      <a:r>
                        <a:rPr lang="en-US" sz="2000" dirty="0"/>
                        <a:t>Bubble size in a bubble chart</a:t>
                      </a:r>
                    </a:p>
                  </a:txBody>
                  <a:tcPr marL="90519" marR="90519" marT="45260" marB="45260" anchor="ctr"/>
                </a:tc>
              </a:tr>
              <a:tr h="421878">
                <a:tc>
                  <a:txBody>
                    <a:bodyPr/>
                    <a:lstStyle/>
                    <a:p>
                      <a:r>
                        <a:rPr lang="en-US" sz="2000" b="1" dirty="0"/>
                        <a:t>Shape</a:t>
                      </a:r>
                      <a:endParaRPr lang="en-US" sz="2000" dirty="0"/>
                    </a:p>
                  </a:txBody>
                  <a:tcPr marL="90519" marR="90519" marT="45260" marB="45260" anchor="ctr"/>
                </a:tc>
                <a:tc>
                  <a:txBody>
                    <a:bodyPr/>
                    <a:lstStyle/>
                    <a:p>
                      <a:r>
                        <a:rPr lang="en-US" sz="2000" dirty="0"/>
                        <a:t>The form of an object</a:t>
                      </a:r>
                    </a:p>
                  </a:txBody>
                  <a:tcPr marL="90519" marR="90519" marT="45260" marB="45260" anchor="ctr"/>
                </a:tc>
                <a:tc>
                  <a:txBody>
                    <a:bodyPr/>
                    <a:lstStyle/>
                    <a:p>
                      <a:r>
                        <a:rPr lang="en-US" sz="2000" dirty="0"/>
                        <a:t>Circle, square, triangle markers</a:t>
                      </a:r>
                    </a:p>
                  </a:txBody>
                  <a:tcPr marL="90519" marR="90519" marT="45260" marB="45260" anchor="ctr"/>
                </a:tc>
              </a:tr>
              <a:tr h="421878">
                <a:tc>
                  <a:txBody>
                    <a:bodyPr/>
                    <a:lstStyle/>
                    <a:p>
                      <a:r>
                        <a:rPr lang="en-US" sz="2000" b="1" dirty="0"/>
                        <a:t>Color (Hue)</a:t>
                      </a:r>
                      <a:endParaRPr lang="en-US" sz="2000" dirty="0"/>
                    </a:p>
                  </a:txBody>
                  <a:tcPr marL="90519" marR="90519" marT="45260" marB="45260" anchor="ctr"/>
                </a:tc>
                <a:tc>
                  <a:txBody>
                    <a:bodyPr/>
                    <a:lstStyle/>
                    <a:p>
                      <a:r>
                        <a:rPr lang="en-US" sz="2000" dirty="0"/>
                        <a:t>Different colors to categorize data</a:t>
                      </a:r>
                    </a:p>
                  </a:txBody>
                  <a:tcPr marL="90519" marR="90519" marT="45260" marB="45260" anchor="ctr"/>
                </a:tc>
                <a:tc>
                  <a:txBody>
                    <a:bodyPr/>
                    <a:lstStyle/>
                    <a:p>
                      <a:r>
                        <a:rPr lang="en-US" sz="2000" dirty="0"/>
                        <a:t>Red, blue, green for categories</a:t>
                      </a:r>
                    </a:p>
                  </a:txBody>
                  <a:tcPr marL="90519" marR="90519" marT="45260" marB="45260" anchor="ctr"/>
                </a:tc>
              </a:tr>
              <a:tr h="421878">
                <a:tc>
                  <a:txBody>
                    <a:bodyPr/>
                    <a:lstStyle/>
                    <a:p>
                      <a:r>
                        <a:rPr lang="en-US" sz="2000" b="1" dirty="0"/>
                        <a:t>Color (Saturation)</a:t>
                      </a:r>
                      <a:endParaRPr lang="en-US" sz="2000" dirty="0"/>
                    </a:p>
                  </a:txBody>
                  <a:tcPr marL="90519" marR="90519" marT="45260" marB="45260" anchor="ctr"/>
                </a:tc>
                <a:tc>
                  <a:txBody>
                    <a:bodyPr/>
                    <a:lstStyle/>
                    <a:p>
                      <a:r>
                        <a:rPr lang="en-US" sz="2000" dirty="0"/>
                        <a:t>Intensity of a color</a:t>
                      </a:r>
                    </a:p>
                  </a:txBody>
                  <a:tcPr marL="90519" marR="90519" marT="45260" marB="45260" anchor="ctr"/>
                </a:tc>
                <a:tc>
                  <a:txBody>
                    <a:bodyPr/>
                    <a:lstStyle/>
                    <a:p>
                      <a:r>
                        <a:rPr lang="en-US" sz="2000"/>
                        <a:t>Darker colors for higher values</a:t>
                      </a:r>
                    </a:p>
                  </a:txBody>
                  <a:tcPr marL="90519" marR="90519" marT="45260" marB="45260" anchor="ctr"/>
                </a:tc>
              </a:tr>
              <a:tr h="421878">
                <a:tc>
                  <a:txBody>
                    <a:bodyPr/>
                    <a:lstStyle/>
                    <a:p>
                      <a:r>
                        <a:rPr lang="en-US" sz="2000" b="1"/>
                        <a:t>Orientation</a:t>
                      </a:r>
                      <a:endParaRPr lang="en-US" sz="2000"/>
                    </a:p>
                  </a:txBody>
                  <a:tcPr marL="90519" marR="90519" marT="45260" marB="45260" anchor="ctr"/>
                </a:tc>
                <a:tc>
                  <a:txBody>
                    <a:bodyPr/>
                    <a:lstStyle/>
                    <a:p>
                      <a:r>
                        <a:rPr lang="en-US" sz="2000" dirty="0"/>
                        <a:t>Direction or angle of elements</a:t>
                      </a:r>
                    </a:p>
                  </a:txBody>
                  <a:tcPr marL="90519" marR="90519" marT="45260" marB="45260" anchor="ctr"/>
                </a:tc>
                <a:tc>
                  <a:txBody>
                    <a:bodyPr/>
                    <a:lstStyle/>
                    <a:p>
                      <a:r>
                        <a:rPr lang="en-US" sz="2000" dirty="0"/>
                        <a:t>Slopes in a line chart</a:t>
                      </a:r>
                    </a:p>
                  </a:txBody>
                  <a:tcPr marL="90519" marR="90519" marT="45260" marB="45260" anchor="ctr"/>
                </a:tc>
              </a:tr>
              <a:tr h="421878">
                <a:tc>
                  <a:txBody>
                    <a:bodyPr/>
                    <a:lstStyle/>
                    <a:p>
                      <a:r>
                        <a:rPr lang="en-US" sz="2000" b="1"/>
                        <a:t>Texture/Pattern</a:t>
                      </a:r>
                      <a:endParaRPr lang="en-US" sz="2000"/>
                    </a:p>
                  </a:txBody>
                  <a:tcPr marL="90519" marR="90519" marT="45260" marB="45260" anchor="ctr"/>
                </a:tc>
                <a:tc>
                  <a:txBody>
                    <a:bodyPr/>
                    <a:lstStyle/>
                    <a:p>
                      <a:r>
                        <a:rPr lang="en-US" sz="2000" dirty="0"/>
                        <a:t>Different patterns to distinguish data</a:t>
                      </a:r>
                    </a:p>
                  </a:txBody>
                  <a:tcPr marL="90519" marR="90519" marT="45260" marB="45260" anchor="ctr"/>
                </a:tc>
                <a:tc>
                  <a:txBody>
                    <a:bodyPr/>
                    <a:lstStyle/>
                    <a:p>
                      <a:r>
                        <a:rPr lang="en-US" sz="2000" dirty="0"/>
                        <a:t>Dashed vs. solid lines</a:t>
                      </a:r>
                    </a:p>
                  </a:txBody>
                  <a:tcPr marL="90519" marR="90519" marT="45260" marB="45260" anchor="ctr"/>
                </a:tc>
              </a:tr>
            </a:tbl>
          </a:graphicData>
        </a:graphic>
      </p:graphicFrame>
    </p:spTree>
    <p:extLst>
      <p:ext uri="{BB962C8B-B14F-4D97-AF65-F5344CB8AC3E}">
        <p14:creationId xmlns:p14="http://schemas.microsoft.com/office/powerpoint/2010/main" val="36337309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829821820"/>
              </p:ext>
            </p:extLst>
          </p:nvPr>
        </p:nvGraphicFramePr>
        <p:xfrm>
          <a:off x="304800" y="990600"/>
          <a:ext cx="8229600" cy="2194560"/>
        </p:xfrm>
        <a:graphic>
          <a:graphicData uri="http://schemas.openxmlformats.org/drawingml/2006/table">
            <a:tbl>
              <a:tblPr/>
              <a:tblGrid>
                <a:gridCol w="2743200"/>
                <a:gridCol w="2743200"/>
                <a:gridCol w="2743200"/>
              </a:tblGrid>
              <a:tr h="0">
                <a:tc>
                  <a:txBody>
                    <a:bodyPr/>
                    <a:lstStyle/>
                    <a:p>
                      <a:r>
                        <a:rPr lang="en-US" dirty="0"/>
                        <a:t>Student</a:t>
                      </a:r>
                    </a:p>
                  </a:txBody>
                  <a:tcPr anchor="ctr">
                    <a:lnL>
                      <a:noFill/>
                    </a:lnL>
                    <a:lnR>
                      <a:noFill/>
                    </a:lnR>
                    <a:lnT>
                      <a:noFill/>
                    </a:lnT>
                    <a:lnB>
                      <a:noFill/>
                    </a:lnB>
                  </a:tcPr>
                </a:tc>
                <a:tc>
                  <a:txBody>
                    <a:bodyPr/>
                    <a:lstStyle/>
                    <a:p>
                      <a:r>
                        <a:rPr lang="en-US" dirty="0"/>
                        <a:t>Study Hours</a:t>
                      </a:r>
                    </a:p>
                  </a:txBody>
                  <a:tcPr anchor="ctr">
                    <a:lnL>
                      <a:noFill/>
                    </a:lnL>
                    <a:lnR>
                      <a:noFill/>
                    </a:lnR>
                    <a:lnT>
                      <a:noFill/>
                    </a:lnT>
                    <a:lnB>
                      <a:noFill/>
                    </a:lnB>
                  </a:tcPr>
                </a:tc>
                <a:tc>
                  <a:txBody>
                    <a:bodyPr/>
                    <a:lstStyle/>
                    <a:p>
                      <a:r>
                        <a:rPr lang="en-US"/>
                        <a:t>Exam Score (%)</a:t>
                      </a:r>
                    </a:p>
                  </a:txBody>
                  <a:tcPr anchor="ctr">
                    <a:lnL>
                      <a:noFill/>
                    </a:lnL>
                    <a:lnR>
                      <a:noFill/>
                    </a:lnR>
                    <a:lnT>
                      <a:noFill/>
                    </a:lnT>
                    <a:lnB>
                      <a:noFill/>
                    </a:lnB>
                  </a:tcPr>
                </a:tc>
              </a:tr>
              <a:tr h="0">
                <a:tc>
                  <a:txBody>
                    <a:bodyPr/>
                    <a:lstStyle/>
                    <a:p>
                      <a:r>
                        <a:rPr lang="en-US"/>
                        <a:t>A</a:t>
                      </a:r>
                    </a:p>
                  </a:txBody>
                  <a:tcPr anchor="ctr">
                    <a:lnL>
                      <a:noFill/>
                    </a:lnL>
                    <a:lnR>
                      <a:noFill/>
                    </a:lnR>
                    <a:lnT>
                      <a:noFill/>
                    </a:lnT>
                    <a:lnB>
                      <a:noFill/>
                    </a:lnB>
                  </a:tcPr>
                </a:tc>
                <a:tc>
                  <a:txBody>
                    <a:bodyPr/>
                    <a:lstStyle/>
                    <a:p>
                      <a:r>
                        <a:rPr lang="en-US"/>
                        <a:t>2</a:t>
                      </a:r>
                    </a:p>
                  </a:txBody>
                  <a:tcPr anchor="ctr">
                    <a:lnL>
                      <a:noFill/>
                    </a:lnL>
                    <a:lnR>
                      <a:noFill/>
                    </a:lnR>
                    <a:lnT>
                      <a:noFill/>
                    </a:lnT>
                    <a:lnB>
                      <a:noFill/>
                    </a:lnB>
                  </a:tcPr>
                </a:tc>
                <a:tc>
                  <a:txBody>
                    <a:bodyPr/>
                    <a:lstStyle/>
                    <a:p>
                      <a:r>
                        <a:rPr lang="en-US" dirty="0"/>
                        <a:t>55</a:t>
                      </a:r>
                    </a:p>
                  </a:txBody>
                  <a:tcPr anchor="ctr">
                    <a:lnL>
                      <a:noFill/>
                    </a:lnL>
                    <a:lnR>
                      <a:noFill/>
                    </a:lnR>
                    <a:lnT>
                      <a:noFill/>
                    </a:lnT>
                    <a:lnB>
                      <a:noFill/>
                    </a:lnB>
                  </a:tcPr>
                </a:tc>
              </a:tr>
              <a:tr h="0">
                <a:tc>
                  <a:txBody>
                    <a:bodyPr/>
                    <a:lstStyle/>
                    <a:p>
                      <a:r>
                        <a:rPr lang="en-US" dirty="0" smtClean="0"/>
                        <a:t>B</a:t>
                      </a:r>
                      <a:endParaRPr lang="en-US" dirty="0"/>
                    </a:p>
                  </a:txBody>
                  <a:tcPr anchor="ctr">
                    <a:lnL>
                      <a:noFill/>
                    </a:lnL>
                    <a:lnR>
                      <a:noFill/>
                    </a:lnR>
                    <a:lnT>
                      <a:noFill/>
                    </a:lnT>
                    <a:lnB>
                      <a:noFill/>
                    </a:lnB>
                  </a:tcPr>
                </a:tc>
                <a:tc>
                  <a:txBody>
                    <a:bodyPr/>
                    <a:lstStyle/>
                    <a:p>
                      <a:r>
                        <a:rPr lang="en-US" dirty="0" smtClean="0"/>
                        <a:t>3</a:t>
                      </a:r>
                      <a:endParaRPr lang="en-US" dirty="0"/>
                    </a:p>
                  </a:txBody>
                  <a:tcPr anchor="ctr">
                    <a:lnL>
                      <a:noFill/>
                    </a:lnL>
                    <a:lnR>
                      <a:noFill/>
                    </a:lnR>
                    <a:lnT>
                      <a:noFill/>
                    </a:lnT>
                    <a:lnB>
                      <a:noFill/>
                    </a:lnB>
                  </a:tcPr>
                </a:tc>
                <a:tc>
                  <a:txBody>
                    <a:bodyPr/>
                    <a:lstStyle/>
                    <a:p>
                      <a:r>
                        <a:rPr lang="en-US" dirty="0" smtClean="0"/>
                        <a:t>60</a:t>
                      </a:r>
                      <a:endParaRPr lang="en-US" dirty="0"/>
                    </a:p>
                  </a:txBody>
                  <a:tcPr anchor="ctr">
                    <a:lnL>
                      <a:noFill/>
                    </a:lnL>
                    <a:lnR>
                      <a:noFill/>
                    </a:lnR>
                    <a:lnT>
                      <a:noFill/>
                    </a:lnT>
                    <a:lnB>
                      <a:noFill/>
                    </a:lnB>
                  </a:tcPr>
                </a:tc>
              </a:tr>
              <a:tr h="0">
                <a:tc>
                  <a:txBody>
                    <a:bodyPr/>
                    <a:lstStyle/>
                    <a:p>
                      <a:r>
                        <a:rPr lang="en-US" dirty="0" smtClean="0"/>
                        <a:t>C</a:t>
                      </a:r>
                      <a:endParaRPr lang="en-US" dirty="0"/>
                    </a:p>
                  </a:txBody>
                  <a:tcPr anchor="ctr">
                    <a:lnL>
                      <a:noFill/>
                    </a:lnL>
                    <a:lnR>
                      <a:noFill/>
                    </a:lnR>
                    <a:lnT>
                      <a:noFill/>
                    </a:lnT>
                    <a:lnB>
                      <a:noFill/>
                    </a:lnB>
                  </a:tcPr>
                </a:tc>
                <a:tc>
                  <a:txBody>
                    <a:bodyPr/>
                    <a:lstStyle/>
                    <a:p>
                      <a:r>
                        <a:rPr lang="en-US" dirty="0"/>
                        <a:t>5</a:t>
                      </a:r>
                    </a:p>
                  </a:txBody>
                  <a:tcPr anchor="ctr">
                    <a:lnL>
                      <a:noFill/>
                    </a:lnL>
                    <a:lnR>
                      <a:noFill/>
                    </a:lnR>
                    <a:lnT>
                      <a:noFill/>
                    </a:lnT>
                    <a:lnB>
                      <a:noFill/>
                    </a:lnB>
                  </a:tcPr>
                </a:tc>
                <a:tc>
                  <a:txBody>
                    <a:bodyPr/>
                    <a:lstStyle/>
                    <a:p>
                      <a:r>
                        <a:rPr lang="en-US"/>
                        <a:t>80</a:t>
                      </a:r>
                    </a:p>
                  </a:txBody>
                  <a:tcPr anchor="ctr">
                    <a:lnL>
                      <a:noFill/>
                    </a:lnL>
                    <a:lnR>
                      <a:noFill/>
                    </a:lnR>
                    <a:lnT>
                      <a:noFill/>
                    </a:lnT>
                    <a:lnB>
                      <a:noFill/>
                    </a:lnB>
                  </a:tcPr>
                </a:tc>
              </a:tr>
              <a:tr h="0">
                <a:tc>
                  <a:txBody>
                    <a:bodyPr/>
                    <a:lstStyle/>
                    <a:p>
                      <a:r>
                        <a:rPr lang="en-US" dirty="0" smtClean="0"/>
                        <a:t>D</a:t>
                      </a:r>
                      <a:endParaRPr lang="en-US" dirty="0"/>
                    </a:p>
                  </a:txBody>
                  <a:tcPr anchor="ctr">
                    <a:lnL>
                      <a:noFill/>
                    </a:lnL>
                    <a:lnR>
                      <a:noFill/>
                    </a:lnR>
                    <a:lnT>
                      <a:noFill/>
                    </a:lnT>
                    <a:lnB>
                      <a:noFill/>
                    </a:lnB>
                  </a:tcPr>
                </a:tc>
                <a:tc>
                  <a:txBody>
                    <a:bodyPr/>
                    <a:lstStyle/>
                    <a:p>
                      <a:r>
                        <a:rPr lang="en-US" dirty="0" smtClean="0"/>
                        <a:t>6</a:t>
                      </a:r>
                      <a:endParaRPr lang="en-US" dirty="0"/>
                    </a:p>
                  </a:txBody>
                  <a:tcPr anchor="ctr">
                    <a:lnL>
                      <a:noFill/>
                    </a:lnL>
                    <a:lnR>
                      <a:noFill/>
                    </a:lnR>
                    <a:lnT>
                      <a:noFill/>
                    </a:lnT>
                    <a:lnB>
                      <a:noFill/>
                    </a:lnB>
                  </a:tcPr>
                </a:tc>
                <a:tc>
                  <a:txBody>
                    <a:bodyPr/>
                    <a:lstStyle/>
                    <a:p>
                      <a:r>
                        <a:rPr lang="en-US" dirty="0" smtClean="0"/>
                        <a:t>85</a:t>
                      </a:r>
                      <a:endParaRPr lang="en-US" dirty="0"/>
                    </a:p>
                  </a:txBody>
                  <a:tcPr anchor="ctr">
                    <a:lnL>
                      <a:noFill/>
                    </a:lnL>
                    <a:lnR>
                      <a:noFill/>
                    </a:lnR>
                    <a:lnT>
                      <a:noFill/>
                    </a:lnT>
                    <a:lnB>
                      <a:noFill/>
                    </a:lnB>
                  </a:tcPr>
                </a:tc>
              </a:tr>
              <a:tr h="0">
                <a:tc>
                  <a:txBody>
                    <a:bodyPr/>
                    <a:lstStyle/>
                    <a:p>
                      <a:r>
                        <a:rPr lang="en-US" dirty="0" smtClean="0"/>
                        <a:t>E</a:t>
                      </a:r>
                      <a:endParaRPr lang="en-US" dirty="0"/>
                    </a:p>
                  </a:txBody>
                  <a:tcPr anchor="ctr">
                    <a:lnL>
                      <a:noFill/>
                    </a:lnL>
                    <a:lnR>
                      <a:noFill/>
                    </a:lnR>
                    <a:lnT>
                      <a:noFill/>
                    </a:lnT>
                    <a:lnB>
                      <a:noFill/>
                    </a:lnB>
                  </a:tcPr>
                </a:tc>
                <a:tc>
                  <a:txBody>
                    <a:bodyPr/>
                    <a:lstStyle/>
                    <a:p>
                      <a:r>
                        <a:rPr lang="en-US" dirty="0" smtClean="0"/>
                        <a:t>8</a:t>
                      </a:r>
                      <a:endParaRPr lang="en-US" dirty="0"/>
                    </a:p>
                  </a:txBody>
                  <a:tcPr anchor="ctr">
                    <a:lnL>
                      <a:noFill/>
                    </a:lnL>
                    <a:lnR>
                      <a:noFill/>
                    </a:lnR>
                    <a:lnT>
                      <a:noFill/>
                    </a:lnT>
                    <a:lnB>
                      <a:noFill/>
                    </a:lnB>
                  </a:tcPr>
                </a:tc>
                <a:tc>
                  <a:txBody>
                    <a:bodyPr/>
                    <a:lstStyle/>
                    <a:p>
                      <a:r>
                        <a:rPr lang="en-US" dirty="0" smtClean="0"/>
                        <a:t>95</a:t>
                      </a:r>
                      <a:endParaRPr lang="en-US" dirty="0"/>
                    </a:p>
                  </a:txBody>
                  <a:tcPr anchor="ctr">
                    <a:lnL>
                      <a:noFill/>
                    </a:lnL>
                    <a:lnR>
                      <a:noFill/>
                    </a:lnR>
                    <a:lnT>
                      <a:noFill/>
                    </a:lnT>
                    <a:lnB>
                      <a:noFill/>
                    </a:lnB>
                  </a:tcPr>
                </a:tc>
              </a:tr>
            </a:tbl>
          </a:graphicData>
        </a:graphic>
      </p:graphicFrame>
      <p:sp>
        <p:nvSpPr>
          <p:cNvPr id="7" name="Rectangle 2"/>
          <p:cNvSpPr>
            <a:spLocks noChangeArrowheads="1"/>
          </p:cNvSpPr>
          <p:nvPr/>
        </p:nvSpPr>
        <p:spPr bwMode="auto">
          <a:xfrm>
            <a:off x="304800" y="228600"/>
            <a:ext cx="74366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cs typeface="Arial" charset="0"/>
              </a:rPr>
              <a:t>Example 1: Scatter Plot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cs typeface="Arial" charset="0"/>
              </a:rPr>
              <a:t>Use Case:</a:t>
            </a:r>
            <a:r>
              <a:rPr kumimoji="0" lang="en-US" sz="2000" b="0" i="0" u="none" strike="noStrike" cap="none" normalizeH="0" baseline="0" dirty="0" smtClean="0">
                <a:ln>
                  <a:noFill/>
                </a:ln>
                <a:solidFill>
                  <a:schemeClr val="tx1"/>
                </a:solidFill>
                <a:effectLst/>
                <a:latin typeface="Arial" charset="0"/>
                <a:cs typeface="Arial" charset="0"/>
              </a:rPr>
              <a:t> Relationship between study hours and exam scores.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charset="0"/>
              <a:cs typeface="Arial"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9" y="3276600"/>
            <a:ext cx="5086350"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5373733" y="3276600"/>
            <a:ext cx="3429000" cy="3170099"/>
          </a:xfrm>
          <a:prstGeom prst="rect">
            <a:avLst/>
          </a:prstGeom>
        </p:spPr>
        <p:txBody>
          <a:bodyPr wrap="square">
            <a:spAutoFit/>
          </a:bodyPr>
          <a:lstStyle/>
          <a:p>
            <a:r>
              <a:rPr lang="en-US" sz="2000" dirty="0" smtClean="0"/>
              <a:t>This </a:t>
            </a:r>
            <a:r>
              <a:rPr lang="en-US" sz="2000" dirty="0"/>
              <a:t>visualization demonstrates </a:t>
            </a:r>
            <a:r>
              <a:rPr lang="en-US" sz="2000" b="1" dirty="0"/>
              <a:t>position, color, and size encoding</a:t>
            </a:r>
            <a:r>
              <a:rPr lang="en-US" sz="2000" dirty="0"/>
              <a:t>:</a:t>
            </a:r>
          </a:p>
          <a:p>
            <a:r>
              <a:rPr lang="en-US" sz="2000" b="1" dirty="0"/>
              <a:t>X-axis (Position):</a:t>
            </a:r>
            <a:r>
              <a:rPr lang="en-US" sz="2000" dirty="0"/>
              <a:t> Study Hours</a:t>
            </a:r>
          </a:p>
          <a:p>
            <a:r>
              <a:rPr lang="en-US" sz="2000" b="1" dirty="0"/>
              <a:t>Y-axis (Position):</a:t>
            </a:r>
            <a:r>
              <a:rPr lang="en-US" sz="2000" dirty="0"/>
              <a:t> Exam Score (%)</a:t>
            </a:r>
          </a:p>
          <a:p>
            <a:r>
              <a:rPr lang="en-US" sz="2000" b="1" dirty="0"/>
              <a:t>Color (Hue):</a:t>
            </a:r>
            <a:r>
              <a:rPr lang="en-US" sz="2000" dirty="0"/>
              <a:t> Represents exam scores (darker = higher score)</a:t>
            </a:r>
          </a:p>
          <a:p>
            <a:r>
              <a:rPr lang="en-US" sz="2000" b="1" dirty="0"/>
              <a:t>Size:</a:t>
            </a:r>
            <a:r>
              <a:rPr lang="en-US" sz="2000" dirty="0"/>
              <a:t> Represents GPA (larger = higher GPA)</a:t>
            </a:r>
          </a:p>
        </p:txBody>
      </p:sp>
    </p:spTree>
    <p:extLst>
      <p:ext uri="{BB962C8B-B14F-4D97-AF65-F5344CB8AC3E}">
        <p14:creationId xmlns:p14="http://schemas.microsoft.com/office/powerpoint/2010/main" val="7942813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2 Example</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3029" y="1066800"/>
            <a:ext cx="483870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4724400"/>
            <a:ext cx="6477000" cy="1938992"/>
          </a:xfrm>
          <a:prstGeom prst="rect">
            <a:avLst/>
          </a:prstGeom>
        </p:spPr>
        <p:txBody>
          <a:bodyPr wrap="square">
            <a:spAutoFit/>
          </a:bodyPr>
          <a:lstStyle/>
          <a:p>
            <a:r>
              <a:rPr lang="en-US" sz="2000" b="1" dirty="0"/>
              <a:t>Bar Chart: Sales Comparison</a:t>
            </a:r>
          </a:p>
          <a:p>
            <a:r>
              <a:rPr lang="en-US" sz="2000" dirty="0"/>
              <a:t>This visualization demonstrates </a:t>
            </a:r>
            <a:r>
              <a:rPr lang="en-US" sz="2000" b="1" dirty="0"/>
              <a:t>length and color encoding</a:t>
            </a:r>
            <a:r>
              <a:rPr lang="en-US" sz="2000" dirty="0"/>
              <a:t>:</a:t>
            </a:r>
          </a:p>
          <a:p>
            <a:r>
              <a:rPr lang="en-US" sz="2000" b="1" dirty="0"/>
              <a:t>X-axis (Position):</a:t>
            </a:r>
            <a:r>
              <a:rPr lang="en-US" sz="2000" dirty="0"/>
              <a:t> Product categories</a:t>
            </a:r>
          </a:p>
          <a:p>
            <a:r>
              <a:rPr lang="en-US" sz="2000" b="1" dirty="0"/>
              <a:t>Y-axis (Length):</a:t>
            </a:r>
            <a:r>
              <a:rPr lang="en-US" sz="2000" dirty="0"/>
              <a:t> Sales in dollars</a:t>
            </a:r>
          </a:p>
          <a:p>
            <a:r>
              <a:rPr lang="en-US" sz="2000" b="1" dirty="0"/>
              <a:t>Color (Hue):</a:t>
            </a:r>
            <a:r>
              <a:rPr lang="en-US" sz="2000" dirty="0"/>
              <a:t> Different colors for each product</a:t>
            </a:r>
          </a:p>
          <a:p>
            <a:r>
              <a:rPr lang="en-US" sz="2000" b="1" dirty="0"/>
              <a:t>Grid Lines:</a:t>
            </a:r>
            <a:r>
              <a:rPr lang="en-US" sz="2000" dirty="0"/>
              <a:t> Help compare sales value</a:t>
            </a:r>
            <a:r>
              <a:rPr lang="en-US" dirty="0"/>
              <a:t>s</a:t>
            </a:r>
          </a:p>
        </p:txBody>
      </p:sp>
    </p:spTree>
    <p:extLst>
      <p:ext uri="{BB962C8B-B14F-4D97-AF65-F5344CB8AC3E}">
        <p14:creationId xmlns:p14="http://schemas.microsoft.com/office/powerpoint/2010/main" val="14627684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3 Example</a:t>
            </a: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5010150"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4538514"/>
            <a:ext cx="6629400" cy="2246769"/>
          </a:xfrm>
          <a:prstGeom prst="rect">
            <a:avLst/>
          </a:prstGeom>
        </p:spPr>
        <p:txBody>
          <a:bodyPr wrap="square">
            <a:spAutoFit/>
          </a:bodyPr>
          <a:lstStyle/>
          <a:p>
            <a:r>
              <a:rPr lang="en-US" sz="2000" b="1" dirty="0"/>
              <a:t>Line Chart: Monthly Temperature Trend</a:t>
            </a:r>
          </a:p>
          <a:p>
            <a:r>
              <a:rPr lang="en-US" sz="2000" dirty="0"/>
              <a:t>This visualization demonstrates </a:t>
            </a:r>
            <a:r>
              <a:rPr lang="en-US" sz="2000" b="1" dirty="0"/>
              <a:t>position, orientation, and color encoding</a:t>
            </a:r>
            <a:r>
              <a:rPr lang="en-US" sz="2000" dirty="0"/>
              <a:t>:</a:t>
            </a:r>
          </a:p>
          <a:p>
            <a:r>
              <a:rPr lang="en-US" sz="2000" b="1" dirty="0"/>
              <a:t>X-axis (Position):</a:t>
            </a:r>
            <a:r>
              <a:rPr lang="en-US" sz="2000" dirty="0"/>
              <a:t> Months</a:t>
            </a:r>
          </a:p>
          <a:p>
            <a:r>
              <a:rPr lang="en-US" sz="2000" b="1" dirty="0"/>
              <a:t>Y-axis (Position):</a:t>
            </a:r>
            <a:r>
              <a:rPr lang="en-US" sz="2000" dirty="0"/>
              <a:t> Temperature (°C)</a:t>
            </a:r>
          </a:p>
          <a:p>
            <a:r>
              <a:rPr lang="en-US" sz="2000" b="1" dirty="0"/>
              <a:t>Line Orientation:</a:t>
            </a:r>
            <a:r>
              <a:rPr lang="en-US" sz="2000" dirty="0"/>
              <a:t> Shows increasing temperature over time</a:t>
            </a:r>
          </a:p>
          <a:p>
            <a:r>
              <a:rPr lang="en-US" sz="2000" b="1" dirty="0"/>
              <a:t>Color (Hue):</a:t>
            </a:r>
            <a:r>
              <a:rPr lang="en-US" sz="2000" dirty="0"/>
              <a:t> Orange to highlight the trend</a:t>
            </a:r>
          </a:p>
        </p:txBody>
      </p:sp>
    </p:spTree>
    <p:extLst>
      <p:ext uri="{BB962C8B-B14F-4D97-AF65-F5344CB8AC3E}">
        <p14:creationId xmlns:p14="http://schemas.microsoft.com/office/powerpoint/2010/main" val="282970978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
            </a:r>
            <a:br>
              <a:rPr lang="en-US" sz="3600" b="1" dirty="0" smtClean="0"/>
            </a:br>
            <a:r>
              <a:rPr lang="en-US" sz="3600" b="1" dirty="0" smtClean="0">
                <a:solidFill>
                  <a:srgbClr val="FF0000"/>
                </a:solidFill>
              </a:rPr>
              <a:t>Mapping </a:t>
            </a:r>
            <a:r>
              <a:rPr lang="en-US" sz="3600" b="1" dirty="0">
                <a:solidFill>
                  <a:srgbClr val="FF0000"/>
                </a:solidFill>
              </a:rPr>
              <a:t>Variables to Encodings in Data Visualization</a:t>
            </a:r>
            <a:r>
              <a:rPr lang="en-US" b="1" dirty="0">
                <a:solidFill>
                  <a:srgbClr val="FF0000"/>
                </a:solidFill>
              </a:rPr>
              <a:t/>
            </a:r>
            <a:br>
              <a:rPr lang="en-US" b="1" dirty="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Mapping </a:t>
            </a:r>
            <a:r>
              <a:rPr lang="en-US" dirty="0"/>
              <a:t>variables to visual encodings means assigning </a:t>
            </a:r>
            <a:r>
              <a:rPr lang="en-US" b="1" dirty="0"/>
              <a:t>data attributes</a:t>
            </a:r>
            <a:r>
              <a:rPr lang="en-US" dirty="0"/>
              <a:t> (e.g., sales, temperature, categories) to </a:t>
            </a:r>
            <a:r>
              <a:rPr lang="en-US" b="1" dirty="0"/>
              <a:t>visual properties</a:t>
            </a:r>
            <a:r>
              <a:rPr lang="en-US" dirty="0"/>
              <a:t> (e.g., position, color, size, shape) so that the data is easy to interpret.</a:t>
            </a:r>
          </a:p>
          <a:p>
            <a:endParaRPr lang="en-US" dirty="0"/>
          </a:p>
        </p:txBody>
      </p:sp>
    </p:spTree>
    <p:extLst>
      <p:ext uri="{BB962C8B-B14F-4D97-AF65-F5344CB8AC3E}">
        <p14:creationId xmlns:p14="http://schemas.microsoft.com/office/powerpoint/2010/main" val="5847976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Understanding Visual Encodings</a:t>
            </a:r>
            <a:br>
              <a:rPr lang="en-US" b="1" dirty="0"/>
            </a:br>
            <a:endParaRPr lang="en-US" dirty="0"/>
          </a:p>
        </p:txBody>
      </p:sp>
      <p:sp>
        <p:nvSpPr>
          <p:cNvPr id="3" name="Content Placeholder 2"/>
          <p:cNvSpPr>
            <a:spLocks noGrp="1"/>
          </p:cNvSpPr>
          <p:nvPr>
            <p:ph idx="1"/>
          </p:nvPr>
        </p:nvSpPr>
        <p:spPr>
          <a:xfrm>
            <a:off x="457200" y="1219200"/>
            <a:ext cx="8229600" cy="5715000"/>
          </a:xfrm>
        </p:spPr>
        <p:txBody>
          <a:bodyPr/>
          <a:lstStyle/>
          <a:p>
            <a:endParaRPr lang="en-US" dirty="0">
              <a:solidFill>
                <a:srgbClr val="FF0000"/>
              </a:solidFill>
            </a:endParaRPr>
          </a:p>
          <a:p>
            <a:endParaRPr lang="en-US"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851180217"/>
              </p:ext>
            </p:extLst>
          </p:nvPr>
        </p:nvGraphicFramePr>
        <p:xfrm>
          <a:off x="381000" y="762001"/>
          <a:ext cx="8534400" cy="5481350"/>
        </p:xfrm>
        <a:graphic>
          <a:graphicData uri="http://schemas.openxmlformats.org/drawingml/2006/table">
            <a:tbl>
              <a:tblPr/>
              <a:tblGrid>
                <a:gridCol w="2844800"/>
                <a:gridCol w="2844800"/>
                <a:gridCol w="2844800"/>
              </a:tblGrid>
              <a:tr h="324909">
                <a:tc>
                  <a:txBody>
                    <a:bodyPr/>
                    <a:lstStyle/>
                    <a:p>
                      <a:r>
                        <a:rPr lang="en-US" sz="2000" b="1" dirty="0">
                          <a:solidFill>
                            <a:srgbClr val="002060"/>
                          </a:solidFill>
                        </a:rPr>
                        <a:t>Encoding</a:t>
                      </a:r>
                    </a:p>
                  </a:txBody>
                  <a:tcPr marL="62861" marR="62861" marT="31430" marB="31430" anchor="ctr">
                    <a:lnL>
                      <a:noFill/>
                    </a:lnL>
                    <a:lnR>
                      <a:noFill/>
                    </a:lnR>
                    <a:lnT>
                      <a:noFill/>
                    </a:lnT>
                    <a:lnB>
                      <a:noFill/>
                    </a:lnB>
                  </a:tcPr>
                </a:tc>
                <a:tc>
                  <a:txBody>
                    <a:bodyPr/>
                    <a:lstStyle/>
                    <a:p>
                      <a:r>
                        <a:rPr lang="en-US" sz="2000" b="1" dirty="0">
                          <a:solidFill>
                            <a:srgbClr val="002060"/>
                          </a:solidFill>
                        </a:rPr>
                        <a:t>Description</a:t>
                      </a:r>
                    </a:p>
                  </a:txBody>
                  <a:tcPr marL="62861" marR="62861" marT="31430" marB="31430" anchor="ctr">
                    <a:lnL>
                      <a:noFill/>
                    </a:lnL>
                    <a:lnR>
                      <a:noFill/>
                    </a:lnR>
                    <a:lnT>
                      <a:noFill/>
                    </a:lnT>
                    <a:lnB>
                      <a:noFill/>
                    </a:lnB>
                  </a:tcPr>
                </a:tc>
                <a:tc>
                  <a:txBody>
                    <a:bodyPr/>
                    <a:lstStyle/>
                    <a:p>
                      <a:r>
                        <a:rPr lang="en-US" sz="2000" b="1" dirty="0">
                          <a:solidFill>
                            <a:srgbClr val="002060"/>
                          </a:solidFill>
                        </a:rPr>
                        <a:t>Example</a:t>
                      </a:r>
                    </a:p>
                  </a:txBody>
                  <a:tcPr marL="62861" marR="62861" marT="31430" marB="31430" anchor="ctr">
                    <a:lnL>
                      <a:noFill/>
                    </a:lnL>
                    <a:lnR>
                      <a:noFill/>
                    </a:lnR>
                    <a:lnT>
                      <a:noFill/>
                    </a:lnT>
                    <a:lnB>
                      <a:noFill/>
                    </a:lnB>
                  </a:tcPr>
                </a:tc>
              </a:tr>
              <a:tr h="841543">
                <a:tc>
                  <a:txBody>
                    <a:bodyPr/>
                    <a:lstStyle/>
                    <a:p>
                      <a:r>
                        <a:rPr lang="en-US" sz="1600" b="1" dirty="0">
                          <a:solidFill>
                            <a:srgbClr val="FF0000"/>
                          </a:solidFill>
                        </a:rPr>
                        <a:t>Position (X, Y-axis)</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Most effective for numerical data. Helps compare values accurately.</a:t>
                      </a:r>
                    </a:p>
                  </a:txBody>
                  <a:tcPr marL="62861" marR="62861" marT="31430" marB="31430" anchor="ctr">
                    <a:lnL>
                      <a:noFill/>
                    </a:lnL>
                    <a:lnR>
                      <a:noFill/>
                    </a:lnR>
                    <a:lnT>
                      <a:noFill/>
                    </a:lnT>
                    <a:lnB>
                      <a:noFill/>
                    </a:lnB>
                  </a:tcPr>
                </a:tc>
                <a:tc>
                  <a:txBody>
                    <a:bodyPr/>
                    <a:lstStyle/>
                    <a:p>
                      <a:r>
                        <a:rPr lang="en-US" sz="1600" b="1" dirty="0"/>
                        <a:t>Bar charts, Scatter plots</a:t>
                      </a:r>
                    </a:p>
                  </a:txBody>
                  <a:tcPr marL="62861" marR="62861" marT="31430" marB="31430" anchor="ctr">
                    <a:lnL>
                      <a:noFill/>
                    </a:lnL>
                    <a:lnR>
                      <a:noFill/>
                    </a:lnR>
                    <a:lnT>
                      <a:noFill/>
                    </a:lnT>
                    <a:lnB>
                      <a:noFill/>
                    </a:lnB>
                  </a:tcPr>
                </a:tc>
              </a:tr>
              <a:tr h="841543">
                <a:tc>
                  <a:txBody>
                    <a:bodyPr/>
                    <a:lstStyle/>
                    <a:p>
                      <a:r>
                        <a:rPr lang="en-US" sz="1600" b="1" dirty="0">
                          <a:solidFill>
                            <a:srgbClr val="FF0000"/>
                          </a:solidFill>
                        </a:rPr>
                        <a:t>Length</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Good for comparing magnitudes. Longer bars = Higher value.</a:t>
                      </a:r>
                    </a:p>
                  </a:txBody>
                  <a:tcPr marL="62861" marR="62861" marT="31430" marB="31430" anchor="ctr">
                    <a:lnL>
                      <a:noFill/>
                    </a:lnL>
                    <a:lnR>
                      <a:noFill/>
                    </a:lnR>
                    <a:lnT>
                      <a:noFill/>
                    </a:lnT>
                    <a:lnB>
                      <a:noFill/>
                    </a:lnB>
                  </a:tcPr>
                </a:tc>
                <a:tc>
                  <a:txBody>
                    <a:bodyPr/>
                    <a:lstStyle/>
                    <a:p>
                      <a:r>
                        <a:rPr lang="en-US" sz="1600" b="1"/>
                        <a:t>Bar charts</a:t>
                      </a:r>
                    </a:p>
                  </a:txBody>
                  <a:tcPr marL="62861" marR="62861" marT="31430" marB="31430" anchor="ctr">
                    <a:lnL>
                      <a:noFill/>
                    </a:lnL>
                    <a:lnR>
                      <a:noFill/>
                    </a:lnR>
                    <a:lnT>
                      <a:noFill/>
                    </a:lnT>
                    <a:lnB>
                      <a:noFill/>
                    </a:lnB>
                  </a:tcPr>
                </a:tc>
              </a:tr>
              <a:tr h="665927">
                <a:tc>
                  <a:txBody>
                    <a:bodyPr/>
                    <a:lstStyle/>
                    <a:p>
                      <a:r>
                        <a:rPr lang="en-US" sz="1600" b="1" dirty="0">
                          <a:solidFill>
                            <a:srgbClr val="FF0000"/>
                          </a:solidFill>
                        </a:rPr>
                        <a:t>Angle</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Used in circular visualizations to compare proportions.</a:t>
                      </a:r>
                    </a:p>
                  </a:txBody>
                  <a:tcPr marL="62861" marR="62861" marT="31430" marB="31430" anchor="ctr">
                    <a:lnL>
                      <a:noFill/>
                    </a:lnL>
                    <a:lnR>
                      <a:noFill/>
                    </a:lnR>
                    <a:lnT>
                      <a:noFill/>
                    </a:lnT>
                    <a:lnB>
                      <a:noFill/>
                    </a:lnB>
                  </a:tcPr>
                </a:tc>
                <a:tc>
                  <a:txBody>
                    <a:bodyPr/>
                    <a:lstStyle/>
                    <a:p>
                      <a:r>
                        <a:rPr lang="en-US" sz="1600" b="1"/>
                        <a:t>Pie charts</a:t>
                      </a:r>
                    </a:p>
                  </a:txBody>
                  <a:tcPr marL="62861" marR="62861" marT="31430" marB="31430" anchor="ctr">
                    <a:lnL>
                      <a:noFill/>
                    </a:lnL>
                    <a:lnR>
                      <a:noFill/>
                    </a:lnR>
                    <a:lnT>
                      <a:noFill/>
                    </a:lnT>
                    <a:lnB>
                      <a:noFill/>
                    </a:lnB>
                  </a:tcPr>
                </a:tc>
              </a:tr>
              <a:tr h="583226">
                <a:tc>
                  <a:txBody>
                    <a:bodyPr/>
                    <a:lstStyle/>
                    <a:p>
                      <a:r>
                        <a:rPr lang="en-US" sz="1600" b="1" dirty="0">
                          <a:solidFill>
                            <a:srgbClr val="FF0000"/>
                          </a:solidFill>
                        </a:rPr>
                        <a:t>Color (Hue)</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Differentiates categories.</a:t>
                      </a:r>
                    </a:p>
                  </a:txBody>
                  <a:tcPr marL="62861" marR="62861" marT="31430" marB="31430" anchor="ctr">
                    <a:lnL>
                      <a:noFill/>
                    </a:lnL>
                    <a:lnR>
                      <a:noFill/>
                    </a:lnR>
                    <a:lnT>
                      <a:noFill/>
                    </a:lnT>
                    <a:lnB>
                      <a:noFill/>
                    </a:lnB>
                  </a:tcPr>
                </a:tc>
                <a:tc>
                  <a:txBody>
                    <a:bodyPr/>
                    <a:lstStyle/>
                    <a:p>
                      <a:r>
                        <a:rPr lang="en-US" sz="1600" b="1"/>
                        <a:t>Line charts, Categorical heatmaps</a:t>
                      </a:r>
                    </a:p>
                  </a:txBody>
                  <a:tcPr marL="62861" marR="62861" marT="31430" marB="31430" anchor="ctr">
                    <a:lnL>
                      <a:noFill/>
                    </a:lnL>
                    <a:lnR>
                      <a:noFill/>
                    </a:lnR>
                    <a:lnT>
                      <a:noFill/>
                    </a:lnT>
                    <a:lnB>
                      <a:noFill/>
                    </a:lnB>
                  </a:tcPr>
                </a:tc>
              </a:tr>
              <a:tr h="583226">
                <a:tc>
                  <a:txBody>
                    <a:bodyPr/>
                    <a:lstStyle/>
                    <a:p>
                      <a:r>
                        <a:rPr lang="en-US" sz="1600" b="1" dirty="0">
                          <a:solidFill>
                            <a:srgbClr val="FF0000"/>
                          </a:solidFill>
                        </a:rPr>
                        <a:t>Color (Saturation)</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Shows intensity (lighter = low, darker = high).</a:t>
                      </a:r>
                    </a:p>
                  </a:txBody>
                  <a:tcPr marL="62861" marR="62861" marT="31430" marB="31430" anchor="ctr">
                    <a:lnL>
                      <a:noFill/>
                    </a:lnL>
                    <a:lnR>
                      <a:noFill/>
                    </a:lnR>
                    <a:lnT>
                      <a:noFill/>
                    </a:lnT>
                    <a:lnB>
                      <a:noFill/>
                    </a:lnB>
                  </a:tcPr>
                </a:tc>
                <a:tc>
                  <a:txBody>
                    <a:bodyPr/>
                    <a:lstStyle/>
                    <a:p>
                      <a:r>
                        <a:rPr lang="en-US" sz="1600" b="1"/>
                        <a:t>Heatmaps, Choropleth maps</a:t>
                      </a:r>
                    </a:p>
                  </a:txBody>
                  <a:tcPr marL="62861" marR="62861" marT="31430" marB="31430" anchor="ctr">
                    <a:lnL>
                      <a:noFill/>
                    </a:lnL>
                    <a:lnR>
                      <a:noFill/>
                    </a:lnR>
                    <a:lnT>
                      <a:noFill/>
                    </a:lnT>
                    <a:lnB>
                      <a:noFill/>
                    </a:lnB>
                  </a:tcPr>
                </a:tc>
              </a:tr>
              <a:tr h="665927">
                <a:tc>
                  <a:txBody>
                    <a:bodyPr/>
                    <a:lstStyle/>
                    <a:p>
                      <a:r>
                        <a:rPr lang="en-US" sz="1600" b="1" dirty="0">
                          <a:solidFill>
                            <a:srgbClr val="FF0000"/>
                          </a:solidFill>
                        </a:rPr>
                        <a:t>Size</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Represents quantity; larger objects mean higher values.</a:t>
                      </a:r>
                    </a:p>
                  </a:txBody>
                  <a:tcPr marL="62861" marR="62861" marT="31430" marB="31430" anchor="ctr">
                    <a:lnL>
                      <a:noFill/>
                    </a:lnL>
                    <a:lnR>
                      <a:noFill/>
                    </a:lnR>
                    <a:lnT>
                      <a:noFill/>
                    </a:lnT>
                    <a:lnB>
                      <a:noFill/>
                    </a:lnB>
                  </a:tcPr>
                </a:tc>
                <a:tc>
                  <a:txBody>
                    <a:bodyPr/>
                    <a:lstStyle/>
                    <a:p>
                      <a:r>
                        <a:rPr lang="en-US" sz="1600" b="1" dirty="0"/>
                        <a:t>Bubble charts</a:t>
                      </a:r>
                    </a:p>
                  </a:txBody>
                  <a:tcPr marL="62861" marR="62861" marT="31430" marB="31430" anchor="ctr">
                    <a:lnL>
                      <a:noFill/>
                    </a:lnL>
                    <a:lnR>
                      <a:noFill/>
                    </a:lnR>
                    <a:lnT>
                      <a:noFill/>
                    </a:lnT>
                    <a:lnB>
                      <a:noFill/>
                    </a:lnB>
                  </a:tcPr>
                </a:tc>
              </a:tr>
              <a:tr h="466149">
                <a:tc>
                  <a:txBody>
                    <a:bodyPr/>
                    <a:lstStyle/>
                    <a:p>
                      <a:r>
                        <a:rPr lang="en-US" sz="1600" b="1" dirty="0">
                          <a:solidFill>
                            <a:srgbClr val="FF0000"/>
                          </a:solidFill>
                        </a:rPr>
                        <a:t>Shape</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Distinguishes categorical values.</a:t>
                      </a:r>
                    </a:p>
                  </a:txBody>
                  <a:tcPr marL="62861" marR="62861" marT="31430" marB="31430" anchor="ctr">
                    <a:lnL>
                      <a:noFill/>
                    </a:lnL>
                    <a:lnR>
                      <a:noFill/>
                    </a:lnR>
                    <a:lnT>
                      <a:noFill/>
                    </a:lnT>
                    <a:lnB>
                      <a:noFill/>
                    </a:lnB>
                  </a:tcPr>
                </a:tc>
                <a:tc>
                  <a:txBody>
                    <a:bodyPr/>
                    <a:lstStyle/>
                    <a:p>
                      <a:r>
                        <a:rPr lang="en-US" sz="1600" b="1" dirty="0"/>
                        <a:t>Scatter plots, Legends</a:t>
                      </a:r>
                    </a:p>
                  </a:txBody>
                  <a:tcPr marL="62861" marR="62861" marT="31430" marB="31430" anchor="ctr">
                    <a:lnL>
                      <a:noFill/>
                    </a:lnL>
                    <a:lnR>
                      <a:noFill/>
                    </a:lnR>
                    <a:lnT>
                      <a:noFill/>
                    </a:lnT>
                    <a:lnB>
                      <a:noFill/>
                    </a:lnB>
                  </a:tcPr>
                </a:tc>
              </a:tr>
              <a:tr h="466149">
                <a:tc>
                  <a:txBody>
                    <a:bodyPr/>
                    <a:lstStyle/>
                    <a:p>
                      <a:r>
                        <a:rPr lang="en-US" sz="1600" b="1" dirty="0">
                          <a:solidFill>
                            <a:srgbClr val="FF0000"/>
                          </a:solidFill>
                        </a:rPr>
                        <a:t>Texture/Pattern</a:t>
                      </a:r>
                      <a:endParaRPr lang="en-US" sz="1600" dirty="0">
                        <a:solidFill>
                          <a:srgbClr val="FF0000"/>
                        </a:solidFill>
                      </a:endParaRPr>
                    </a:p>
                  </a:txBody>
                  <a:tcPr marL="62861" marR="62861" marT="31430" marB="31430" anchor="ctr">
                    <a:lnL>
                      <a:noFill/>
                    </a:lnL>
                    <a:lnR>
                      <a:noFill/>
                    </a:lnR>
                    <a:lnT>
                      <a:noFill/>
                    </a:lnT>
                    <a:lnB>
                      <a:noFill/>
                    </a:lnB>
                  </a:tcPr>
                </a:tc>
                <a:tc>
                  <a:txBody>
                    <a:bodyPr/>
                    <a:lstStyle/>
                    <a:p>
                      <a:r>
                        <a:rPr lang="en-US" sz="1600" b="1" dirty="0"/>
                        <a:t>Useful when color isn't enough.</a:t>
                      </a:r>
                    </a:p>
                  </a:txBody>
                  <a:tcPr marL="62861" marR="62861" marT="31430" marB="31430" anchor="ctr">
                    <a:lnL>
                      <a:noFill/>
                    </a:lnL>
                    <a:lnR>
                      <a:noFill/>
                    </a:lnR>
                    <a:lnT>
                      <a:noFill/>
                    </a:lnT>
                    <a:lnB>
                      <a:noFill/>
                    </a:lnB>
                  </a:tcPr>
                </a:tc>
                <a:tc>
                  <a:txBody>
                    <a:bodyPr/>
                    <a:lstStyle/>
                    <a:p>
                      <a:r>
                        <a:rPr lang="en-US" sz="1600" b="1" dirty="0"/>
                        <a:t>Bar charts, </a:t>
                      </a:r>
                      <a:r>
                        <a:rPr lang="en-US" sz="1600" b="1" dirty="0" err="1"/>
                        <a:t>Grayscale</a:t>
                      </a:r>
                      <a:r>
                        <a:rPr lang="en-US" sz="1600" b="1" dirty="0"/>
                        <a:t> printing</a:t>
                      </a:r>
                    </a:p>
                  </a:txBody>
                  <a:tcPr marL="62861" marR="62861" marT="31430" marB="31430" anchor="ctr">
                    <a:lnL>
                      <a:noFill/>
                    </a:lnL>
                    <a:lnR>
                      <a:noFill/>
                    </a:lnR>
                    <a:lnT>
                      <a:noFill/>
                    </a:lnT>
                    <a:lnB>
                      <a:noFill/>
                    </a:lnB>
                  </a:tcPr>
                </a:tc>
              </a:tr>
            </a:tbl>
          </a:graphicData>
        </a:graphic>
      </p:graphicFrame>
      <p:sp>
        <p:nvSpPr>
          <p:cNvPr id="5" name="Rectangle 4"/>
          <p:cNvSpPr/>
          <p:nvPr/>
        </p:nvSpPr>
        <p:spPr>
          <a:xfrm>
            <a:off x="381000" y="6252865"/>
            <a:ext cx="7086600" cy="923330"/>
          </a:xfrm>
          <a:prstGeom prst="rect">
            <a:avLst/>
          </a:prstGeom>
        </p:spPr>
        <p:txBody>
          <a:bodyPr wrap="square">
            <a:spAutoFit/>
          </a:bodyPr>
          <a:lstStyle/>
          <a:p>
            <a:r>
              <a:rPr lang="en-US" dirty="0"/>
              <a:t>Visual encodings are ways to </a:t>
            </a:r>
            <a:r>
              <a:rPr lang="en-US" b="1" dirty="0"/>
              <a:t>represent data graphically</a:t>
            </a:r>
            <a:r>
              <a:rPr lang="en-US" dirty="0"/>
              <a:t>.</a:t>
            </a:r>
            <a:br>
              <a:rPr lang="en-US" dirty="0"/>
            </a:br>
            <a:r>
              <a:rPr lang="en-US" dirty="0"/>
              <a:t>Here are the main </a:t>
            </a:r>
            <a:r>
              <a:rPr lang="en-US" b="1" dirty="0"/>
              <a:t>types of visual encodings</a:t>
            </a:r>
            <a:r>
              <a:rPr lang="en-US" dirty="0"/>
              <a:t> and when to use them:</a:t>
            </a:r>
          </a:p>
          <a:p>
            <a:endParaRPr lang="en-US" dirty="0">
              <a:solidFill>
                <a:srgbClr val="FF0000"/>
              </a:solidFill>
            </a:endParaRPr>
          </a:p>
        </p:txBody>
      </p:sp>
    </p:spTree>
    <p:extLst>
      <p:ext uri="{BB962C8B-B14F-4D97-AF65-F5344CB8AC3E}">
        <p14:creationId xmlns:p14="http://schemas.microsoft.com/office/powerpoint/2010/main" val="266174627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marL="0" indent="0"/>
            <a:r>
              <a:rPr lang="en-US" b="1" dirty="0"/>
              <a:t>Encodings in Data Visualization</a:t>
            </a:r>
          </a:p>
        </p:txBody>
      </p:sp>
      <p:sp>
        <p:nvSpPr>
          <p:cNvPr id="3" name="Content Placeholder 2"/>
          <p:cNvSpPr>
            <a:spLocks noGrp="1"/>
          </p:cNvSpPr>
          <p:nvPr>
            <p:ph idx="1"/>
          </p:nvPr>
        </p:nvSpPr>
        <p:spPr>
          <a:xfrm>
            <a:off x="152400" y="990600"/>
            <a:ext cx="4114800" cy="5486400"/>
          </a:xfrm>
        </p:spPr>
        <p:txBody>
          <a:bodyPr>
            <a:normAutofit fontScale="70000" lnSpcReduction="20000"/>
          </a:bodyPr>
          <a:lstStyle/>
          <a:p>
            <a:pPr marL="0" indent="0">
              <a:buNone/>
            </a:pPr>
            <a:r>
              <a:rPr lang="en-US" b="1" dirty="0" smtClean="0"/>
              <a:t>1</a:t>
            </a:r>
            <a:r>
              <a:rPr lang="en-US" b="1" dirty="0"/>
              <a:t>. </a:t>
            </a:r>
            <a:r>
              <a:rPr lang="en-US" b="1" dirty="0">
                <a:solidFill>
                  <a:srgbClr val="FF0000"/>
                </a:solidFill>
              </a:rPr>
              <a:t>Position</a:t>
            </a:r>
          </a:p>
          <a:p>
            <a:pPr marL="0" indent="0">
              <a:buNone/>
            </a:pPr>
            <a:r>
              <a:rPr lang="en-US" b="1" dirty="0"/>
              <a:t>Best for:</a:t>
            </a:r>
            <a:r>
              <a:rPr lang="en-US" dirty="0"/>
              <a:t> Quantitative comparisons</a:t>
            </a:r>
          </a:p>
          <a:p>
            <a:pPr marL="0" indent="0">
              <a:buNone/>
            </a:pPr>
            <a:r>
              <a:rPr lang="en-US" b="1" dirty="0"/>
              <a:t>Example:</a:t>
            </a:r>
            <a:r>
              <a:rPr lang="en-US" dirty="0"/>
              <a:t> Scatter plots, bar charts</a:t>
            </a:r>
          </a:p>
          <a:p>
            <a:pPr marL="0" indent="0">
              <a:buNone/>
            </a:pPr>
            <a:r>
              <a:rPr lang="en-US" b="1" dirty="0"/>
              <a:t>Reason:</a:t>
            </a:r>
            <a:r>
              <a:rPr lang="en-US" dirty="0"/>
              <a:t/>
            </a:r>
            <a:br>
              <a:rPr lang="en-US" dirty="0"/>
            </a:br>
            <a:r>
              <a:rPr lang="en-US" dirty="0"/>
              <a:t>Position encodings allow precise comparisons and are generally the most accurate</a:t>
            </a:r>
            <a:r>
              <a:rPr lang="en-US" dirty="0" smtClean="0"/>
              <a:t>.</a:t>
            </a:r>
          </a:p>
          <a:p>
            <a:pPr marL="0" indent="0">
              <a:buNone/>
            </a:pPr>
            <a:endParaRPr lang="en-US" dirty="0"/>
          </a:p>
          <a:p>
            <a:pPr marL="0" indent="0">
              <a:buNone/>
            </a:pPr>
            <a:r>
              <a:rPr lang="en-US" b="1" dirty="0"/>
              <a:t>2. </a:t>
            </a:r>
            <a:r>
              <a:rPr lang="en-US" b="1" dirty="0">
                <a:solidFill>
                  <a:srgbClr val="FF0000"/>
                </a:solidFill>
              </a:rPr>
              <a:t>Length</a:t>
            </a:r>
          </a:p>
          <a:p>
            <a:pPr marL="0" indent="0">
              <a:buNone/>
            </a:pPr>
            <a:r>
              <a:rPr lang="en-US" b="1" dirty="0"/>
              <a:t>Best for:</a:t>
            </a:r>
            <a:r>
              <a:rPr lang="en-US" dirty="0"/>
              <a:t> Quantitative comparisons, ordering</a:t>
            </a:r>
          </a:p>
          <a:p>
            <a:pPr marL="0" indent="0">
              <a:buNone/>
            </a:pPr>
            <a:r>
              <a:rPr lang="en-US" b="1" dirty="0"/>
              <a:t>Example:</a:t>
            </a:r>
            <a:r>
              <a:rPr lang="en-US" dirty="0"/>
              <a:t> Bar charts</a:t>
            </a:r>
          </a:p>
          <a:p>
            <a:pPr marL="0" indent="0">
              <a:buNone/>
            </a:pPr>
            <a:r>
              <a:rPr lang="en-US" b="1" dirty="0"/>
              <a:t>Reason:</a:t>
            </a:r>
            <a:r>
              <a:rPr lang="en-US" dirty="0"/>
              <a:t/>
            </a:r>
            <a:br>
              <a:rPr lang="en-US" dirty="0"/>
            </a:br>
            <a:r>
              <a:rPr lang="en-US" dirty="0"/>
              <a:t>Length can be accurately compared, making it effective for showing differences in magnitude.</a:t>
            </a:r>
          </a:p>
          <a:p>
            <a:endParaRPr lang="en-US" dirty="0"/>
          </a:p>
        </p:txBody>
      </p:sp>
      <p:sp>
        <p:nvSpPr>
          <p:cNvPr id="4" name="Content Placeholder 2"/>
          <p:cNvSpPr txBox="1">
            <a:spLocks/>
          </p:cNvSpPr>
          <p:nvPr/>
        </p:nvSpPr>
        <p:spPr>
          <a:xfrm>
            <a:off x="4648200" y="1143000"/>
            <a:ext cx="3429000" cy="51355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8" name="Content Placeholder 2"/>
          <p:cNvSpPr txBox="1">
            <a:spLocks/>
          </p:cNvSpPr>
          <p:nvPr/>
        </p:nvSpPr>
        <p:spPr>
          <a:xfrm>
            <a:off x="4800600" y="1143001"/>
            <a:ext cx="4038600" cy="5486400"/>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3. </a:t>
            </a:r>
            <a:r>
              <a:rPr lang="en-US" b="1" dirty="0">
                <a:solidFill>
                  <a:srgbClr val="FF0000"/>
                </a:solidFill>
              </a:rPr>
              <a:t>Angle</a:t>
            </a:r>
          </a:p>
          <a:p>
            <a:pPr marL="0" indent="0">
              <a:buNone/>
            </a:pPr>
            <a:r>
              <a:rPr lang="en-US" b="1" dirty="0"/>
              <a:t>Best for:</a:t>
            </a:r>
            <a:r>
              <a:rPr lang="en-US" dirty="0"/>
              <a:t> Part-to-whole relationships</a:t>
            </a:r>
          </a:p>
          <a:p>
            <a:pPr marL="0" indent="0">
              <a:buNone/>
            </a:pPr>
            <a:r>
              <a:rPr lang="en-US" b="1" dirty="0"/>
              <a:t>Example:</a:t>
            </a:r>
            <a:r>
              <a:rPr lang="en-US" dirty="0"/>
              <a:t> Pie charts</a:t>
            </a:r>
          </a:p>
          <a:p>
            <a:pPr marL="0" indent="0">
              <a:buNone/>
            </a:pPr>
            <a:r>
              <a:rPr lang="en-US" b="1" dirty="0"/>
              <a:t>Reason:</a:t>
            </a:r>
            <a:r>
              <a:rPr lang="en-US" dirty="0"/>
              <a:t/>
            </a:r>
            <a:br>
              <a:rPr lang="en-US" dirty="0"/>
            </a:br>
            <a:r>
              <a:rPr lang="en-US" dirty="0"/>
              <a:t>Angles are useful for showing proportions within a whole, although they are less precise than length</a:t>
            </a:r>
            <a:r>
              <a:rPr lang="en-US" dirty="0" smtClean="0"/>
              <a:t>.</a:t>
            </a:r>
          </a:p>
          <a:p>
            <a:pPr marL="0" indent="0">
              <a:buNone/>
            </a:pPr>
            <a:endParaRPr lang="en-US" dirty="0"/>
          </a:p>
          <a:p>
            <a:pPr marL="0" indent="0">
              <a:buNone/>
            </a:pPr>
            <a:r>
              <a:rPr lang="en-US" b="1" dirty="0"/>
              <a:t>4. </a:t>
            </a:r>
            <a:r>
              <a:rPr lang="en-US" b="1" dirty="0">
                <a:solidFill>
                  <a:srgbClr val="FF0000"/>
                </a:solidFill>
              </a:rPr>
              <a:t>Area</a:t>
            </a:r>
          </a:p>
          <a:p>
            <a:pPr marL="0" indent="0">
              <a:buNone/>
            </a:pPr>
            <a:r>
              <a:rPr lang="en-US" b="1" dirty="0"/>
              <a:t>Best for:</a:t>
            </a:r>
            <a:r>
              <a:rPr lang="en-US" dirty="0"/>
              <a:t> Quantitative comparisons</a:t>
            </a:r>
          </a:p>
          <a:p>
            <a:pPr marL="0" indent="0">
              <a:buNone/>
            </a:pPr>
            <a:r>
              <a:rPr lang="en-US" b="1" dirty="0"/>
              <a:t>Example:</a:t>
            </a:r>
            <a:r>
              <a:rPr lang="en-US" dirty="0"/>
              <a:t> Bubble charts, tree maps</a:t>
            </a:r>
          </a:p>
          <a:p>
            <a:pPr marL="0" indent="0">
              <a:buNone/>
            </a:pPr>
            <a:r>
              <a:rPr lang="en-US" b="1" dirty="0"/>
              <a:t>Reason:</a:t>
            </a:r>
            <a:r>
              <a:rPr lang="en-US" dirty="0"/>
              <a:t/>
            </a:r>
            <a:br>
              <a:rPr lang="en-US" dirty="0"/>
            </a:br>
            <a:r>
              <a:rPr lang="en-US" dirty="0"/>
              <a:t>Area can represent data values, but humans are less accurate at comparing areas than lengths or positions.</a:t>
            </a:r>
          </a:p>
          <a:p>
            <a:endParaRPr lang="en-US" dirty="0"/>
          </a:p>
        </p:txBody>
      </p:sp>
    </p:spTree>
    <p:extLst>
      <p:ext uri="{BB962C8B-B14F-4D97-AF65-F5344CB8AC3E}">
        <p14:creationId xmlns:p14="http://schemas.microsoft.com/office/powerpoint/2010/main" val="32120777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00B050"/>
                </a:solidFill>
              </a:rPr>
              <a:t>Choosing the Right Encodings for Different Data Types</a:t>
            </a:r>
            <a:br>
              <a:rPr lang="en-US" sz="2800" b="1" dirty="0">
                <a:solidFill>
                  <a:srgbClr val="00B050"/>
                </a:solidFill>
              </a:rPr>
            </a:br>
            <a:endParaRPr lang="en-US" sz="2800" dirty="0">
              <a:solidFill>
                <a:srgbClr val="00B050"/>
              </a:solidFill>
            </a:endParaRPr>
          </a:p>
        </p:txBody>
      </p:sp>
      <p:sp>
        <p:nvSpPr>
          <p:cNvPr id="3" name="Content Placeholder 2"/>
          <p:cNvSpPr>
            <a:spLocks noGrp="1"/>
          </p:cNvSpPr>
          <p:nvPr>
            <p:ph idx="1"/>
          </p:nvPr>
        </p:nvSpPr>
        <p:spPr>
          <a:xfrm>
            <a:off x="457200" y="1219200"/>
            <a:ext cx="8458200" cy="4906963"/>
          </a:xfrm>
        </p:spPr>
        <p:txBody>
          <a:bodyPr>
            <a:normAutofit fontScale="85000" lnSpcReduction="20000"/>
          </a:bodyPr>
          <a:lstStyle/>
          <a:p>
            <a:r>
              <a:rPr lang="en-US" b="1" dirty="0" smtClean="0">
                <a:solidFill>
                  <a:srgbClr val="FF0000"/>
                </a:solidFill>
              </a:rPr>
              <a:t>Categorical </a:t>
            </a:r>
            <a:r>
              <a:rPr lang="en-US" b="1" dirty="0">
                <a:solidFill>
                  <a:srgbClr val="FF0000"/>
                </a:solidFill>
              </a:rPr>
              <a:t>Data (Regions, Product Types, Genders)</a:t>
            </a:r>
          </a:p>
          <a:p>
            <a:r>
              <a:rPr lang="en-US" dirty="0"/>
              <a:t>✅ Best encodings: </a:t>
            </a:r>
            <a:r>
              <a:rPr lang="en-US" b="1" dirty="0"/>
              <a:t>Color, Shape, Position</a:t>
            </a:r>
            <a:r>
              <a:rPr lang="en-US" dirty="0"/>
              <a:t/>
            </a:r>
            <a:br>
              <a:rPr lang="en-US" dirty="0"/>
            </a:br>
            <a:r>
              <a:rPr lang="en-US" dirty="0"/>
              <a:t>🔹 Example: </a:t>
            </a:r>
            <a:r>
              <a:rPr lang="en-US" b="1" dirty="0"/>
              <a:t>Bar charts, Pie charts, Stacked bar </a:t>
            </a:r>
            <a:r>
              <a:rPr lang="en-US" b="1" dirty="0" smtClean="0"/>
              <a:t>charts</a:t>
            </a:r>
          </a:p>
          <a:p>
            <a:endParaRPr lang="en-US" dirty="0"/>
          </a:p>
          <a:p>
            <a:r>
              <a:rPr lang="en-US" b="1" dirty="0">
                <a:solidFill>
                  <a:srgbClr val="FF0000"/>
                </a:solidFill>
              </a:rPr>
              <a:t>Numerical Data (Sales, Population, </a:t>
            </a:r>
            <a:r>
              <a:rPr lang="en-US" b="1" dirty="0" smtClean="0">
                <a:solidFill>
                  <a:srgbClr val="FF0000"/>
                </a:solidFill>
              </a:rPr>
              <a:t>GDP(</a:t>
            </a:r>
            <a:r>
              <a:rPr lang="en-US" b="1" dirty="0"/>
              <a:t>Gross Domestic Product</a:t>
            </a:r>
            <a:r>
              <a:rPr lang="en-US" dirty="0" smtClean="0"/>
              <a:t>.</a:t>
            </a:r>
            <a:r>
              <a:rPr lang="en-US" b="1" dirty="0" smtClean="0">
                <a:solidFill>
                  <a:srgbClr val="FF0000"/>
                </a:solidFill>
              </a:rPr>
              <a:t>))</a:t>
            </a:r>
            <a:endParaRPr lang="en-US" b="1" dirty="0">
              <a:solidFill>
                <a:srgbClr val="FF0000"/>
              </a:solidFill>
            </a:endParaRPr>
          </a:p>
          <a:p>
            <a:r>
              <a:rPr lang="en-US" dirty="0"/>
              <a:t>✅ Best encodings: </a:t>
            </a:r>
            <a:r>
              <a:rPr lang="en-US" b="1" dirty="0"/>
              <a:t>Position, Length, Size, Color Intensity</a:t>
            </a:r>
            <a:r>
              <a:rPr lang="en-US" dirty="0"/>
              <a:t/>
            </a:r>
            <a:br>
              <a:rPr lang="en-US" dirty="0"/>
            </a:br>
            <a:r>
              <a:rPr lang="en-US" dirty="0"/>
              <a:t>🔹 Example: </a:t>
            </a:r>
            <a:r>
              <a:rPr lang="en-US" b="1" dirty="0"/>
              <a:t>Scatter plots, Line charts, </a:t>
            </a:r>
            <a:r>
              <a:rPr lang="en-US" b="1" dirty="0" err="1" smtClean="0"/>
              <a:t>Heatmaps</a:t>
            </a:r>
            <a:endParaRPr lang="en-US" b="1" dirty="0" smtClean="0"/>
          </a:p>
          <a:p>
            <a:endParaRPr lang="en-US" dirty="0"/>
          </a:p>
          <a:p>
            <a:r>
              <a:rPr lang="en-US" b="1" dirty="0">
                <a:solidFill>
                  <a:srgbClr val="FF0000"/>
                </a:solidFill>
              </a:rPr>
              <a:t>Time-Series Data (Stock Prices, Temperature Trends)</a:t>
            </a:r>
          </a:p>
          <a:p>
            <a:r>
              <a:rPr lang="en-US" dirty="0"/>
              <a:t>✅ Best encodings: </a:t>
            </a:r>
            <a:r>
              <a:rPr lang="en-US" b="1" dirty="0"/>
              <a:t>Position, Line Orientation, Color</a:t>
            </a:r>
            <a:r>
              <a:rPr lang="en-US" dirty="0"/>
              <a:t/>
            </a:r>
            <a:br>
              <a:rPr lang="en-US" dirty="0"/>
            </a:br>
            <a:r>
              <a:rPr lang="en-US" dirty="0"/>
              <a:t>🔹 Example: </a:t>
            </a:r>
            <a:r>
              <a:rPr lang="en-US" b="1" dirty="0"/>
              <a:t>Line charts, Area charts</a:t>
            </a:r>
            <a:endParaRPr lang="en-US" dirty="0"/>
          </a:p>
          <a:p>
            <a:endParaRPr lang="en-US" dirty="0"/>
          </a:p>
        </p:txBody>
      </p:sp>
    </p:spTree>
    <p:extLst>
      <p:ext uri="{BB962C8B-B14F-4D97-AF65-F5344CB8AC3E}">
        <p14:creationId xmlns:p14="http://schemas.microsoft.com/office/powerpoint/2010/main" val="346524915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1247392"/>
              </p:ext>
            </p:extLst>
          </p:nvPr>
        </p:nvGraphicFramePr>
        <p:xfrm>
          <a:off x="457200" y="2286000"/>
          <a:ext cx="8229600" cy="1828800"/>
        </p:xfrm>
        <a:graphic>
          <a:graphicData uri="http://schemas.openxmlformats.org/drawingml/2006/table">
            <a:tbl>
              <a:tblPr/>
              <a:tblGrid>
                <a:gridCol w="4114800"/>
                <a:gridCol w="4114800"/>
              </a:tblGrid>
              <a:tr h="0">
                <a:tc>
                  <a:txBody>
                    <a:bodyPr/>
                    <a:lstStyle/>
                    <a:p>
                      <a:r>
                        <a:rPr lang="en-US" sz="2400" b="1" dirty="0">
                          <a:solidFill>
                            <a:srgbClr val="FF0000"/>
                          </a:solidFill>
                        </a:rPr>
                        <a:t>Data Type</a:t>
                      </a:r>
                    </a:p>
                  </a:txBody>
                  <a:tcPr anchor="ctr">
                    <a:lnL>
                      <a:noFill/>
                    </a:lnL>
                    <a:lnR>
                      <a:noFill/>
                    </a:lnR>
                    <a:lnT>
                      <a:noFill/>
                    </a:lnT>
                    <a:lnB>
                      <a:noFill/>
                    </a:lnB>
                  </a:tcPr>
                </a:tc>
                <a:tc>
                  <a:txBody>
                    <a:bodyPr/>
                    <a:lstStyle/>
                    <a:p>
                      <a:r>
                        <a:rPr lang="en-US" sz="2400" b="1" dirty="0">
                          <a:solidFill>
                            <a:srgbClr val="FF0000"/>
                          </a:solidFill>
                        </a:rPr>
                        <a:t>Best Encoding Methods</a:t>
                      </a:r>
                    </a:p>
                  </a:txBody>
                  <a:tcPr anchor="ctr">
                    <a:lnL>
                      <a:noFill/>
                    </a:lnL>
                    <a:lnR>
                      <a:noFill/>
                    </a:lnR>
                    <a:lnT>
                      <a:noFill/>
                    </a:lnT>
                    <a:lnB>
                      <a:noFill/>
                    </a:lnB>
                  </a:tcPr>
                </a:tc>
              </a:tr>
              <a:tr h="0">
                <a:tc>
                  <a:txBody>
                    <a:bodyPr/>
                    <a:lstStyle/>
                    <a:p>
                      <a:r>
                        <a:rPr lang="en-US" sz="2400" b="1" dirty="0"/>
                        <a:t>Categorical (Names, Types)</a:t>
                      </a:r>
                      <a:endParaRPr lang="en-US" sz="2400" dirty="0"/>
                    </a:p>
                  </a:txBody>
                  <a:tcPr anchor="ctr">
                    <a:lnL>
                      <a:noFill/>
                    </a:lnL>
                    <a:lnR>
                      <a:noFill/>
                    </a:lnR>
                    <a:lnT>
                      <a:noFill/>
                    </a:lnT>
                    <a:lnB>
                      <a:noFill/>
                    </a:lnB>
                  </a:tcPr>
                </a:tc>
                <a:tc>
                  <a:txBody>
                    <a:bodyPr/>
                    <a:lstStyle/>
                    <a:p>
                      <a:r>
                        <a:rPr lang="en-US" sz="2400" dirty="0"/>
                        <a:t>Color, Shape</a:t>
                      </a:r>
                    </a:p>
                  </a:txBody>
                  <a:tcPr anchor="ctr">
                    <a:lnL>
                      <a:noFill/>
                    </a:lnL>
                    <a:lnR>
                      <a:noFill/>
                    </a:lnR>
                    <a:lnT>
                      <a:noFill/>
                    </a:lnT>
                    <a:lnB>
                      <a:noFill/>
                    </a:lnB>
                  </a:tcPr>
                </a:tc>
              </a:tr>
              <a:tr h="0">
                <a:tc>
                  <a:txBody>
                    <a:bodyPr/>
                    <a:lstStyle/>
                    <a:p>
                      <a:r>
                        <a:rPr lang="en-US" sz="2400" b="1" dirty="0"/>
                        <a:t>Ordinal (Ranks, Ratings)</a:t>
                      </a:r>
                      <a:endParaRPr lang="en-US" sz="2400" dirty="0"/>
                    </a:p>
                  </a:txBody>
                  <a:tcPr anchor="ctr">
                    <a:lnL>
                      <a:noFill/>
                    </a:lnL>
                    <a:lnR>
                      <a:noFill/>
                    </a:lnR>
                    <a:lnT>
                      <a:noFill/>
                    </a:lnT>
                    <a:lnB>
                      <a:noFill/>
                    </a:lnB>
                  </a:tcPr>
                </a:tc>
                <a:tc>
                  <a:txBody>
                    <a:bodyPr/>
                    <a:lstStyle/>
                    <a:p>
                      <a:r>
                        <a:rPr lang="en-US" sz="2400" dirty="0"/>
                        <a:t>Position, Size</a:t>
                      </a:r>
                    </a:p>
                  </a:txBody>
                  <a:tcPr anchor="ctr">
                    <a:lnL>
                      <a:noFill/>
                    </a:lnL>
                    <a:lnR>
                      <a:noFill/>
                    </a:lnR>
                    <a:lnT>
                      <a:noFill/>
                    </a:lnT>
                    <a:lnB>
                      <a:noFill/>
                    </a:lnB>
                  </a:tcPr>
                </a:tc>
              </a:tr>
              <a:tr h="0">
                <a:tc>
                  <a:txBody>
                    <a:bodyPr/>
                    <a:lstStyle/>
                    <a:p>
                      <a:r>
                        <a:rPr lang="en-US" sz="2400" b="1" dirty="0"/>
                        <a:t>Numerical (Sales, Scores)</a:t>
                      </a:r>
                      <a:endParaRPr lang="en-US" sz="2400" dirty="0"/>
                    </a:p>
                  </a:txBody>
                  <a:tcPr anchor="ctr">
                    <a:lnL>
                      <a:noFill/>
                    </a:lnL>
                    <a:lnR>
                      <a:noFill/>
                    </a:lnR>
                    <a:lnT>
                      <a:noFill/>
                    </a:lnT>
                    <a:lnB>
                      <a:noFill/>
                    </a:lnB>
                  </a:tcPr>
                </a:tc>
                <a:tc>
                  <a:txBody>
                    <a:bodyPr/>
                    <a:lstStyle/>
                    <a:p>
                      <a:r>
                        <a:rPr lang="en-US" sz="2400" dirty="0"/>
                        <a:t>Position, Length, Color Intensity</a:t>
                      </a:r>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261257" y="1371612"/>
            <a:ext cx="450315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Choosing the Right Encoding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9215506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Encodings</a:t>
            </a:r>
            <a:br>
              <a:rPr lang="en-US" b="1" dirty="0"/>
            </a:br>
            <a:endParaRPr lang="en-US" dirty="0"/>
          </a:p>
        </p:txBody>
      </p:sp>
      <p:sp>
        <p:nvSpPr>
          <p:cNvPr id="3" name="Content Placeholder 2"/>
          <p:cNvSpPr>
            <a:spLocks noGrp="1"/>
          </p:cNvSpPr>
          <p:nvPr>
            <p:ph idx="1"/>
          </p:nvPr>
        </p:nvSpPr>
        <p:spPr>
          <a:xfrm>
            <a:off x="457200" y="838200"/>
            <a:ext cx="8229600" cy="5287963"/>
          </a:xfrm>
        </p:spPr>
        <p:txBody>
          <a:bodyPr>
            <a:normAutofit fontScale="70000" lnSpcReduction="20000"/>
          </a:bodyPr>
          <a:lstStyle/>
          <a:p>
            <a:pPr marL="0" indent="0">
              <a:buNone/>
            </a:pPr>
            <a:r>
              <a:rPr lang="en-US" dirty="0"/>
              <a:t/>
            </a:r>
            <a:br>
              <a:rPr lang="en-US" dirty="0"/>
            </a:br>
            <a:r>
              <a:rPr lang="en-US" dirty="0"/>
              <a:t>The </a:t>
            </a:r>
            <a:r>
              <a:rPr lang="en-US" b="1" dirty="0"/>
              <a:t>way raw data is transformed</a:t>
            </a:r>
            <a:r>
              <a:rPr lang="en-US" dirty="0"/>
              <a:t> into a form that can be </a:t>
            </a:r>
            <a:r>
              <a:rPr lang="en-US" b="1" dirty="0"/>
              <a:t>represented visually</a:t>
            </a:r>
            <a:r>
              <a:rPr lang="en-US" dirty="0"/>
              <a:t>.</a:t>
            </a:r>
          </a:p>
          <a:p>
            <a:pPr marL="0" indent="0">
              <a:buNone/>
            </a:pPr>
            <a:r>
              <a:rPr lang="en-US" dirty="0"/>
              <a:t/>
            </a:r>
            <a:br>
              <a:rPr lang="en-US" dirty="0"/>
            </a:br>
            <a:r>
              <a:rPr lang="en-US" dirty="0"/>
              <a:t>Mapping </a:t>
            </a:r>
            <a:r>
              <a:rPr lang="en-US" b="1" dirty="0"/>
              <a:t>data types</a:t>
            </a:r>
            <a:r>
              <a:rPr lang="en-US" dirty="0"/>
              <a:t> (like numbers or categories) to </a:t>
            </a:r>
            <a:r>
              <a:rPr lang="en-US" b="1" dirty="0"/>
              <a:t>visual properties</a:t>
            </a:r>
            <a:r>
              <a:rPr lang="en-US" dirty="0"/>
              <a:t> (like position, length, or color</a:t>
            </a:r>
            <a:r>
              <a:rPr lang="en-US" dirty="0" smtClean="0"/>
              <a:t>).</a:t>
            </a:r>
          </a:p>
          <a:p>
            <a:pPr marL="0" indent="0">
              <a:buNone/>
            </a:pPr>
            <a:endParaRPr lang="en-US" dirty="0"/>
          </a:p>
          <a:p>
            <a:pPr marL="0" indent="0">
              <a:buNone/>
            </a:pPr>
            <a:r>
              <a:rPr lang="en-US" b="1" dirty="0"/>
              <a:t>Examples:</a:t>
            </a:r>
            <a:endParaRPr lang="en-US" dirty="0"/>
          </a:p>
          <a:p>
            <a:r>
              <a:rPr lang="en-US" dirty="0"/>
              <a:t>Mapping sales numbers to bar lengths</a:t>
            </a:r>
          </a:p>
          <a:p>
            <a:r>
              <a:rPr lang="en-US" dirty="0"/>
              <a:t>Mapping age groups to different colors in a pie chart</a:t>
            </a:r>
          </a:p>
          <a:p>
            <a:r>
              <a:rPr lang="en-US" dirty="0"/>
              <a:t>Using the height of bars to show population in different </a:t>
            </a:r>
            <a:r>
              <a:rPr lang="en-US" dirty="0" smtClean="0"/>
              <a:t>countries</a:t>
            </a:r>
          </a:p>
          <a:p>
            <a:pPr marL="0" indent="0">
              <a:buNone/>
            </a:pPr>
            <a:endParaRPr lang="en-US" dirty="0"/>
          </a:p>
          <a:p>
            <a:r>
              <a:rPr lang="en-US" b="1" dirty="0"/>
              <a:t>Goal:</a:t>
            </a:r>
            <a:r>
              <a:rPr lang="en-US" dirty="0"/>
              <a:t/>
            </a:r>
            <a:br>
              <a:rPr lang="en-US" dirty="0"/>
            </a:br>
            <a:r>
              <a:rPr lang="en-US" dirty="0"/>
              <a:t>To convert data into a structure that helps in </a:t>
            </a:r>
            <a:r>
              <a:rPr lang="en-US" b="1" dirty="0"/>
              <a:t>effective visual communication</a:t>
            </a:r>
            <a:r>
              <a:rPr lang="en-US" dirty="0"/>
              <a:t>.</a:t>
            </a:r>
          </a:p>
          <a:p>
            <a:endParaRPr lang="en-US" dirty="0"/>
          </a:p>
        </p:txBody>
      </p:sp>
    </p:spTree>
    <p:extLst>
      <p:ext uri="{BB962C8B-B14F-4D97-AF65-F5344CB8AC3E}">
        <p14:creationId xmlns:p14="http://schemas.microsoft.com/office/powerpoint/2010/main" val="245588820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Visual Encodings</a:t>
            </a:r>
            <a:br>
              <a:rPr lang="en-US" b="1" dirty="0"/>
            </a:br>
            <a:endParaRPr lang="en-US" dirty="0"/>
          </a:p>
        </p:txBody>
      </p:sp>
      <p:sp>
        <p:nvSpPr>
          <p:cNvPr id="3" name="Content Placeholder 2"/>
          <p:cNvSpPr>
            <a:spLocks noGrp="1"/>
          </p:cNvSpPr>
          <p:nvPr>
            <p:ph idx="1"/>
          </p:nvPr>
        </p:nvSpPr>
        <p:spPr>
          <a:xfrm>
            <a:off x="457200" y="990601"/>
            <a:ext cx="8686800" cy="5886994"/>
          </a:xfrm>
        </p:spPr>
        <p:txBody>
          <a:bodyPr>
            <a:normAutofit fontScale="55000" lnSpcReduction="20000"/>
          </a:bodyPr>
          <a:lstStyle/>
          <a:p>
            <a:r>
              <a:rPr lang="en-US" dirty="0" smtClean="0"/>
              <a:t>The </a:t>
            </a:r>
            <a:r>
              <a:rPr lang="en-US" b="1" dirty="0"/>
              <a:t>actual visual elements</a:t>
            </a:r>
            <a:r>
              <a:rPr lang="en-US" dirty="0"/>
              <a:t> used to </a:t>
            </a:r>
            <a:r>
              <a:rPr lang="en-US" b="1" dirty="0"/>
              <a:t>represent the data</a:t>
            </a:r>
            <a:r>
              <a:rPr lang="en-US" dirty="0"/>
              <a:t> in a chart or graph.</a:t>
            </a:r>
          </a:p>
          <a:p>
            <a:pPr marL="0" indent="0">
              <a:buNone/>
            </a:pPr>
            <a:r>
              <a:rPr lang="en-US" dirty="0"/>
              <a:t/>
            </a:r>
            <a:br>
              <a:rPr lang="en-US" dirty="0"/>
            </a:br>
            <a:r>
              <a:rPr lang="en-US" dirty="0"/>
              <a:t>Uses visual properties like:</a:t>
            </a:r>
          </a:p>
          <a:p>
            <a:r>
              <a:rPr lang="en-US" b="1" dirty="0"/>
              <a:t>Position</a:t>
            </a:r>
            <a:endParaRPr lang="en-US" dirty="0"/>
          </a:p>
          <a:p>
            <a:r>
              <a:rPr lang="en-US" b="1" dirty="0"/>
              <a:t>Length</a:t>
            </a:r>
            <a:endParaRPr lang="en-US" dirty="0"/>
          </a:p>
          <a:p>
            <a:r>
              <a:rPr lang="en-US" b="1" dirty="0"/>
              <a:t>Angle</a:t>
            </a:r>
            <a:endParaRPr lang="en-US" dirty="0"/>
          </a:p>
          <a:p>
            <a:r>
              <a:rPr lang="en-US" b="1" dirty="0"/>
              <a:t>Area</a:t>
            </a:r>
            <a:endParaRPr lang="en-US" dirty="0"/>
          </a:p>
          <a:p>
            <a:r>
              <a:rPr lang="en-US" b="1" dirty="0"/>
              <a:t>Shape</a:t>
            </a:r>
            <a:endParaRPr lang="en-US" dirty="0"/>
          </a:p>
          <a:p>
            <a:r>
              <a:rPr lang="en-US" b="1" dirty="0"/>
              <a:t>Color</a:t>
            </a:r>
            <a:endParaRPr lang="en-US" dirty="0"/>
          </a:p>
          <a:p>
            <a:r>
              <a:rPr lang="en-US" b="1" dirty="0"/>
              <a:t>Size</a:t>
            </a:r>
            <a:endParaRPr lang="en-US" dirty="0"/>
          </a:p>
          <a:p>
            <a:r>
              <a:rPr lang="en-US" b="1" dirty="0" smtClean="0"/>
              <a:t>Orientation</a:t>
            </a:r>
          </a:p>
          <a:p>
            <a:endParaRPr lang="en-US" dirty="0"/>
          </a:p>
          <a:p>
            <a:pPr marL="0" indent="0">
              <a:buNone/>
            </a:pPr>
            <a:r>
              <a:rPr lang="en-US" b="1" dirty="0"/>
              <a:t>Examples:</a:t>
            </a:r>
            <a:endParaRPr lang="en-US" dirty="0"/>
          </a:p>
          <a:p>
            <a:r>
              <a:rPr lang="en-US" dirty="0"/>
              <a:t>Length of bars in a bar chart</a:t>
            </a:r>
          </a:p>
          <a:p>
            <a:r>
              <a:rPr lang="en-US" dirty="0"/>
              <a:t>Angle of slices in a pie chart</a:t>
            </a:r>
          </a:p>
          <a:p>
            <a:r>
              <a:rPr lang="en-US" dirty="0"/>
              <a:t>Color hues for categories</a:t>
            </a:r>
          </a:p>
          <a:p>
            <a:r>
              <a:rPr lang="en-US" dirty="0"/>
              <a:t>Bubble sizes in a bubble </a:t>
            </a:r>
            <a:r>
              <a:rPr lang="en-US" dirty="0" smtClean="0"/>
              <a:t>chart</a:t>
            </a:r>
          </a:p>
          <a:p>
            <a:pPr marL="0" indent="0">
              <a:buNone/>
            </a:pPr>
            <a:endParaRPr lang="en-US" dirty="0"/>
          </a:p>
          <a:p>
            <a:r>
              <a:rPr lang="en-US" b="1" dirty="0"/>
              <a:t>Goal:</a:t>
            </a:r>
            <a:r>
              <a:rPr lang="en-US" dirty="0"/>
              <a:t/>
            </a:r>
            <a:br>
              <a:rPr lang="en-US" dirty="0"/>
            </a:br>
            <a:r>
              <a:rPr lang="en-US" dirty="0"/>
              <a:t>To help the </a:t>
            </a:r>
            <a:r>
              <a:rPr lang="en-US" b="1" dirty="0"/>
              <a:t>human eye understand</a:t>
            </a:r>
            <a:r>
              <a:rPr lang="en-US" dirty="0"/>
              <a:t> and </a:t>
            </a:r>
            <a:r>
              <a:rPr lang="en-US" b="1" dirty="0"/>
              <a:t>interpret the data</a:t>
            </a:r>
            <a:r>
              <a:rPr lang="en-US" dirty="0"/>
              <a:t> quickly and accurately.</a:t>
            </a:r>
          </a:p>
          <a:p>
            <a:endParaRPr lang="en-US" dirty="0"/>
          </a:p>
        </p:txBody>
      </p:sp>
    </p:spTree>
    <p:extLst>
      <p:ext uri="{BB962C8B-B14F-4D97-AF65-F5344CB8AC3E}">
        <p14:creationId xmlns:p14="http://schemas.microsoft.com/office/powerpoint/2010/main" val="1571276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
            </a:r>
            <a:r>
              <a:rPr lang="en-US" dirty="0" smtClean="0"/>
              <a:t>ifference</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264282718"/>
              </p:ext>
            </p:extLst>
          </p:nvPr>
        </p:nvGraphicFramePr>
        <p:xfrm>
          <a:off x="457200" y="1600200"/>
          <a:ext cx="8229600" cy="2661920"/>
        </p:xfrm>
        <a:graphic>
          <a:graphicData uri="http://schemas.openxmlformats.org/drawingml/2006/table">
            <a:tbl>
              <a:tblPr firstRow="1" bandRow="1">
                <a:tableStyleId>{5C22544A-7EE6-4342-B048-85BDC9FD1C3A}</a:tableStyleId>
              </a:tblPr>
              <a:tblGrid>
                <a:gridCol w="2133600"/>
                <a:gridCol w="3352800"/>
                <a:gridCol w="2743200"/>
              </a:tblGrid>
              <a:tr h="370840">
                <a:tc>
                  <a:txBody>
                    <a:bodyPr/>
                    <a:lstStyle/>
                    <a:p>
                      <a:r>
                        <a:rPr lang="en-US"/>
                        <a:t>Concept</a:t>
                      </a:r>
                    </a:p>
                  </a:txBody>
                  <a:tcPr anchor="ctr"/>
                </a:tc>
                <a:tc>
                  <a:txBody>
                    <a:bodyPr/>
                    <a:lstStyle/>
                    <a:p>
                      <a:r>
                        <a:rPr lang="en-US"/>
                        <a:t>Data Encoding</a:t>
                      </a:r>
                    </a:p>
                  </a:txBody>
                  <a:tcPr anchor="ctr"/>
                </a:tc>
                <a:tc>
                  <a:txBody>
                    <a:bodyPr/>
                    <a:lstStyle/>
                    <a:p>
                      <a:r>
                        <a:rPr lang="en-US"/>
                        <a:t>Visual Encoding</a:t>
                      </a:r>
                    </a:p>
                  </a:txBody>
                  <a:tcPr anchor="ctr"/>
                </a:tc>
              </a:tr>
              <a:tr h="370840">
                <a:tc>
                  <a:txBody>
                    <a:bodyPr/>
                    <a:lstStyle/>
                    <a:p>
                      <a:r>
                        <a:rPr lang="en-US" b="1"/>
                        <a:t>Purpose</a:t>
                      </a:r>
                      <a:endParaRPr lang="en-US"/>
                    </a:p>
                  </a:txBody>
                  <a:tcPr anchor="ctr"/>
                </a:tc>
                <a:tc>
                  <a:txBody>
                    <a:bodyPr/>
                    <a:lstStyle/>
                    <a:p>
                      <a:r>
                        <a:rPr lang="en-US"/>
                        <a:t>Translates data into mappable features</a:t>
                      </a:r>
                    </a:p>
                  </a:txBody>
                  <a:tcPr anchor="ctr"/>
                </a:tc>
                <a:tc>
                  <a:txBody>
                    <a:bodyPr/>
                    <a:lstStyle/>
                    <a:p>
                      <a:r>
                        <a:rPr lang="en-US"/>
                        <a:t>Uses visuals to present the mapped features</a:t>
                      </a:r>
                    </a:p>
                  </a:txBody>
                  <a:tcPr anchor="ctr"/>
                </a:tc>
              </a:tr>
              <a:tr h="370840">
                <a:tc>
                  <a:txBody>
                    <a:bodyPr/>
                    <a:lstStyle/>
                    <a:p>
                      <a:r>
                        <a:rPr lang="en-US" b="1"/>
                        <a:t>Involves</a:t>
                      </a:r>
                      <a:endParaRPr lang="en-US"/>
                    </a:p>
                  </a:txBody>
                  <a:tcPr anchor="ctr"/>
                </a:tc>
                <a:tc>
                  <a:txBody>
                    <a:bodyPr/>
                    <a:lstStyle/>
                    <a:p>
                      <a:r>
                        <a:rPr lang="en-US"/>
                        <a:t>Mapping data to visual properties</a:t>
                      </a:r>
                    </a:p>
                  </a:txBody>
                  <a:tcPr anchor="ctr"/>
                </a:tc>
                <a:tc>
                  <a:txBody>
                    <a:bodyPr/>
                    <a:lstStyle/>
                    <a:p>
                      <a:r>
                        <a:rPr lang="en-US"/>
                        <a:t>Using visual properties like color, shape</a:t>
                      </a:r>
                    </a:p>
                  </a:txBody>
                  <a:tcPr anchor="ctr"/>
                </a:tc>
              </a:tr>
              <a:tr h="370840">
                <a:tc>
                  <a:txBody>
                    <a:bodyPr/>
                    <a:lstStyle/>
                    <a:p>
                      <a:r>
                        <a:rPr lang="en-US" b="1"/>
                        <a:t>Example</a:t>
                      </a:r>
                      <a:endParaRPr lang="en-US"/>
                    </a:p>
                  </a:txBody>
                  <a:tcPr anchor="ctr"/>
                </a:tc>
                <a:tc>
                  <a:txBody>
                    <a:bodyPr/>
                    <a:lstStyle/>
                    <a:p>
                      <a:r>
                        <a:rPr lang="en-US"/>
                        <a:t>Mapping "Sales = 100" to "Bar height = 10cm"</a:t>
                      </a:r>
                    </a:p>
                  </a:txBody>
                  <a:tcPr anchor="ctr"/>
                </a:tc>
                <a:tc>
                  <a:txBody>
                    <a:bodyPr/>
                    <a:lstStyle/>
                    <a:p>
                      <a:r>
                        <a:rPr lang="en-US"/>
                        <a:t>Showing that bar as 10cm tall in the chart</a:t>
                      </a:r>
                    </a:p>
                  </a:txBody>
                  <a:tcPr anchor="ctr"/>
                </a:tc>
              </a:tr>
              <a:tr h="370840">
                <a:tc>
                  <a:txBody>
                    <a:bodyPr/>
                    <a:lstStyle/>
                    <a:p>
                      <a:endParaRPr lang="en-US" dirty="0"/>
                    </a:p>
                  </a:txBody>
                  <a:tcPr anchor="ctr"/>
                </a:tc>
                <a:tc>
                  <a:txBody>
                    <a:bodyPr/>
                    <a:lstStyle/>
                    <a:p>
                      <a:endParaRPr lang="en-US" dirty="0"/>
                    </a:p>
                  </a:txBody>
                  <a:tcPr anchor="ctr"/>
                </a:tc>
                <a:tc>
                  <a:txBody>
                    <a:bodyPr/>
                    <a:lstStyle/>
                    <a:p>
                      <a:endParaRPr lang="en-US" dirty="0"/>
                    </a:p>
                  </a:txBody>
                  <a:tcPr anchor="ctr"/>
                </a:tc>
              </a:tr>
            </a:tbl>
          </a:graphicData>
        </a:graphic>
      </p:graphicFrame>
    </p:spTree>
    <p:extLst>
      <p:ext uri="{BB962C8B-B14F-4D97-AF65-F5344CB8AC3E}">
        <p14:creationId xmlns:p14="http://schemas.microsoft.com/office/powerpoint/2010/main" val="23828308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2857</TotalTime>
  <Words>3550</Words>
  <Application>Microsoft Office PowerPoint</Application>
  <PresentationFormat>On-screen Show (4:3)</PresentationFormat>
  <Paragraphs>492</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UNIT-IV:  Data Visualization: Introduction, Types of data visualization, Data for visualization:  , Data encodings, Retinal variables, mapping variables to encodings, Visual encodings </vt:lpstr>
      <vt:lpstr>Introduction </vt:lpstr>
      <vt:lpstr>What is Data Visualization? </vt:lpstr>
      <vt:lpstr>PowerPoint Presentation</vt:lpstr>
      <vt:lpstr>Why Data Visualization is Important </vt:lpstr>
      <vt:lpstr>Types of data visualization</vt:lpstr>
      <vt:lpstr>Types of data visualization</vt:lpstr>
      <vt:lpstr>Cont..</vt:lpstr>
      <vt:lpstr>PowerPoint Presentation</vt:lpstr>
      <vt:lpstr>Cont..</vt:lpstr>
      <vt:lpstr>PowerPoint Presentation</vt:lpstr>
      <vt:lpstr>Tree Map</vt:lpstr>
      <vt:lpstr>Cont..</vt:lpstr>
      <vt:lpstr>correlation matrix</vt:lpstr>
      <vt:lpstr>PowerPoint Presentation</vt:lpstr>
      <vt:lpstr>heatmap</vt:lpstr>
      <vt:lpstr>Cont..</vt:lpstr>
      <vt:lpstr>PowerPoint Presentation</vt:lpstr>
      <vt:lpstr>Cont..</vt:lpstr>
      <vt:lpstr>PowerPoint Presentation</vt:lpstr>
      <vt:lpstr>PowerPoint Presentation</vt:lpstr>
      <vt:lpstr>Cont..</vt:lpstr>
      <vt:lpstr>PowerPoint Presentation</vt:lpstr>
      <vt:lpstr>PowerPoint Presentation</vt:lpstr>
      <vt:lpstr>PowerPoint Presentation</vt:lpstr>
      <vt:lpstr>Coolwarm scale</vt:lpstr>
      <vt:lpstr>Types of Data Visualization </vt:lpstr>
      <vt:lpstr>Cont..</vt:lpstr>
      <vt:lpstr>Cont..</vt:lpstr>
      <vt:lpstr>Choosing the Right Visualization </vt:lpstr>
      <vt:lpstr>Best Practices for Data Visualization </vt:lpstr>
      <vt:lpstr>Common Tools for Data Visualization </vt:lpstr>
      <vt:lpstr>Emerging Trends in Data Visualization </vt:lpstr>
      <vt:lpstr>Data Types</vt:lpstr>
      <vt:lpstr>PowerPoint Presentation</vt:lpstr>
      <vt:lpstr>TYPES OF DATA</vt:lpstr>
      <vt:lpstr>Cont..</vt:lpstr>
      <vt:lpstr>PowerPoint Presentation</vt:lpstr>
      <vt:lpstr>Cont..</vt:lpstr>
      <vt:lpstr>ENCODING</vt:lpstr>
      <vt:lpstr>Cont..</vt:lpstr>
      <vt:lpstr>Types of Data &amp; Recommended Encodings </vt:lpstr>
      <vt:lpstr>Data Encoding</vt:lpstr>
      <vt:lpstr>Cont..</vt:lpstr>
      <vt:lpstr> Key components of visual encoding </vt:lpstr>
      <vt:lpstr>Types </vt:lpstr>
      <vt:lpstr>Examples of Visual Encoding </vt:lpstr>
      <vt:lpstr>PowerPoint Presentation</vt:lpstr>
      <vt:lpstr>PowerPoint Presentation</vt:lpstr>
      <vt:lpstr>Retinal variables</vt:lpstr>
      <vt:lpstr>PowerPoint Presentation</vt:lpstr>
      <vt:lpstr>Retinal variables</vt:lpstr>
      <vt:lpstr>PowerPoint Presentation</vt:lpstr>
      <vt:lpstr>2 Example</vt:lpstr>
      <vt:lpstr>3 Example</vt:lpstr>
      <vt:lpstr> Mapping Variables to Encodings in Data Visualization </vt:lpstr>
      <vt:lpstr>Understanding Visual Encodings </vt:lpstr>
      <vt:lpstr>Encodings in Data Visualization</vt:lpstr>
      <vt:lpstr>Choosing the Right Encodings for Different Data Types </vt:lpstr>
      <vt:lpstr>PowerPoint Presentation</vt:lpstr>
      <vt:lpstr>Data Encodings </vt:lpstr>
      <vt:lpstr>Visual Encodings </vt:lpstr>
      <vt:lpstr>Difference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UNIT-IV:  Data Visualization: Introduction, Types of data visualization, Data for visualization: Data types, Data encodings, Retinal variables, mapping variables to encodings, Visual encodings </dc:title>
  <dc:creator>admin</dc:creator>
  <cp:lastModifiedBy>admin</cp:lastModifiedBy>
  <cp:revision>71</cp:revision>
  <dcterms:created xsi:type="dcterms:W3CDTF">2025-01-17T06:26:15Z</dcterms:created>
  <dcterms:modified xsi:type="dcterms:W3CDTF">2026-04-07T07:53:45Z</dcterms:modified>
</cp:coreProperties>
</file>